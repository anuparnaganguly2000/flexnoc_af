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62" r:id="rId5"/>
    <p:sldId id="264" r:id="rId6"/>
    <p:sldId id="263" r:id="rId7"/>
    <p:sldId id="260" r:id="rId8"/>
    <p:sldId id="261" r:id="rId9"/>
    <p:sldId id="259" r:id="rId10"/>
    <p:sldId id="25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73404-EA96-4499-AFA1-97CEA385E19C}" v="1" dt="2026-02-23T17:00:57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613FC-D2CE-4AA2-9BE0-85E3A9C77ED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8589D-17E4-4CFB-A268-FFBD339F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29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6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DF48-BDC2-7C2A-618D-8D5D67B7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6BBB7-C86D-F7A5-DC00-2898840A9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DC2B0-1325-6590-9F22-49AB80472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9DB8-05CE-F5A6-4E6A-3F4AD095E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34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1B71-BB23-2C4A-5001-8E77E23B4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4F620-ACBB-E4EC-2647-2771A5B7E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0E725-0306-B3B2-B5F9-24BC0D10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3067C-BB6A-498E-BD7B-BCAFAAAEB549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65151-D00E-9EA0-2BED-B16BB4C4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E2693-93CE-577B-DDD9-76CFA3FD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7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B5BA-AEFF-5389-DA84-65F93679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5B31-174E-759A-2110-20A26113E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945AE-9AE0-55C9-5B78-1D71A371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7F1AA-B799-4102-BDDC-F8FCECE8EA9E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40268-F301-BFE3-F4BC-E94FFFB3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D257B-13B5-0D0A-61EE-25FE6128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82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E29E-A6FE-893B-B71F-B383BA72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A735B-956B-8A4A-49C4-7FC7F820C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0DCB-6681-15B0-2A78-C2381C04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3B62-78C9-493A-BC4D-FEDA4763FEA3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6B08-3F6D-D5A0-A21F-D6E14E6D6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B38BB-AE4A-85A3-1753-3A42639C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48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0728-7E51-FE3E-4F9D-E32B2AC7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00058-8EF1-B783-4E95-E2168E597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06206-D679-6343-69DA-69A786492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71E86-26A4-3174-6DC0-61ED6842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1F24-C709-4930-93C1-202C5E407189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1D541-B779-5984-4EC5-0C601B7B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FFF9D-BB4C-5E4C-0839-3A07478B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62B3-AEA5-1AA9-9DCC-A6C65E75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B5D27-8A38-13B2-4190-0CB4E2C97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072B7-F9E4-75C5-FEE5-065198014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444F0-68B9-D3E8-13CF-AC2F9FA70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98B95-F141-7CF3-84CE-0B5082195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460A9-1A54-3EC3-D4B6-B9D3C1C6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4E47-D0B1-488F-B2DF-8A76F07B348F}" type="datetime1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50850D-EA31-0906-4806-523E69FC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9CED5-6079-68EB-7675-7CD7EB50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68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3E0B-D01B-FD3B-6743-D6332337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7CB2-01FE-5007-0003-C76C5FBD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5C00-D2F3-4769-8B41-D57A4F575C01}" type="datetime1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81A25-0DF0-9F23-78AD-81726564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C2E7F-623F-E845-386E-56318DF7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3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752BF-9489-6EEC-E7BA-7262052C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D9299-3E61-4AF9-B12B-893CA2A9956C}" type="datetime1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C8C22-5D17-B022-7C38-74BA0794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E3D8-05DC-360A-972D-7C095229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73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A522-DA3F-2868-363E-7B740009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79D3-C67B-6C6C-CCCA-A813D4391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187F-548F-AE1B-3C30-C6029224F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17DF6-F2D1-B04C-A96E-D116A0C2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3729-EAC9-4485-AF60-A5EBF5BA135B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10207-B9BC-7674-7753-1B94A55D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26DE2-92E1-84D8-D1B1-74A5801B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38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E4EB-6A19-8B67-1A58-8103A1FC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FEB33C-0735-FE47-EB2D-D02E14E62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22964-90E8-8335-BFAA-B491B8502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0E780-2BC8-3476-D787-4A7D1BFF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CCE0A-E6C9-425C-9F3D-34C584183049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32CF3-5A19-2E26-076B-86CAA2D5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BB8A8-3C05-69C8-BD75-8EFDC0F2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30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411C-88AA-0E7C-F15C-8259C264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816E8-D5E7-3543-F2D8-AEAAB1577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BC8A9-D3AA-A198-FD19-F947B64C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E817-8B48-4B5C-9B95-44C84C1521AB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CA05-872F-1D0B-914F-B26B7434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BCBEA-3CC9-770B-1F1E-788BC57C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2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C23D21-892E-C829-D187-030A95DB0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D9E9A-D2AF-4EA5-18E1-2F8A140F4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F87D7-AAC3-5DFD-56AF-E7B84A88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F4-196A-41C1-BDA7-8658A50AED4C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46F2C-A673-926E-32F2-28443ABE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E406C-C7AF-77D4-027C-CAAEEE28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46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7F3DF-203D-B6E2-F1DE-27E2AA12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A6C6F-6DC3-348D-943A-71CADFCFF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0F7FF-7EAD-FAB6-5225-115588E6B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B3306-64CF-4618-BB99-34E4E63B9516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86619-981C-FD37-6CEA-75F1E9CA7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0D333-DD86-62D8-4D72-C01A32C5A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FDCFC-8663-4087-83EE-4AC8879F8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2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53FE-DC70-750B-4A02-A13991354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Bus-based Fabric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520C67-669D-9EB3-7C9C-E536DC4DDF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Anuparna Ganguly</a:t>
            </a:r>
          </a:p>
          <a:p>
            <a:r>
              <a:rPr lang="en-US" b="1" dirty="0">
                <a:solidFill>
                  <a:srgbClr val="00B050"/>
                </a:solidFill>
              </a:rPr>
              <a:t>23/02/2026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759EE-C7EB-EBAC-5ADE-0638EBA1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4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E0FA-04D4-107D-FF50-9F7A5B15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51" y="136525"/>
            <a:ext cx="11139949" cy="480449"/>
          </a:xfrm>
        </p:spPr>
        <p:txBody>
          <a:bodyPr>
            <a:noAutofit/>
          </a:bodyPr>
          <a:lstStyle/>
          <a:p>
            <a:r>
              <a:rPr lang="en-IN" sz="2800" b="1"/>
              <a:t>Experimental Summary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4E933-511F-8F44-104D-24174852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961" y="3690760"/>
            <a:ext cx="5456254" cy="26546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3ADFE5-620F-C3A0-C79B-EFE24F6E0A9F}"/>
              </a:ext>
            </a:extLst>
          </p:cNvPr>
          <p:cNvSpPr txBox="1"/>
          <p:nvPr/>
        </p:nvSpPr>
        <p:spPr>
          <a:xfrm>
            <a:off x="437990" y="721003"/>
            <a:ext cx="86175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 1: IP0 -&gt; BF0 -&gt; DIE0 (</a:t>
            </a:r>
            <a:r>
              <a:rPr lang="en-IN" dirty="0">
                <a:solidFill>
                  <a:srgbClr val="FF0000"/>
                </a:solidFill>
              </a:rPr>
              <a:t>IP6 inactive</a:t>
            </a:r>
            <a:r>
              <a:rPr lang="en-IN" dirty="0"/>
              <a:t>) [</a:t>
            </a:r>
            <a:r>
              <a:rPr lang="en-IN" b="1" dirty="0"/>
              <a:t>waiting time = pipelining delay</a:t>
            </a:r>
            <a:r>
              <a:rPr lang="en-IN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 2: IP6 -&gt; BF6 -&gt; BF0 -&gt; DIE0 (</a:t>
            </a:r>
            <a:r>
              <a:rPr lang="en-IN" dirty="0">
                <a:solidFill>
                  <a:srgbClr val="FF0000"/>
                </a:solidFill>
              </a:rPr>
              <a:t>IP0 inactive</a:t>
            </a:r>
            <a:r>
              <a:rPr lang="en-IN" dirty="0"/>
              <a:t>)  [</a:t>
            </a:r>
            <a:r>
              <a:rPr lang="en-IN" b="1" dirty="0"/>
              <a:t>waiting time = pipelining delay</a:t>
            </a:r>
            <a:r>
              <a:rPr lang="en-IN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 3: IP0 -&gt; BF0 -&gt; DIE0 &amp; IP6 -&gt; BF6 -&gt; BF0 -&gt; DIE0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Low / Low -&gt; Minimal waiting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/ Low -&gt; IP6 waits more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/ High -&gt; Heavy contention at BF0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Buffer size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US" dirty="0"/>
              <a:t>Results aligned with </a:t>
            </a:r>
            <a:r>
              <a:rPr lang="en-US" b="1" dirty="0" err="1"/>
              <a:t>FlexNoC</a:t>
            </a:r>
            <a:r>
              <a:rPr lang="en-US" b="1" dirty="0"/>
              <a:t> output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8AAA8B-E7FC-01D1-2308-7F7A09B6C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26" y="5717511"/>
            <a:ext cx="6191879" cy="9281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B921BD-3FA0-B3EA-EB00-505FB8E47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961" y="1364171"/>
            <a:ext cx="5255256" cy="232658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0E85D-9D83-A63D-B2B1-962CAB63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A0321E-2711-574D-4B6D-ABC5C6FF6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11" y="3133357"/>
            <a:ext cx="5771401" cy="253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24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8144-9AA5-637C-F4A8-D718B884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365125"/>
            <a:ext cx="10685206" cy="559107"/>
          </a:xfrm>
        </p:spPr>
        <p:txBody>
          <a:bodyPr>
            <a:normAutofit fontScale="90000"/>
          </a:bodyPr>
          <a:lstStyle/>
          <a:p>
            <a:r>
              <a:rPr lang="en-US" dirty="0"/>
              <a:t>Ongoing Work – Mesh Topology Issue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C7CE-5862-9B6C-FDD7-8E93C9170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2" y="1703592"/>
            <a:ext cx="10773697" cy="5154408"/>
          </a:xfrm>
        </p:spPr>
        <p:txBody>
          <a:bodyPr/>
          <a:lstStyle/>
          <a:p>
            <a:r>
              <a:rPr lang="en-IN" b="1" dirty="0"/>
              <a:t>Identified Issues</a:t>
            </a:r>
          </a:p>
          <a:p>
            <a:pPr lvl="1"/>
            <a:r>
              <a:rPr lang="en-IN" dirty="0"/>
              <a:t>Automatically generated split probability is not correct</a:t>
            </a:r>
          </a:p>
          <a:p>
            <a:pPr lvl="1"/>
            <a:r>
              <a:rPr lang="en-IN" dirty="0"/>
              <a:t>For PE0, correct path generated.</a:t>
            </a:r>
          </a:p>
          <a:p>
            <a:pPr lvl="1"/>
            <a:r>
              <a:rPr lang="en-IN" dirty="0"/>
              <a:t>For other PEs, path generation is incomplete.</a:t>
            </a:r>
          </a:p>
          <a:p>
            <a:r>
              <a:rPr lang="en-IN" b="1" dirty="0"/>
              <a:t>Ongoing work</a:t>
            </a:r>
          </a:p>
          <a:p>
            <a:pPr lvl="1"/>
            <a:r>
              <a:rPr lang="en-US" dirty="0"/>
              <a:t>Currently checking routing/path generation logic.</a:t>
            </a:r>
          </a:p>
          <a:p>
            <a:pPr lvl="1"/>
            <a:r>
              <a:rPr lang="en-US" dirty="0"/>
              <a:t>Verifying connections between routers and PEs.</a:t>
            </a:r>
          </a:p>
          <a:p>
            <a:pPr lvl="1"/>
            <a:r>
              <a:rPr lang="en-US" dirty="0"/>
              <a:t>Wrote a manual 2×2 mesh topology file from scratch.</a:t>
            </a:r>
          </a:p>
          <a:p>
            <a:pPr lvl="1"/>
            <a:r>
              <a:rPr lang="en-US" dirty="0"/>
              <a:t>Running it to compare with automatic mesh output.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FBD84-600D-9906-7CC6-4176314E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60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B81CD1-3FE8-F988-9731-F2B061B6DBE8}"/>
              </a:ext>
            </a:extLst>
          </p:cNvPr>
          <p:cNvSpPr txBox="1"/>
          <p:nvPr/>
        </p:nvSpPr>
        <p:spPr>
          <a:xfrm>
            <a:off x="0" y="3736180"/>
            <a:ext cx="45621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Buffer size = 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IP6 is inactive and doesn’t send any packets into the fabric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5F924-A5FF-D779-AA64-3FA5421D55BE}"/>
              </a:ext>
            </a:extLst>
          </p:cNvPr>
          <p:cNvSpPr txBox="1"/>
          <p:nvPr/>
        </p:nvSpPr>
        <p:spPr>
          <a:xfrm>
            <a:off x="79963" y="59631"/>
            <a:ext cx="839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Experiment 1 : </a:t>
            </a:r>
            <a:r>
              <a:rPr lang="en-US" sz="3200" b="1" dirty="0">
                <a:solidFill>
                  <a:srgbClr val="00B050"/>
                </a:solidFill>
              </a:rPr>
              <a:t>IP0-&gt;BF0-&gt;DIE0</a:t>
            </a:r>
            <a:r>
              <a:rPr lang="en-US" sz="3200" dirty="0"/>
              <a:t>; </a:t>
            </a:r>
            <a:r>
              <a:rPr lang="en-US" sz="3200" dirty="0">
                <a:solidFill>
                  <a:srgbClr val="FF0000"/>
                </a:solidFill>
              </a:rPr>
              <a:t>NO IP6</a:t>
            </a:r>
          </a:p>
          <a:p>
            <a:endParaRPr lang="en-IN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FCB0-03D1-D729-3D49-14E14926B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04" y="845574"/>
            <a:ext cx="5255256" cy="23265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89F5F1-5A66-0A0C-91E2-E2C3737D9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13" y="850246"/>
            <a:ext cx="5466305" cy="281740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7E4011CD-46F3-2A68-384B-997A5A9E64C8}"/>
              </a:ext>
            </a:extLst>
          </p:cNvPr>
          <p:cNvSpPr/>
          <p:nvPr/>
        </p:nvSpPr>
        <p:spPr>
          <a:xfrm>
            <a:off x="8872695" y="3177791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0795CF5-CE60-A603-AF5C-ED5B6C1A39DD}"/>
              </a:ext>
            </a:extLst>
          </p:cNvPr>
          <p:cNvSpPr/>
          <p:nvPr/>
        </p:nvSpPr>
        <p:spPr>
          <a:xfrm rot="5224030">
            <a:off x="5769332" y="4710749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2E103983-D4B7-FC68-C117-699B76051C4B}"/>
              </a:ext>
            </a:extLst>
          </p:cNvPr>
          <p:cNvSpPr/>
          <p:nvPr/>
        </p:nvSpPr>
        <p:spPr>
          <a:xfrm rot="10800000">
            <a:off x="1379530" y="5046726"/>
            <a:ext cx="648929" cy="6779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933EF-A2C9-0537-BA79-CFD7EA315A5F}"/>
              </a:ext>
            </a:extLst>
          </p:cNvPr>
          <p:cNvSpPr txBox="1"/>
          <p:nvPr/>
        </p:nvSpPr>
        <p:spPr>
          <a:xfrm>
            <a:off x="3118933" y="4414859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3AB5FB-9BED-A212-1E35-C19A1D431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232" y="3692479"/>
            <a:ext cx="5467928" cy="294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D9EE44-425C-6DFE-7889-AFA670E703B9}"/>
              </a:ext>
            </a:extLst>
          </p:cNvPr>
          <p:cNvSpPr txBox="1"/>
          <p:nvPr/>
        </p:nvSpPr>
        <p:spPr>
          <a:xfrm>
            <a:off x="8785477" y="5489206"/>
            <a:ext cx="2513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.</a:t>
            </a:r>
            <a:r>
              <a:rPr lang="en-IN" sz="2800" b="1" dirty="0">
                <a:solidFill>
                  <a:srgbClr val="FF0000"/>
                </a:solidFill>
              </a:rPr>
              <a:t>dot input file 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A712A5-8EDD-6551-0B7C-7FE02951C2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30" y="5750816"/>
            <a:ext cx="5626886" cy="945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55BA21-BE25-A8F8-6211-C1F4351542D4}"/>
              </a:ext>
            </a:extLst>
          </p:cNvPr>
          <p:cNvSpPr txBox="1"/>
          <p:nvPr/>
        </p:nvSpPr>
        <p:spPr>
          <a:xfrm>
            <a:off x="176249" y="6377542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17E428-EC44-D785-81F1-5451196F70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757"/>
          <a:stretch>
            <a:fillRect/>
          </a:stretch>
        </p:blipFill>
        <p:spPr>
          <a:xfrm>
            <a:off x="2231286" y="4789198"/>
            <a:ext cx="3134162" cy="6779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C45EB-398C-52CA-E899-89B64AF7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01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D27A97-5A08-684B-0453-0BDAF243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6CCEB3-F7B9-1ADC-2399-25A86065E1DE}"/>
              </a:ext>
            </a:extLst>
          </p:cNvPr>
          <p:cNvSpPr txBox="1"/>
          <p:nvPr/>
        </p:nvSpPr>
        <p:spPr>
          <a:xfrm>
            <a:off x="-38452" y="3429000"/>
            <a:ext cx="45621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Buffer size = 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IP0 is inactive and doesn’t send any packets into the fabric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946C2-D776-2608-3553-AC82E956C22E}"/>
              </a:ext>
            </a:extLst>
          </p:cNvPr>
          <p:cNvSpPr txBox="1"/>
          <p:nvPr/>
        </p:nvSpPr>
        <p:spPr>
          <a:xfrm>
            <a:off x="79963" y="59631"/>
            <a:ext cx="8396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Experiment 2 : </a:t>
            </a:r>
            <a:r>
              <a:rPr lang="en-US" sz="3200" b="1" dirty="0">
                <a:solidFill>
                  <a:srgbClr val="00B050"/>
                </a:solidFill>
              </a:rPr>
              <a:t>IP6-&gt;BF6-&gt;BF0-&gt;DIE0</a:t>
            </a:r>
            <a:r>
              <a:rPr lang="en-US" sz="3200" dirty="0"/>
              <a:t>; </a:t>
            </a:r>
            <a:r>
              <a:rPr lang="en-US" sz="3200" b="1" dirty="0">
                <a:solidFill>
                  <a:srgbClr val="FF0000"/>
                </a:solidFill>
              </a:rPr>
              <a:t>NO IP0</a:t>
            </a: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IN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803BF9-65F7-2BAD-F060-C34577B9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04" y="845574"/>
            <a:ext cx="5255256" cy="2326589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CBD6CA47-1832-A58B-27DA-16DCA0182375}"/>
              </a:ext>
            </a:extLst>
          </p:cNvPr>
          <p:cNvSpPr/>
          <p:nvPr/>
        </p:nvSpPr>
        <p:spPr>
          <a:xfrm>
            <a:off x="8872695" y="3177791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B0E2E8C-BEB9-2A49-72EA-2592DA23EB8E}"/>
              </a:ext>
            </a:extLst>
          </p:cNvPr>
          <p:cNvSpPr/>
          <p:nvPr/>
        </p:nvSpPr>
        <p:spPr>
          <a:xfrm rot="5224030">
            <a:off x="5769332" y="4710749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CFA51FFA-1F96-80CE-AF97-F1F81DC2BC92}"/>
              </a:ext>
            </a:extLst>
          </p:cNvPr>
          <p:cNvSpPr/>
          <p:nvPr/>
        </p:nvSpPr>
        <p:spPr>
          <a:xfrm rot="10800000">
            <a:off x="1317523" y="4690505"/>
            <a:ext cx="648929" cy="6779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E7B8B9-D0F5-9C42-613F-0A12CE2BB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21" y="797188"/>
            <a:ext cx="6074770" cy="27245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3A2FF76-82F3-19B0-7FF1-34DAE9464BDF}"/>
              </a:ext>
            </a:extLst>
          </p:cNvPr>
          <p:cNvSpPr txBox="1"/>
          <p:nvPr/>
        </p:nvSpPr>
        <p:spPr>
          <a:xfrm>
            <a:off x="3319306" y="4065690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039E1-4C18-DE3A-7630-22936D403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714" y="3600710"/>
            <a:ext cx="5403070" cy="30572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0DA647-F5DA-298F-43DF-3F99A846DB57}"/>
              </a:ext>
            </a:extLst>
          </p:cNvPr>
          <p:cNvSpPr txBox="1"/>
          <p:nvPr/>
        </p:nvSpPr>
        <p:spPr>
          <a:xfrm>
            <a:off x="8872695" y="5508439"/>
            <a:ext cx="2513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.</a:t>
            </a:r>
            <a:r>
              <a:rPr lang="en-IN" sz="2800" b="1" dirty="0">
                <a:solidFill>
                  <a:srgbClr val="FF0000"/>
                </a:solidFill>
              </a:rPr>
              <a:t>dot input file 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8661876-9D3D-5440-70C7-C269CE5431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4" y="5769863"/>
            <a:ext cx="5938325" cy="7745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EDB3C8-023D-159E-24AF-9C6DDCAD6260}"/>
              </a:ext>
            </a:extLst>
          </p:cNvPr>
          <p:cNvSpPr txBox="1"/>
          <p:nvPr/>
        </p:nvSpPr>
        <p:spPr>
          <a:xfrm>
            <a:off x="1534174" y="6410030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BB392F-A794-449B-3685-85BAFABAB9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6031" y="4425220"/>
            <a:ext cx="3466135" cy="116843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64383F-87A6-643C-43F9-131E59A1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4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02020E-D85A-7B64-ED8B-2F5634CB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AEEC4-5E0A-99A6-BA52-AEBBEBEA717E}"/>
              </a:ext>
            </a:extLst>
          </p:cNvPr>
          <p:cNvSpPr txBox="1"/>
          <p:nvPr/>
        </p:nvSpPr>
        <p:spPr>
          <a:xfrm>
            <a:off x="170785" y="29613"/>
            <a:ext cx="758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Experiment 3(b): Both </a:t>
            </a:r>
            <a:r>
              <a:rPr lang="en-US" b="1" dirty="0">
                <a:solidFill>
                  <a:srgbClr val="FF0000"/>
                </a:solidFill>
              </a:rPr>
              <a:t>IP6</a:t>
            </a:r>
            <a:r>
              <a:rPr lang="en-US" dirty="0"/>
              <a:t> &amp; </a:t>
            </a:r>
            <a:r>
              <a:rPr lang="en-US" b="1" dirty="0">
                <a:solidFill>
                  <a:srgbClr val="00B050"/>
                </a:solidFill>
              </a:rPr>
              <a:t>IP0</a:t>
            </a:r>
            <a:r>
              <a:rPr lang="en-US" dirty="0"/>
              <a:t> has high injection rate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6EC57-5052-9C35-15C0-6B67CF14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8"/>
          <a:stretch>
            <a:fillRect/>
          </a:stretch>
        </p:blipFill>
        <p:spPr>
          <a:xfrm>
            <a:off x="6802816" y="530036"/>
            <a:ext cx="5389184" cy="2463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24BDC5-C456-428E-F24A-B932263F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7" y="645754"/>
            <a:ext cx="5255256" cy="232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785F27C-3823-E734-D148-5E0B6A88E745}"/>
              </a:ext>
            </a:extLst>
          </p:cNvPr>
          <p:cNvSpPr/>
          <p:nvPr/>
        </p:nvSpPr>
        <p:spPr>
          <a:xfrm>
            <a:off x="5518953" y="1478462"/>
            <a:ext cx="120600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E0DECE8-8555-53FC-7B01-7FA565CB4EB3}"/>
              </a:ext>
            </a:extLst>
          </p:cNvPr>
          <p:cNvSpPr/>
          <p:nvPr/>
        </p:nvSpPr>
        <p:spPr>
          <a:xfrm>
            <a:off x="9317736" y="2920473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5830CE-2BCB-33C4-C6B8-C6F15D406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3172969"/>
            <a:ext cx="5479370" cy="95097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0D7C85DA-7D0B-C66E-42B1-4E1DDBC7C959}"/>
              </a:ext>
            </a:extLst>
          </p:cNvPr>
          <p:cNvSpPr/>
          <p:nvPr/>
        </p:nvSpPr>
        <p:spPr>
          <a:xfrm rot="5583788">
            <a:off x="6128854" y="3699581"/>
            <a:ext cx="301752" cy="2103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D0F8CD4-DF2F-2458-0040-33F41C8DC248}"/>
              </a:ext>
            </a:extLst>
          </p:cNvPr>
          <p:cNvSpPr/>
          <p:nvPr/>
        </p:nvSpPr>
        <p:spPr>
          <a:xfrm>
            <a:off x="4541753" y="4281704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6188CB-78D5-8525-0CDA-32E1FABC2120}"/>
              </a:ext>
            </a:extLst>
          </p:cNvPr>
          <p:cNvSpPr txBox="1"/>
          <p:nvPr/>
        </p:nvSpPr>
        <p:spPr>
          <a:xfrm>
            <a:off x="53774" y="4246226"/>
            <a:ext cx="28682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Buffer_ size 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IP0 has </a:t>
            </a:r>
            <a:r>
              <a:rPr lang="en-US" sz="1400" dirty="0">
                <a:solidFill>
                  <a:srgbClr val="00B050"/>
                </a:solidFill>
              </a:rPr>
              <a:t>higher priority </a:t>
            </a:r>
            <a:r>
              <a:rPr lang="en-US" sz="1400" dirty="0"/>
              <a:t>than IP6.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IP0 ‘s end-to-end latency </a:t>
            </a:r>
            <a:r>
              <a:rPr lang="en-US" sz="1400" dirty="0"/>
              <a:t>= queue waiting time + pipeline delay = 0(BF0 -&gt; DIE0) + 34 = 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IP0’s waiting time 0 as IP0 has high priority, </a:t>
            </a:r>
            <a:r>
              <a:rPr lang="en-US" sz="1400" b="1" dirty="0"/>
              <a:t>need not to wait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IP6 ‘s end-to-end latency </a:t>
            </a:r>
            <a:r>
              <a:rPr lang="en-US" sz="1400" dirty="0"/>
              <a:t>= queue waiting time + pipeline delay = 5 +25(BF6 -&gt; BF0) + 34 (BF0 -&gt; DIE0)= 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5A26599-F3DD-B432-1429-DB78CDB9621E}"/>
              </a:ext>
            </a:extLst>
          </p:cNvPr>
          <p:cNvSpPr/>
          <p:nvPr/>
        </p:nvSpPr>
        <p:spPr>
          <a:xfrm rot="5400000">
            <a:off x="2830690" y="4984102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C7C2F-E1E9-01D5-3D5A-83C6622086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731"/>
          <a:stretch>
            <a:fillRect/>
          </a:stretch>
        </p:blipFill>
        <p:spPr>
          <a:xfrm>
            <a:off x="3362161" y="4817375"/>
            <a:ext cx="3362794" cy="1160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FD7C6D-7C54-D899-E09F-47832F6D7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567" y="3285253"/>
            <a:ext cx="5331659" cy="33758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BC14D-845D-FC88-86C0-FC94809E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7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566383-3AAE-0393-0751-DB435B6A65E6}"/>
              </a:ext>
            </a:extLst>
          </p:cNvPr>
          <p:cNvSpPr txBox="1"/>
          <p:nvPr/>
        </p:nvSpPr>
        <p:spPr>
          <a:xfrm>
            <a:off x="0" y="23735"/>
            <a:ext cx="758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Experiment 3(b): </a:t>
            </a:r>
            <a:r>
              <a:rPr lang="en-US" b="1" dirty="0">
                <a:solidFill>
                  <a:srgbClr val="FF0000"/>
                </a:solidFill>
              </a:rPr>
              <a:t>IP6</a:t>
            </a:r>
            <a:r>
              <a:rPr lang="en-US" dirty="0"/>
              <a:t> has lower injection rate &amp; </a:t>
            </a:r>
            <a:r>
              <a:rPr lang="en-US" b="1" dirty="0">
                <a:solidFill>
                  <a:srgbClr val="00B050"/>
                </a:solidFill>
              </a:rPr>
              <a:t>IP0</a:t>
            </a:r>
            <a:r>
              <a:rPr lang="en-US" dirty="0"/>
              <a:t> has high injection rate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C46DF-2827-6BF8-06D3-CD6D1B7AD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8"/>
          <a:stretch>
            <a:fillRect/>
          </a:stretch>
        </p:blipFill>
        <p:spPr>
          <a:xfrm>
            <a:off x="6802816" y="530036"/>
            <a:ext cx="5389184" cy="2463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BA2665-3B55-4F9A-CBCC-0B741DBC9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051" y="3236976"/>
            <a:ext cx="5479370" cy="3295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981D6D-5F18-9F06-81BE-FB154D957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37" y="645754"/>
            <a:ext cx="5255256" cy="232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C0DD791-8509-DF21-CF24-8A2889D121A0}"/>
              </a:ext>
            </a:extLst>
          </p:cNvPr>
          <p:cNvSpPr/>
          <p:nvPr/>
        </p:nvSpPr>
        <p:spPr>
          <a:xfrm>
            <a:off x="5518953" y="1478462"/>
            <a:ext cx="120600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E1D6239-B3D6-911E-4BE0-3C02D5A2127D}"/>
              </a:ext>
            </a:extLst>
          </p:cNvPr>
          <p:cNvSpPr/>
          <p:nvPr/>
        </p:nvSpPr>
        <p:spPr>
          <a:xfrm>
            <a:off x="9317736" y="2920473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72372E-7BC1-CEC6-556A-30EC7137F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3172969"/>
            <a:ext cx="5479370" cy="95097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4F9E6262-8711-5DE0-7962-DF1AB69E057D}"/>
              </a:ext>
            </a:extLst>
          </p:cNvPr>
          <p:cNvSpPr/>
          <p:nvPr/>
        </p:nvSpPr>
        <p:spPr>
          <a:xfrm rot="5583788">
            <a:off x="6128854" y="3699581"/>
            <a:ext cx="301752" cy="2103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E745845-92D6-CB9B-1407-98A5BA941B12}"/>
              </a:ext>
            </a:extLst>
          </p:cNvPr>
          <p:cNvSpPr/>
          <p:nvPr/>
        </p:nvSpPr>
        <p:spPr>
          <a:xfrm>
            <a:off x="4541753" y="4281704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ABC31D-4A7B-0A77-C954-6B1B6721E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9350" y="4920365"/>
            <a:ext cx="3153452" cy="11050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CC049A-533B-30A1-A421-2691DB1DBCDC}"/>
              </a:ext>
            </a:extLst>
          </p:cNvPr>
          <p:cNvSpPr txBox="1"/>
          <p:nvPr/>
        </p:nvSpPr>
        <p:spPr>
          <a:xfrm>
            <a:off x="53774" y="4246226"/>
            <a:ext cx="28682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Buffer_ size 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IP0 has </a:t>
            </a:r>
            <a:r>
              <a:rPr lang="en-US" sz="1400" dirty="0">
                <a:solidFill>
                  <a:srgbClr val="00B050"/>
                </a:solidFill>
              </a:rPr>
              <a:t>higher priority </a:t>
            </a:r>
            <a:r>
              <a:rPr lang="en-US" sz="1400" dirty="0"/>
              <a:t>than IP6.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IP0 ‘s end-to-end latency </a:t>
            </a:r>
            <a:r>
              <a:rPr lang="en-US" sz="1400" dirty="0"/>
              <a:t>= queue waiting time + pipeline delay = 0(BF0 -&gt; DIE0) + 34 = 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IP0’s waiting time 0 as IP0 has high priority, </a:t>
            </a:r>
            <a:r>
              <a:rPr lang="en-US" sz="1400" b="1" dirty="0"/>
              <a:t>need not to wait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IP6 ‘s end-to-end latency </a:t>
            </a:r>
            <a:r>
              <a:rPr lang="en-US" sz="1400" dirty="0"/>
              <a:t>= queue waiting time + pipeline delay = 1.11 +25(BF6 -&gt; BF0) + 34 (BF0 -&gt; DIE0)= 60.11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AD7476D-328F-2AF7-1916-B4C521708F06}"/>
              </a:ext>
            </a:extLst>
          </p:cNvPr>
          <p:cNvSpPr/>
          <p:nvPr/>
        </p:nvSpPr>
        <p:spPr>
          <a:xfrm rot="5400000">
            <a:off x="2830690" y="4984102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2502F9-534F-2BFB-1372-8333847C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2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D60B7F-4AA5-22D0-032E-D7D3EB7F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56EAA-8F4A-A521-B67B-F6C98D54B4DA}"/>
              </a:ext>
            </a:extLst>
          </p:cNvPr>
          <p:cNvSpPr txBox="1"/>
          <p:nvPr/>
        </p:nvSpPr>
        <p:spPr>
          <a:xfrm>
            <a:off x="0" y="23735"/>
            <a:ext cx="7580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Experiment 3(a): </a:t>
            </a:r>
            <a:r>
              <a:rPr lang="en-US" sz="2000" dirty="0"/>
              <a:t>Both</a:t>
            </a:r>
            <a:r>
              <a:rPr lang="en-US" sz="2000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IP6</a:t>
            </a:r>
            <a:r>
              <a:rPr lang="en-US" dirty="0"/>
              <a:t> &amp; </a:t>
            </a:r>
            <a:r>
              <a:rPr lang="en-US" b="1" dirty="0">
                <a:solidFill>
                  <a:srgbClr val="00B050"/>
                </a:solidFill>
              </a:rPr>
              <a:t>IP0</a:t>
            </a:r>
            <a:r>
              <a:rPr lang="en-US" dirty="0"/>
              <a:t>  has lower injection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D6E7B-3847-7456-EEAF-AB293159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8"/>
          <a:stretch>
            <a:fillRect/>
          </a:stretch>
        </p:blipFill>
        <p:spPr>
          <a:xfrm>
            <a:off x="6802816" y="530036"/>
            <a:ext cx="5389184" cy="2463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EA1F00-CC7D-8D5F-4344-E5D9F828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7" y="645754"/>
            <a:ext cx="5255256" cy="232658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3AF330F-993C-3A54-D61C-FEDC941113DC}"/>
              </a:ext>
            </a:extLst>
          </p:cNvPr>
          <p:cNvSpPr/>
          <p:nvPr/>
        </p:nvSpPr>
        <p:spPr>
          <a:xfrm>
            <a:off x="5518953" y="1478462"/>
            <a:ext cx="1206002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7C13439-4A84-4810-A9F3-CE165A3D2821}"/>
              </a:ext>
            </a:extLst>
          </p:cNvPr>
          <p:cNvSpPr/>
          <p:nvPr/>
        </p:nvSpPr>
        <p:spPr>
          <a:xfrm>
            <a:off x="9317736" y="2920473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C47287-E103-AFC6-BDD6-750F8DFCD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3172969"/>
            <a:ext cx="5479370" cy="95097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C17FA116-FBD2-8952-ABBD-989CB9CB1A68}"/>
              </a:ext>
            </a:extLst>
          </p:cNvPr>
          <p:cNvSpPr/>
          <p:nvPr/>
        </p:nvSpPr>
        <p:spPr>
          <a:xfrm rot="5583788">
            <a:off x="6128854" y="3699581"/>
            <a:ext cx="301752" cy="2103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4A7BFF5-E359-BD21-0864-E15FD66547DA}"/>
              </a:ext>
            </a:extLst>
          </p:cNvPr>
          <p:cNvSpPr/>
          <p:nvPr/>
        </p:nvSpPr>
        <p:spPr>
          <a:xfrm>
            <a:off x="4541753" y="4281704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D14F5-1346-4EDB-A789-5170F77B0CFA}"/>
              </a:ext>
            </a:extLst>
          </p:cNvPr>
          <p:cNvSpPr txBox="1"/>
          <p:nvPr/>
        </p:nvSpPr>
        <p:spPr>
          <a:xfrm>
            <a:off x="53774" y="4246226"/>
            <a:ext cx="304032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Buffer_ size 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IP0 has </a:t>
            </a:r>
            <a:r>
              <a:rPr lang="en-US" sz="1400" dirty="0">
                <a:solidFill>
                  <a:srgbClr val="00B050"/>
                </a:solidFill>
              </a:rPr>
              <a:t>higher priority </a:t>
            </a:r>
            <a:r>
              <a:rPr lang="en-US" sz="1400" dirty="0"/>
              <a:t>than IP6.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IP0 ‘s end-to-end latency </a:t>
            </a:r>
            <a:r>
              <a:rPr lang="en-US" sz="1400" dirty="0"/>
              <a:t>= queue waiting time + pipeline delay = 0(BF0 -&gt; DIE0) + 34 = 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IP0’s waiting time 0 as IP0 has high priority, </a:t>
            </a:r>
            <a:r>
              <a:rPr lang="en-US" sz="1400" b="1" dirty="0"/>
              <a:t>need not to wait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IP6 ‘s end-to-end latency </a:t>
            </a:r>
            <a:r>
              <a:rPr lang="en-US" sz="1400" dirty="0"/>
              <a:t>= queue waiting time + pipeline delay = 0.05 +25(BF6 -&gt; BF0) + 34 (BF0 -&gt; DIE0)= 59.05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7F5D513E-2FC7-E9FE-81AF-FCA87E1DDBDB}"/>
              </a:ext>
            </a:extLst>
          </p:cNvPr>
          <p:cNvSpPr/>
          <p:nvPr/>
        </p:nvSpPr>
        <p:spPr>
          <a:xfrm rot="5400000">
            <a:off x="2830690" y="4984102"/>
            <a:ext cx="274320" cy="25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F7D7A8-185E-0D08-0EF6-662AB282EE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255" r="46487"/>
          <a:stretch>
            <a:fillRect/>
          </a:stretch>
        </p:blipFill>
        <p:spPr>
          <a:xfrm>
            <a:off x="3237521" y="4811737"/>
            <a:ext cx="3542984" cy="1061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E9EC3A-0189-B4E8-9345-04F9118B6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598" y="3337560"/>
            <a:ext cx="5038628" cy="33649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4E476-CB6C-1B91-9AEA-07F90310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FDCFC-8663-4087-83EE-4AC8879F858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01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10" ma:contentTypeDescription="Create a new document." ma:contentTypeScope="" ma:versionID="53c1021022da70296591b795eeeb98a1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7166bdbd3ca8aa2f052e6d507fe63706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8CE726-3905-40BC-9649-CD2A02A32498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cf6b262d-64b1-48de-8710-0fc3c93bfca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28F2B83-3C0F-4A0A-9E2B-341F41AF29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30706D-E0C3-46DC-A611-E255A11A67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528</Words>
  <Application>Microsoft Office PowerPoint</Application>
  <PresentationFormat>Widescreen</PresentationFormat>
  <Paragraphs>62</Paragraphs>
  <Slides>8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Bus-based Fabric</vt:lpstr>
      <vt:lpstr>Experimental Summary</vt:lpstr>
      <vt:lpstr>Ongoing Work – Mesh Topology Issue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2026-02-23T16:14:17Z</dcterms:created>
  <dcterms:modified xsi:type="dcterms:W3CDTF">2026-03-11T17:36:46Z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