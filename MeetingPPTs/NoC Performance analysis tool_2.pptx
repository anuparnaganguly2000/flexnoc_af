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2" r:id="rId6"/>
    <p:sldId id="273" r:id="rId7"/>
    <p:sldId id="270" r:id="rId8"/>
    <p:sldId id="274" r:id="rId9"/>
    <p:sldId id="269" r:id="rId10"/>
    <p:sldId id="265" r:id="rId11"/>
    <p:sldId id="266" r:id="rId12"/>
    <p:sldId id="267" r:id="rId13"/>
    <p:sldId id="264" r:id="rId14"/>
    <p:sldId id="272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1BEEE-CAA8-4326-AD48-D10D3FE22DE8}" v="5" dt="2025-02-04T15:34:37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215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A426-BC6A-14A0-69D1-B459C0A52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C3351-B758-884C-E431-FDAD4F9D3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C7343-F1F4-6DD0-A599-B74FF716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55DA-3725-F276-4895-9E7459FD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51578-4753-08BC-4421-B38B59FF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2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192C-9879-32F5-29DC-C997D6CA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C576-564C-A243-CB9F-A73A4DA11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B19AF-A3AA-48E8-A99D-46CC70FC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613F3-5CD8-F858-B97E-EBC778E9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5563F-04CF-3065-AEDB-0C046A0A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8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0CE8-DFDC-1B0D-B257-B3414B49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FE73A-DB53-A216-63AE-7DE09D346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B543E-F718-DA6D-2265-8A2E3B9C5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173AA-75A4-9294-67F1-4C08DC43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0496-5E86-51BE-BF2F-EE6898D9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1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93D7-665D-B827-4554-E5479505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B85B6-3B84-3CA3-ED5D-1969B213B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603A5-A986-096F-F721-860D08341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91C81-8855-1ADB-2F85-3528FCE6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F66CF-1CD5-EA29-0C3A-0A144694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02F46-BB55-E5BF-64E6-C37F2495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1CC4-E02F-E30E-2FBE-6CF51CA8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F176C-EB51-96AD-2FD5-528D0898A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5C934-0711-8723-E757-001ECC806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A38EB-AC34-B332-64AF-62A393230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863C3-696B-1669-ECAC-67BA15570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28DFF3-040C-E995-DC05-D5D64658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6A660-C966-0F80-A4BE-008E5B06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A9B5E-3AD7-71F9-6856-6BC67CFE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7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10E24-2940-F261-E2C1-4E9AB995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7ADEE-AA8F-1E02-9088-04920D6D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56A68-975F-CFD9-C97F-E77DE5C9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F7612-FF9F-EBEC-6DE1-16779BC0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0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526CC-847E-0A07-59C5-4E555479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3D283-8C01-FD95-C0B7-74347DB2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4C8C4-DA40-C2FE-9283-43E239FC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E516-8992-FB91-AA3D-049D03E9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8976-26D6-4061-385B-B8F5306B3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B1940-3F2D-93CB-7E7A-BE247FC99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32C90-A940-D3CE-780F-24EE072A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29F1C-125E-5172-4D09-FD88BC63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8B776-F6BA-99B3-28E1-CDC12258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8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BAF2-CB58-74E7-06A4-09D8A0E2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2125D-688E-434A-C9BF-FDC3EA703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5634D-2D85-C513-CE7E-CFF9DC074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17FEC-1AA5-B5C0-31B2-0F072CDF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16884-9C32-F8D5-8F47-9CAD70F9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D9F34-5A86-DB42-E52D-B330D1CB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2607-B60F-BAC6-3369-2C55D324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AA8A4-0223-0FB1-947F-5C43A4C07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48E52-21A1-74A3-267D-2AEB0640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C19D-C745-8B9D-8571-16711CCC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77EE-6529-4C5E-D2ED-AB32294E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7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DC7579-271D-8100-ACF7-A3F377347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A0580-19CB-7074-29D9-B6D3071B1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22A32-60B2-162C-9130-C9F965907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63F76-FFE5-0EA1-E919-04034449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92E3-EBC6-ECF9-D39C-7BA65406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81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36A60-622F-E026-E845-29CD8C11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B9DFF-D1C9-13BE-1B4E-99A268E1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1B273-E826-532B-AE9F-9E81C5AAF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11846-ADAD-4232-9E4F-F823C8FD25E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30948-22F6-E430-6616-99A0DB6A9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29B61-FA71-9400-25B6-B99640B38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093A9-A318-41ED-B880-5331FEA6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5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3">
            <a:extLst>
              <a:ext uri="{FF2B5EF4-FFF2-40B4-BE49-F238E27FC236}">
                <a16:creationId xmlns:a16="http://schemas.microsoft.com/office/drawing/2014/main" id="{77F2B5A2-5988-EDD9-C889-B563E085F8BF}"/>
              </a:ext>
            </a:extLst>
          </p:cNvPr>
          <p:cNvSpPr txBox="1"/>
          <p:nvPr/>
        </p:nvSpPr>
        <p:spPr>
          <a:xfrm>
            <a:off x="963143" y="2767280"/>
            <a:ext cx="1026571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/>
              <a:t>NoC Performance Analysis Tool with Hybrid Arbitration</a:t>
            </a:r>
          </a:p>
        </p:txBody>
      </p:sp>
    </p:spTree>
    <p:extLst>
      <p:ext uri="{BB962C8B-B14F-4D97-AF65-F5344CB8AC3E}">
        <p14:creationId xmlns:p14="http://schemas.microsoft.com/office/powerpoint/2010/main" val="16921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Recap</a:t>
            </a:r>
            <a:endParaRPr lang="en-US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Functionality of the Tool.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Demonstration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Code Changes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3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0BA5-3034-DB61-3C7A-F838C0D7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125"/>
            <a:ext cx="10887456" cy="604139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How </a:t>
            </a:r>
            <a:r>
              <a:rPr lang="en-US" sz="3200" dirty="0" err="1">
                <a:solidFill>
                  <a:srgbClr val="FFC000"/>
                </a:solidFill>
              </a:rPr>
              <a:t>NoC</a:t>
            </a:r>
            <a:r>
              <a:rPr lang="en-US" sz="3200" dirty="0">
                <a:solidFill>
                  <a:srgbClr val="FFC000"/>
                </a:solidFill>
              </a:rPr>
              <a:t> Performance Analysis Tool is working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6E5125-842C-E708-D065-7DCC63E5D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0352" y="1115568"/>
                <a:ext cx="10823448" cy="5061395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1600" dirty="0"/>
                  <a:t>Input Files:</a:t>
                </a:r>
              </a:p>
              <a:p>
                <a:pPr lvl="1"/>
                <a:r>
                  <a:rPr lang="en-US" sz="1200" dirty="0"/>
                  <a:t>Network.txt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Defines network of the real configuration.</a:t>
                </a:r>
              </a:p>
              <a:p>
                <a:pPr lvl="1"/>
                <a:r>
                  <a:rPr lang="en-US" sz="1200" dirty="0"/>
                  <a:t>Statistics.txt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Defines the traffic of the network.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    Processing Stage:</a:t>
                </a:r>
              </a:p>
              <a:p>
                <a:pPr lvl="1"/>
                <a:r>
                  <a:rPr lang="en-US" sz="1200" dirty="0"/>
                  <a:t>The tool parses both files.</a:t>
                </a:r>
              </a:p>
              <a:p>
                <a:pPr lvl="1"/>
                <a:r>
                  <a:rPr lang="en-US" sz="1200" dirty="0"/>
                  <a:t>Simulates network behavior with given traffic.</a:t>
                </a:r>
              </a:p>
              <a:p>
                <a:pPr lvl="1"/>
                <a:r>
                  <a:rPr lang="en-US" sz="1200" dirty="0"/>
                  <a:t>Measures and records latency per injector.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   Output  Stage:</a:t>
                </a:r>
              </a:p>
              <a:p>
                <a:pPr lvl="1"/>
                <a:r>
                  <a:rPr lang="en-US" sz="1200" dirty="0"/>
                  <a:t>Latency results for all injectors.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6E5125-842C-E708-D065-7DCC63E5D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0352" y="1115568"/>
                <a:ext cx="10823448" cy="5061395"/>
              </a:xfrm>
              <a:blipFill>
                <a:blip r:embed="rId2"/>
                <a:stretch>
                  <a:fillRect l="-282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BC1861-832D-9AD6-C87C-FCDA22D3F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41" y="4003574"/>
            <a:ext cx="2523868" cy="1997873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12F4241-4523-73B4-39B2-5DFCBC488127}"/>
              </a:ext>
            </a:extLst>
          </p:cNvPr>
          <p:cNvSpPr/>
          <p:nvPr/>
        </p:nvSpPr>
        <p:spPr>
          <a:xfrm>
            <a:off x="3647983" y="4635895"/>
            <a:ext cx="173736" cy="182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3A98E-7EE0-3ECB-3FBB-D9449919D030}"/>
              </a:ext>
            </a:extLst>
          </p:cNvPr>
          <p:cNvSpPr txBox="1"/>
          <p:nvPr/>
        </p:nvSpPr>
        <p:spPr>
          <a:xfrm>
            <a:off x="4224382" y="3872068"/>
            <a:ext cx="1292222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Input:Network.txt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9524A-7B85-C38F-EC7D-121869B2C6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25" r="19735"/>
          <a:stretch/>
        </p:blipFill>
        <p:spPr>
          <a:xfrm>
            <a:off x="4210348" y="4126685"/>
            <a:ext cx="1292222" cy="1829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28F589-B189-CDCD-05B1-013CADAEDAD3}"/>
              </a:ext>
            </a:extLst>
          </p:cNvPr>
          <p:cNvSpPr txBox="1"/>
          <p:nvPr/>
        </p:nvSpPr>
        <p:spPr>
          <a:xfrm>
            <a:off x="5886466" y="3872069"/>
            <a:ext cx="1292222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Input:Statistics.txt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538C10-A5FE-BEAC-32A2-40ACD4A97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481" y="4206351"/>
            <a:ext cx="3248478" cy="113363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97F7199-9626-A9B3-3B25-3AB06E557C42}"/>
              </a:ext>
            </a:extLst>
          </p:cNvPr>
          <p:cNvSpPr/>
          <p:nvPr/>
        </p:nvSpPr>
        <p:spPr>
          <a:xfrm>
            <a:off x="7409558" y="4663440"/>
            <a:ext cx="173736" cy="182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9520C-4823-B8F7-0EC5-D12ABFEDCE61}"/>
              </a:ext>
            </a:extLst>
          </p:cNvPr>
          <p:cNvSpPr txBox="1"/>
          <p:nvPr/>
        </p:nvSpPr>
        <p:spPr>
          <a:xfrm>
            <a:off x="1270076" y="3734159"/>
            <a:ext cx="1292222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 Configuration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4D85D-4874-A5AC-9FB3-4E332EE89742}"/>
              </a:ext>
            </a:extLst>
          </p:cNvPr>
          <p:cNvSpPr txBox="1"/>
          <p:nvPr/>
        </p:nvSpPr>
        <p:spPr>
          <a:xfrm>
            <a:off x="8924609" y="3960130"/>
            <a:ext cx="1292222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Output File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71DA8-1080-109A-9E4F-E2ACFCE2A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0072" y="4126685"/>
            <a:ext cx="122889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66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72770" y="-65359"/>
            <a:ext cx="1041741" cy="1006549"/>
            <a:chOff x="0" y="-130720"/>
            <a:chExt cx="2083482" cy="2013099"/>
          </a:xfrm>
        </p:grpSpPr>
        <p:sp>
          <p:nvSpPr>
            <p:cNvPr id="5" name="TextBox 5"/>
            <p:cNvSpPr txBox="1"/>
            <p:nvPr/>
          </p:nvSpPr>
          <p:spPr>
            <a:xfrm>
              <a:off x="75600" y="-130720"/>
              <a:ext cx="1932284" cy="2013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5204"/>
                </a:lnSpc>
              </a:pPr>
              <a:endParaRPr lang="en-US" sz="37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8003" y="4377139"/>
            <a:ext cx="7850457" cy="1616785"/>
            <a:chOff x="0" y="0"/>
            <a:chExt cx="3101415" cy="6387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01415" cy="638730"/>
            </a:xfrm>
            <a:custGeom>
              <a:avLst/>
              <a:gdLst/>
              <a:ahLst/>
              <a:cxnLst/>
              <a:rect l="l" t="t" r="r" b="b"/>
              <a:pathLst>
                <a:path w="3101415" h="638730">
                  <a:moveTo>
                    <a:pt x="33530" y="0"/>
                  </a:moveTo>
                  <a:lnTo>
                    <a:pt x="3067885" y="0"/>
                  </a:lnTo>
                  <a:cubicBezTo>
                    <a:pt x="3076778" y="0"/>
                    <a:pt x="3085306" y="3533"/>
                    <a:pt x="3091594" y="9821"/>
                  </a:cubicBezTo>
                  <a:cubicBezTo>
                    <a:pt x="3097882" y="16109"/>
                    <a:pt x="3101415" y="24637"/>
                    <a:pt x="3101415" y="33530"/>
                  </a:cubicBezTo>
                  <a:lnTo>
                    <a:pt x="3101415" y="605200"/>
                  </a:lnTo>
                  <a:cubicBezTo>
                    <a:pt x="3101415" y="614093"/>
                    <a:pt x="3097882" y="622621"/>
                    <a:pt x="3091594" y="628909"/>
                  </a:cubicBezTo>
                  <a:cubicBezTo>
                    <a:pt x="3085306" y="635198"/>
                    <a:pt x="3076778" y="638730"/>
                    <a:pt x="3067885" y="638730"/>
                  </a:cubicBezTo>
                  <a:lnTo>
                    <a:pt x="33530" y="638730"/>
                  </a:lnTo>
                  <a:cubicBezTo>
                    <a:pt x="24637" y="638730"/>
                    <a:pt x="16109" y="635198"/>
                    <a:pt x="9821" y="628909"/>
                  </a:cubicBezTo>
                  <a:cubicBezTo>
                    <a:pt x="3533" y="622621"/>
                    <a:pt x="0" y="614093"/>
                    <a:pt x="0" y="605200"/>
                  </a:cubicBezTo>
                  <a:lnTo>
                    <a:pt x="0" y="33530"/>
                  </a:lnTo>
                  <a:cubicBezTo>
                    <a:pt x="0" y="24637"/>
                    <a:pt x="3533" y="16109"/>
                    <a:pt x="9821" y="9821"/>
                  </a:cubicBezTo>
                  <a:cubicBezTo>
                    <a:pt x="16109" y="3533"/>
                    <a:pt x="24637" y="0"/>
                    <a:pt x="33530" y="0"/>
                  </a:cubicBezTo>
                  <a:close/>
                </a:path>
              </a:pathLst>
            </a:custGeom>
            <a:solidFill>
              <a:srgbClr val="9FC3D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101415" cy="68635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06298" y="4615755"/>
            <a:ext cx="7586002" cy="1262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0" lvl="1" indent="-192880" algn="l">
              <a:lnSpc>
                <a:spcPts val="2501"/>
              </a:lnSpc>
              <a:buFont typeface="Arial"/>
              <a:buChar char="•"/>
            </a:pPr>
            <a:r>
              <a:rPr lang="en-US" sz="1786" dirty="0">
                <a:solidFill>
                  <a:srgbClr val="000000"/>
                </a:solidFill>
                <a:latin typeface="Alatsi"/>
              </a:rPr>
              <a:t>Each line is of format, Node: source Primitive, destination primitive</a:t>
            </a:r>
          </a:p>
          <a:p>
            <a:pPr marL="385760" lvl="1" indent="-192880" algn="l">
              <a:lnSpc>
                <a:spcPts val="2501"/>
              </a:lnSpc>
              <a:buFont typeface="Arial"/>
              <a:buChar char="•"/>
            </a:pPr>
            <a:r>
              <a:rPr lang="en-US" sz="1786" dirty="0">
                <a:solidFill>
                  <a:srgbClr val="000000"/>
                </a:solidFill>
                <a:latin typeface="Alatsi"/>
              </a:rPr>
              <a:t>Nodes are created,  corresponding connections are made via pointers to the primitives. </a:t>
            </a:r>
          </a:p>
          <a:p>
            <a:pPr marL="385760" lvl="1" indent="-192880" algn="l">
              <a:lnSpc>
                <a:spcPts val="2501"/>
              </a:lnSpc>
              <a:buFont typeface="Arial"/>
              <a:buChar char="•"/>
            </a:pPr>
            <a:r>
              <a:rPr lang="en-US" sz="1786" dirty="0" err="1">
                <a:solidFill>
                  <a:srgbClr val="000000"/>
                </a:solidFill>
                <a:latin typeface="Alatsi"/>
              </a:rPr>
              <a:t>Primitive_map</a:t>
            </a:r>
            <a:r>
              <a:rPr lang="en-US" sz="1786" dirty="0">
                <a:solidFill>
                  <a:srgbClr val="000000"/>
                </a:solidFill>
                <a:latin typeface="Alatsi"/>
              </a:rPr>
              <a:t> is a mapping from the name of the primitive to its pointer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26144" y="6027494"/>
            <a:ext cx="7946310" cy="514381"/>
          </a:xfrm>
          <a:custGeom>
            <a:avLst/>
            <a:gdLst/>
            <a:ahLst/>
            <a:cxnLst/>
            <a:rect l="l" t="t" r="r" b="b"/>
            <a:pathLst>
              <a:path w="11919465" h="771572">
                <a:moveTo>
                  <a:pt x="0" y="0"/>
                </a:moveTo>
                <a:lnTo>
                  <a:pt x="11919465" y="0"/>
                </a:lnTo>
                <a:lnTo>
                  <a:pt x="11919465" y="771572"/>
                </a:lnTo>
                <a:lnTo>
                  <a:pt x="0" y="77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7D3BD-7E93-C6F8-C624-3DE42C72CCD3}"/>
              </a:ext>
            </a:extLst>
          </p:cNvPr>
          <p:cNvSpPr txBox="1"/>
          <p:nvPr/>
        </p:nvSpPr>
        <p:spPr>
          <a:xfrm>
            <a:off x="464163" y="218792"/>
            <a:ext cx="11331597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Network.txt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A6947-BECA-47F6-919D-6FF0FC893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89" y="1416825"/>
            <a:ext cx="2788417" cy="2534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1708E0-FAC4-3A28-519F-02A475627E56}"/>
              </a:ext>
            </a:extLst>
          </p:cNvPr>
          <p:cNvSpPr txBox="1"/>
          <p:nvPr/>
        </p:nvSpPr>
        <p:spPr>
          <a:xfrm>
            <a:off x="8939419" y="1467646"/>
            <a:ext cx="1240536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/>
              <a:t>N1:F1,Q1</a:t>
            </a:r>
          </a:p>
          <a:p>
            <a:r>
              <a:rPr lang="pt-BR" sz="1200" dirty="0"/>
              <a:t>N2:F2,Q2</a:t>
            </a:r>
          </a:p>
          <a:p>
            <a:r>
              <a:rPr lang="pt-BR" sz="1200" dirty="0"/>
              <a:t>N3:Q1,RR</a:t>
            </a:r>
          </a:p>
          <a:p>
            <a:r>
              <a:rPr lang="pt-BR" sz="1200" dirty="0"/>
              <a:t>N4:Q2,RR</a:t>
            </a:r>
          </a:p>
          <a:p>
            <a:r>
              <a:rPr lang="pt-BR" sz="1200" dirty="0"/>
              <a:t>N5:RR,SR1</a:t>
            </a:r>
          </a:p>
          <a:p>
            <a:r>
              <a:rPr lang="pt-BR" sz="1200" dirty="0"/>
              <a:t>N6:SR1,Q3</a:t>
            </a:r>
          </a:p>
          <a:p>
            <a:r>
              <a:rPr lang="pt-BR" sz="1200" dirty="0"/>
              <a:t>N7:F3,Q4</a:t>
            </a:r>
          </a:p>
          <a:p>
            <a:r>
              <a:rPr lang="pt-BR" sz="1200" dirty="0"/>
              <a:t>N8:Q3,PR</a:t>
            </a:r>
          </a:p>
          <a:p>
            <a:r>
              <a:rPr lang="pt-BR" sz="1200" dirty="0"/>
              <a:t>N9:Q4,PR</a:t>
            </a:r>
          </a:p>
          <a:p>
            <a:r>
              <a:rPr lang="pt-BR" sz="1200" dirty="0"/>
              <a:t>N10:PR,SR2</a:t>
            </a:r>
          </a:p>
          <a:p>
            <a:r>
              <a:rPr lang="pt-BR" sz="1200" dirty="0"/>
              <a:t>N11:SR2,Q5</a:t>
            </a:r>
          </a:p>
          <a:p>
            <a:r>
              <a:rPr lang="pt-BR" sz="1200" dirty="0"/>
              <a:t>N12:Q5,Sink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D287C-19D5-87CF-249E-15CFD1CFF919}"/>
              </a:ext>
            </a:extLst>
          </p:cNvPr>
          <p:cNvSpPr txBox="1"/>
          <p:nvPr/>
        </p:nvSpPr>
        <p:spPr>
          <a:xfrm>
            <a:off x="8996966" y="1167367"/>
            <a:ext cx="1182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Network.txt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75716B-7BFF-4BF6-5AE1-F244E1CEF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1416824"/>
            <a:ext cx="4505703" cy="2534852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47E65203-8AFB-CE56-85CF-FE8BB1879620}"/>
              </a:ext>
            </a:extLst>
          </p:cNvPr>
          <p:cNvSpPr/>
          <p:nvPr/>
        </p:nvSpPr>
        <p:spPr>
          <a:xfrm>
            <a:off x="3483864" y="2639698"/>
            <a:ext cx="327582" cy="2817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1B2E766-FE65-3A5E-BD1D-03CDA801DD6E}"/>
              </a:ext>
            </a:extLst>
          </p:cNvPr>
          <p:cNvSpPr/>
          <p:nvPr/>
        </p:nvSpPr>
        <p:spPr>
          <a:xfrm>
            <a:off x="8548931" y="2846656"/>
            <a:ext cx="327582" cy="2817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50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B8576-9D7F-8AD3-9CE7-D0039DBF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6341F0-276B-81A9-A1EE-D8AD079D2AAD}"/>
              </a:ext>
            </a:extLst>
          </p:cNvPr>
          <p:cNvGrpSpPr/>
          <p:nvPr/>
        </p:nvGrpSpPr>
        <p:grpSpPr>
          <a:xfrm>
            <a:off x="10572770" y="-65359"/>
            <a:ext cx="1041741" cy="1006549"/>
            <a:chOff x="0" y="-130720"/>
            <a:chExt cx="2083482" cy="201309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FD4339E-1EA9-618D-27ED-93DA7CFDD340}"/>
                </a:ext>
              </a:extLst>
            </p:cNvPr>
            <p:cNvSpPr txBox="1"/>
            <p:nvPr/>
          </p:nvSpPr>
          <p:spPr>
            <a:xfrm>
              <a:off x="75600" y="-130720"/>
              <a:ext cx="1932284" cy="2013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EC7EF34-CC36-7D1A-22FD-68D66F2EBB3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5204"/>
                </a:lnSpc>
              </a:pPr>
              <a:endParaRPr lang="en-US" sz="3700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1290F7-028A-E58F-26DB-51698C1F771C}"/>
              </a:ext>
            </a:extLst>
          </p:cNvPr>
          <p:cNvSpPr txBox="1"/>
          <p:nvPr/>
        </p:nvSpPr>
        <p:spPr>
          <a:xfrm>
            <a:off x="464163" y="218792"/>
            <a:ext cx="11331597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Statistics.txt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40B24-BAA1-472D-A4F8-5853AB8A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78" y="1437093"/>
            <a:ext cx="2798190" cy="2305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C40C3E-08AA-FF30-0B66-C38A1E5F21D3}"/>
              </a:ext>
            </a:extLst>
          </p:cNvPr>
          <p:cNvSpPr txBox="1"/>
          <p:nvPr/>
        </p:nvSpPr>
        <p:spPr>
          <a:xfrm>
            <a:off x="9853104" y="1239987"/>
            <a:ext cx="1240536" cy="2769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/>
              <a:t>F1=0.19,0.82</a:t>
            </a:r>
          </a:p>
          <a:p>
            <a:r>
              <a:rPr lang="pt-BR" sz="1200" dirty="0"/>
              <a:t>F2=0.19,0.82</a:t>
            </a:r>
          </a:p>
          <a:p>
            <a:r>
              <a:rPr lang="pt-BR" sz="1200" dirty="0"/>
              <a:t>F3=0.12,0.86</a:t>
            </a:r>
          </a:p>
          <a:p>
            <a:r>
              <a:rPr lang="pt-BR" sz="1200" dirty="0"/>
              <a:t>Q1=3,1</a:t>
            </a:r>
          </a:p>
          <a:p>
            <a:r>
              <a:rPr lang="pt-BR" sz="1200" dirty="0"/>
              <a:t>Q2=3,1</a:t>
            </a:r>
          </a:p>
          <a:p>
            <a:r>
              <a:rPr lang="pt-BR" sz="1200" dirty="0"/>
              <a:t>Q3=3,1</a:t>
            </a:r>
          </a:p>
          <a:p>
            <a:r>
              <a:rPr lang="pt-BR" sz="1200" dirty="0"/>
              <a:t>Q4=3,1</a:t>
            </a:r>
          </a:p>
          <a:p>
            <a:r>
              <a:rPr lang="pt-BR" sz="1200" dirty="0"/>
              <a:t>Q5=3,1</a:t>
            </a:r>
          </a:p>
          <a:p>
            <a:r>
              <a:rPr lang="pt-BR" sz="1200" dirty="0"/>
              <a:t>SR1=1.0,0.0</a:t>
            </a:r>
          </a:p>
          <a:p>
            <a:r>
              <a:rPr lang="pt-BR" sz="1200" dirty="0"/>
              <a:t>SR2=1.0,0.0</a:t>
            </a:r>
          </a:p>
          <a:p>
            <a:r>
              <a:rPr lang="pt-BR" sz="1200" dirty="0"/>
              <a:t>SR3=1.0,0.0</a:t>
            </a:r>
          </a:p>
          <a:p>
            <a:r>
              <a:rPr lang="pt-BR" sz="1200" dirty="0"/>
              <a:t>RR=0.0,0.0</a:t>
            </a:r>
          </a:p>
          <a:p>
            <a:r>
              <a:rPr lang="pt-BR" sz="1200" dirty="0"/>
              <a:t>PR=0.0,0.0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BED67B-83B6-5791-C1B9-0A962C40EFE4}"/>
              </a:ext>
            </a:extLst>
          </p:cNvPr>
          <p:cNvSpPr txBox="1"/>
          <p:nvPr/>
        </p:nvSpPr>
        <p:spPr>
          <a:xfrm>
            <a:off x="9881877" y="961223"/>
            <a:ext cx="1182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Statistics.txt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3E1238-C143-BFCD-52D2-040E4E15B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743" y="1319536"/>
            <a:ext cx="4664959" cy="2534852"/>
          </a:xfrm>
          <a:prstGeom prst="rect">
            <a:avLst/>
          </a:prstGeom>
        </p:spPr>
      </p:pic>
      <p:grpSp>
        <p:nvGrpSpPr>
          <p:cNvPr id="8" name="Group 16">
            <a:extLst>
              <a:ext uri="{FF2B5EF4-FFF2-40B4-BE49-F238E27FC236}">
                <a16:creationId xmlns:a16="http://schemas.microsoft.com/office/drawing/2014/main" id="{3D0E153D-1F42-FBA2-C634-0F0640C1E288}"/>
              </a:ext>
            </a:extLst>
          </p:cNvPr>
          <p:cNvGrpSpPr/>
          <p:nvPr/>
        </p:nvGrpSpPr>
        <p:grpSpPr>
          <a:xfrm>
            <a:off x="-347472" y="4171151"/>
            <a:ext cx="9500616" cy="2518422"/>
            <a:chOff x="0" y="-1459933"/>
            <a:chExt cx="19001232" cy="5036846"/>
          </a:xfrm>
        </p:grpSpPr>
        <p:grpSp>
          <p:nvGrpSpPr>
            <p:cNvPr id="14" name="Group 17">
              <a:extLst>
                <a:ext uri="{FF2B5EF4-FFF2-40B4-BE49-F238E27FC236}">
                  <a16:creationId xmlns:a16="http://schemas.microsoft.com/office/drawing/2014/main" id="{8A57932A-B388-53CB-BD49-93B1F74A740F}"/>
                </a:ext>
              </a:extLst>
            </p:cNvPr>
            <p:cNvGrpSpPr/>
            <p:nvPr/>
          </p:nvGrpSpPr>
          <p:grpSpPr>
            <a:xfrm>
              <a:off x="0" y="-1459933"/>
              <a:ext cx="19001232" cy="5036846"/>
              <a:chOff x="0" y="-288382"/>
              <a:chExt cx="3753329" cy="994933"/>
            </a:xfrm>
          </p:grpSpPr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DF4EBB00-7C96-7555-F0F7-03797F35CA7B}"/>
                  </a:ext>
                </a:extLst>
              </p:cNvPr>
              <p:cNvSpPr/>
              <p:nvPr/>
            </p:nvSpPr>
            <p:spPr>
              <a:xfrm>
                <a:off x="708039" y="-288382"/>
                <a:ext cx="3045290" cy="706551"/>
              </a:xfrm>
              <a:custGeom>
                <a:avLst/>
                <a:gdLst/>
                <a:ahLst/>
                <a:cxnLst/>
                <a:rect l="l" t="t" r="r" b="b"/>
                <a:pathLst>
                  <a:path w="2006061" h="706551">
                    <a:moveTo>
                      <a:pt x="51838" y="0"/>
                    </a:moveTo>
                    <a:lnTo>
                      <a:pt x="1954224" y="0"/>
                    </a:lnTo>
                    <a:cubicBezTo>
                      <a:pt x="1967972" y="0"/>
                      <a:pt x="1981157" y="5461"/>
                      <a:pt x="1990878" y="15183"/>
                    </a:cubicBezTo>
                    <a:cubicBezTo>
                      <a:pt x="2000600" y="24905"/>
                      <a:pt x="2006061" y="38090"/>
                      <a:pt x="2006061" y="51838"/>
                    </a:cubicBezTo>
                    <a:lnTo>
                      <a:pt x="2006061" y="654713"/>
                    </a:lnTo>
                    <a:cubicBezTo>
                      <a:pt x="2006061" y="668461"/>
                      <a:pt x="2000600" y="681646"/>
                      <a:pt x="1990878" y="691368"/>
                    </a:cubicBezTo>
                    <a:cubicBezTo>
                      <a:pt x="1981157" y="701089"/>
                      <a:pt x="1967972" y="706551"/>
                      <a:pt x="1954224" y="706551"/>
                    </a:cubicBezTo>
                    <a:lnTo>
                      <a:pt x="51838" y="706551"/>
                    </a:lnTo>
                    <a:cubicBezTo>
                      <a:pt x="38090" y="706551"/>
                      <a:pt x="24905" y="701089"/>
                      <a:pt x="15183" y="691368"/>
                    </a:cubicBezTo>
                    <a:cubicBezTo>
                      <a:pt x="5461" y="681646"/>
                      <a:pt x="0" y="668461"/>
                      <a:pt x="0" y="654713"/>
                    </a:cubicBezTo>
                    <a:lnTo>
                      <a:pt x="0" y="51838"/>
                    </a:lnTo>
                    <a:cubicBezTo>
                      <a:pt x="0" y="38090"/>
                      <a:pt x="5461" y="24905"/>
                      <a:pt x="15183" y="15183"/>
                    </a:cubicBezTo>
                    <a:cubicBezTo>
                      <a:pt x="24905" y="5461"/>
                      <a:pt x="38090" y="0"/>
                      <a:pt x="51838" y="0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9">
                <a:extLst>
                  <a:ext uri="{FF2B5EF4-FFF2-40B4-BE49-F238E27FC236}">
                    <a16:creationId xmlns:a16="http://schemas.microsoft.com/office/drawing/2014/main" id="{7849326B-C954-92AB-C5E3-1927D68E64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006061" cy="744651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0C7D096E-B8C6-B85F-D913-B68175EC4C11}"/>
                </a:ext>
              </a:extLst>
            </p:cNvPr>
            <p:cNvSpPr txBox="1"/>
            <p:nvPr/>
          </p:nvSpPr>
          <p:spPr>
            <a:xfrm>
              <a:off x="3788892" y="-1403911"/>
              <a:ext cx="15084322" cy="3166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000000"/>
                  </a:solidFill>
                </a:rPr>
                <a:t>Fn</a:t>
              </a:r>
              <a:r>
                <a:rPr lang="en-US" dirty="0">
                  <a:solidFill>
                    <a:srgbClr val="000000"/>
                  </a:solidFill>
                </a:rPr>
                <a:t>(injector)=Injection Rate, Squared coefficient of variation of inter arrival time 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Qn(Queue)=Buffer size, Type(FIFO)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dirty="0" err="1">
                  <a:solidFill>
                    <a:srgbClr val="000000"/>
                  </a:solidFill>
                </a:rPr>
                <a:t>RRn</a:t>
              </a:r>
              <a:r>
                <a:rPr lang="en-US" dirty="0">
                  <a:solidFill>
                    <a:srgbClr val="000000"/>
                  </a:solidFill>
                </a:rPr>
                <a:t> or </a:t>
              </a:r>
              <a:r>
                <a:rPr lang="en-US" dirty="0" err="1">
                  <a:solidFill>
                    <a:srgbClr val="000000"/>
                  </a:solidFill>
                </a:rPr>
                <a:t>PRn</a:t>
              </a:r>
              <a:r>
                <a:rPr lang="en-US" dirty="0">
                  <a:solidFill>
                    <a:srgbClr val="000000"/>
                  </a:solidFill>
                </a:rPr>
                <a:t> (Arbiter) = Service time, Squared coefficient of variation of service time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dirty="0">
                  <a:solidFill>
                    <a:srgbClr val="000000"/>
                  </a:solidFill>
                </a:rPr>
                <a:t>SR(Server) = Service time, Squared coefficient of variation of service time</a:t>
              </a:r>
            </a:p>
            <a:p>
              <a:pPr algn="l">
                <a:lnSpc>
                  <a:spcPts val="2501"/>
                </a:lnSpc>
              </a:pPr>
              <a:endParaRPr lang="en-US" sz="1786" dirty="0">
                <a:solidFill>
                  <a:srgbClr val="000000"/>
                </a:solidFill>
                <a:latin typeface="Alatsi"/>
              </a:endParaRPr>
            </a:p>
          </p:txBody>
        </p:sp>
      </p:grpSp>
      <p:grpSp>
        <p:nvGrpSpPr>
          <p:cNvPr id="18" name="Group 22">
            <a:extLst>
              <a:ext uri="{FF2B5EF4-FFF2-40B4-BE49-F238E27FC236}">
                <a16:creationId xmlns:a16="http://schemas.microsoft.com/office/drawing/2014/main" id="{6B2C3431-3AC4-38A7-5EE4-C278481FAD97}"/>
              </a:ext>
            </a:extLst>
          </p:cNvPr>
          <p:cNvGrpSpPr/>
          <p:nvPr/>
        </p:nvGrpSpPr>
        <p:grpSpPr>
          <a:xfrm>
            <a:off x="1726144" y="6217920"/>
            <a:ext cx="7774472" cy="439784"/>
            <a:chOff x="0" y="0"/>
            <a:chExt cx="2059186" cy="812800"/>
          </a:xfrm>
          <a:noFill/>
        </p:grpSpPr>
        <p:sp>
          <p:nvSpPr>
            <p:cNvPr id="19" name="Freeform 23">
              <a:extLst>
                <a:ext uri="{FF2B5EF4-FFF2-40B4-BE49-F238E27FC236}">
                  <a16:creationId xmlns:a16="http://schemas.microsoft.com/office/drawing/2014/main" id="{59A34B3A-2C4A-BB23-B4EA-A5EEC4912D50}"/>
                </a:ext>
              </a:extLst>
            </p:cNvPr>
            <p:cNvSpPr/>
            <p:nvPr/>
          </p:nvSpPr>
          <p:spPr>
            <a:xfrm>
              <a:off x="0" y="0"/>
              <a:ext cx="2059186" cy="812800"/>
            </a:xfrm>
            <a:custGeom>
              <a:avLst/>
              <a:gdLst/>
              <a:ahLst/>
              <a:cxnLst/>
              <a:rect l="l" t="t" r="r" b="b"/>
              <a:pathLst>
                <a:path w="2059186" h="812800">
                  <a:moveTo>
                    <a:pt x="50501" y="0"/>
                  </a:moveTo>
                  <a:lnTo>
                    <a:pt x="2008686" y="0"/>
                  </a:lnTo>
                  <a:cubicBezTo>
                    <a:pt x="2022079" y="0"/>
                    <a:pt x="2034924" y="5321"/>
                    <a:pt x="2044395" y="14791"/>
                  </a:cubicBezTo>
                  <a:cubicBezTo>
                    <a:pt x="2053866" y="24262"/>
                    <a:pt x="2059186" y="37107"/>
                    <a:pt x="2059186" y="50501"/>
                  </a:cubicBezTo>
                  <a:lnTo>
                    <a:pt x="2059186" y="762299"/>
                  </a:lnTo>
                  <a:cubicBezTo>
                    <a:pt x="2059186" y="775693"/>
                    <a:pt x="2053866" y="788538"/>
                    <a:pt x="2044395" y="798009"/>
                  </a:cubicBezTo>
                  <a:cubicBezTo>
                    <a:pt x="2034924" y="807479"/>
                    <a:pt x="2022079" y="812800"/>
                    <a:pt x="2008686" y="812800"/>
                  </a:cubicBezTo>
                  <a:lnTo>
                    <a:pt x="50501" y="812800"/>
                  </a:lnTo>
                  <a:cubicBezTo>
                    <a:pt x="37107" y="812800"/>
                    <a:pt x="24262" y="807479"/>
                    <a:pt x="14791" y="798009"/>
                  </a:cubicBezTo>
                  <a:cubicBezTo>
                    <a:pt x="5321" y="788538"/>
                    <a:pt x="0" y="775693"/>
                    <a:pt x="0" y="762299"/>
                  </a:cubicBezTo>
                  <a:lnTo>
                    <a:pt x="0" y="50501"/>
                  </a:lnTo>
                  <a:cubicBezTo>
                    <a:pt x="0" y="37107"/>
                    <a:pt x="5321" y="24262"/>
                    <a:pt x="14791" y="14791"/>
                  </a:cubicBezTo>
                  <a:cubicBezTo>
                    <a:pt x="24262" y="5321"/>
                    <a:pt x="37107" y="0"/>
                    <a:pt x="50501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48F11211-CFCF-3618-4F73-067B1BFFBF38}"/>
                </a:ext>
              </a:extLst>
            </p:cNvPr>
            <p:cNvSpPr txBox="1"/>
            <p:nvPr/>
          </p:nvSpPr>
          <p:spPr>
            <a:xfrm>
              <a:off x="0" y="-47625"/>
              <a:ext cx="2059186" cy="860425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5905C4E-CCD9-8064-9A67-A216648A68E6}"/>
              </a:ext>
            </a:extLst>
          </p:cNvPr>
          <p:cNvSpPr txBox="1"/>
          <p:nvPr/>
        </p:nvSpPr>
        <p:spPr>
          <a:xfrm>
            <a:off x="1444752" y="6061369"/>
            <a:ext cx="7871629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Based on the field parts (F,Q,RR,PR) in the file corresponding primitive objects (</a:t>
            </a:r>
            <a:r>
              <a:rPr lang="en-US" sz="1400" dirty="0" err="1">
                <a:solidFill>
                  <a:schemeClr val="bg1"/>
                </a:solidFill>
              </a:rPr>
              <a:t>injector,queue</a:t>
            </a:r>
            <a:r>
              <a:rPr lang="en-US" sz="1400" dirty="0">
                <a:solidFill>
                  <a:schemeClr val="bg1"/>
                </a:solidFill>
              </a:rPr>
              <a:t>,...) are created by </a:t>
            </a:r>
            <a:r>
              <a:rPr lang="en-US" sz="1400" dirty="0" err="1">
                <a:solidFill>
                  <a:schemeClr val="bg1"/>
                </a:solidFill>
              </a:rPr>
              <a:t>gving</a:t>
            </a:r>
            <a:r>
              <a:rPr lang="en-US" sz="1400" dirty="0">
                <a:solidFill>
                  <a:schemeClr val="bg1"/>
                </a:solidFill>
              </a:rPr>
              <a:t> the suitable instances like </a:t>
            </a:r>
            <a:r>
              <a:rPr lang="en-US" sz="1400" dirty="0" err="1">
                <a:solidFill>
                  <a:schemeClr val="bg1"/>
                </a:solidFill>
              </a:rPr>
              <a:t>buffersize</a:t>
            </a:r>
            <a:r>
              <a:rPr lang="en-US" sz="1400" dirty="0">
                <a:solidFill>
                  <a:schemeClr val="bg1"/>
                </a:solidFill>
              </a:rPr>
              <a:t> for queue, injection rate for injector, etc.....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90CE435-F142-B16A-19BE-10BB6D756FAB}"/>
              </a:ext>
            </a:extLst>
          </p:cNvPr>
          <p:cNvSpPr/>
          <p:nvPr/>
        </p:nvSpPr>
        <p:spPr>
          <a:xfrm>
            <a:off x="3532767" y="2593849"/>
            <a:ext cx="327582" cy="2817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C58F376-C241-BC2E-88AA-E9E8570D156A}"/>
              </a:ext>
            </a:extLst>
          </p:cNvPr>
          <p:cNvSpPr/>
          <p:nvPr/>
        </p:nvSpPr>
        <p:spPr>
          <a:xfrm>
            <a:off x="9415086" y="2734739"/>
            <a:ext cx="327582" cy="2817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60593" y="1033188"/>
            <a:ext cx="10221689" cy="1096270"/>
            <a:chOff x="0" y="0"/>
            <a:chExt cx="20555435" cy="190118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0555435" cy="1901188"/>
              <a:chOff x="0" y="0"/>
              <a:chExt cx="4060333" cy="375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060333" cy="375543"/>
              </a:xfrm>
              <a:custGeom>
                <a:avLst/>
                <a:gdLst/>
                <a:ahLst/>
                <a:cxnLst/>
                <a:rect l="l" t="t" r="r" b="b"/>
                <a:pathLst>
                  <a:path w="4060333" h="375543">
                    <a:moveTo>
                      <a:pt x="25611" y="0"/>
                    </a:moveTo>
                    <a:lnTo>
                      <a:pt x="4034722" y="0"/>
                    </a:lnTo>
                    <a:cubicBezTo>
                      <a:pt x="4041514" y="0"/>
                      <a:pt x="4048028" y="2698"/>
                      <a:pt x="4052831" y="7501"/>
                    </a:cubicBezTo>
                    <a:cubicBezTo>
                      <a:pt x="4057634" y="12304"/>
                      <a:pt x="4060333" y="18819"/>
                      <a:pt x="4060333" y="25611"/>
                    </a:cubicBezTo>
                    <a:lnTo>
                      <a:pt x="4060333" y="349932"/>
                    </a:lnTo>
                    <a:cubicBezTo>
                      <a:pt x="4060333" y="356724"/>
                      <a:pt x="4057634" y="363239"/>
                      <a:pt x="4052831" y="368042"/>
                    </a:cubicBezTo>
                    <a:cubicBezTo>
                      <a:pt x="4048028" y="372845"/>
                      <a:pt x="4041514" y="375543"/>
                      <a:pt x="4034722" y="375543"/>
                    </a:cubicBezTo>
                    <a:lnTo>
                      <a:pt x="25611" y="375543"/>
                    </a:lnTo>
                    <a:cubicBezTo>
                      <a:pt x="18819" y="375543"/>
                      <a:pt x="12304" y="372845"/>
                      <a:pt x="7501" y="368042"/>
                    </a:cubicBezTo>
                    <a:cubicBezTo>
                      <a:pt x="2698" y="363239"/>
                      <a:pt x="0" y="356724"/>
                      <a:pt x="0" y="349932"/>
                    </a:cubicBezTo>
                    <a:lnTo>
                      <a:pt x="0" y="25611"/>
                    </a:lnTo>
                    <a:cubicBezTo>
                      <a:pt x="0" y="18819"/>
                      <a:pt x="2698" y="12304"/>
                      <a:pt x="7501" y="7501"/>
                    </a:cubicBezTo>
                    <a:cubicBezTo>
                      <a:pt x="12304" y="2698"/>
                      <a:pt x="18819" y="0"/>
                      <a:pt x="25611" y="0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4060333" cy="42316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773"/>
                  </a:lnSpc>
                </a:pPr>
                <a:endParaRPr sz="8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44816" y="228254"/>
              <a:ext cx="19541725" cy="1236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WAITING TIME OF INJECTOR IS THE SUM OF WAITING TIMES OF QUEUES ENCOUNTERED IN ITS FLOW</a:t>
              </a:r>
            </a:p>
            <a:p>
              <a:pPr marL="385760" lvl="1" indent="-192880" algn="l">
                <a:lnSpc>
                  <a:spcPts val="2501"/>
                </a:lnSpc>
                <a:buFont typeface="Arial"/>
                <a:buChar char="•"/>
              </a:pPr>
              <a:r>
                <a:rPr lang="en-US" sz="1786">
                  <a:solidFill>
                    <a:srgbClr val="000000"/>
                  </a:solidFill>
                  <a:latin typeface="Alatsi"/>
                </a:rPr>
                <a:t>Maintain a map between the injector and the primitives encountered in its flow.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69116A7-33B9-7EA7-0223-4447A48AA8EB}"/>
              </a:ext>
            </a:extLst>
          </p:cNvPr>
          <p:cNvSpPr txBox="1"/>
          <p:nvPr/>
        </p:nvSpPr>
        <p:spPr>
          <a:xfrm>
            <a:off x="308456" y="228600"/>
            <a:ext cx="1092596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Waiting Time Calculation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69D7C-40AD-BAFA-9A29-367841D7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9" y="2908687"/>
            <a:ext cx="2798307" cy="2304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D7BA9-489F-0C7A-D2A8-B794696B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374" y="2424055"/>
            <a:ext cx="4663844" cy="2536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C5A80-02F3-C359-E04B-D26A38C346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31"/>
          <a:stretch/>
        </p:blipFill>
        <p:spPr>
          <a:xfrm>
            <a:off x="9104578" y="3269344"/>
            <a:ext cx="2410161" cy="6506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97167AD-DF19-5C0B-AF82-897DBAB7C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964" y="4317303"/>
            <a:ext cx="3248478" cy="1133633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321F0CFB-697C-C38B-2675-54A78C4EB02E}"/>
              </a:ext>
            </a:extLst>
          </p:cNvPr>
          <p:cNvSpPr/>
          <p:nvPr/>
        </p:nvSpPr>
        <p:spPr>
          <a:xfrm>
            <a:off x="3518792" y="3779151"/>
            <a:ext cx="327582" cy="2817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C28AC94-017F-514C-B51D-2A4CDB2767F8}"/>
              </a:ext>
            </a:extLst>
          </p:cNvPr>
          <p:cNvSpPr/>
          <p:nvPr/>
        </p:nvSpPr>
        <p:spPr>
          <a:xfrm>
            <a:off x="8504300" y="3977782"/>
            <a:ext cx="327582" cy="28178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7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6C749482-0EDB-D20C-A9EC-3FAC09D56494}"/>
              </a:ext>
            </a:extLst>
          </p:cNvPr>
          <p:cNvGrpSpPr/>
          <p:nvPr/>
        </p:nvGrpSpPr>
        <p:grpSpPr>
          <a:xfrm>
            <a:off x="5769864" y="1871404"/>
            <a:ext cx="5613897" cy="2801180"/>
            <a:chOff x="1530350" y="2474908"/>
            <a:chExt cx="4458451" cy="1709278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F64FDEAE-F0FC-44A6-B35C-75C91095B7C6}"/>
                </a:ext>
              </a:extLst>
            </p:cNvPr>
            <p:cNvCxnSpPr/>
            <p:nvPr/>
          </p:nvCxnSpPr>
          <p:spPr>
            <a:xfrm>
              <a:off x="2795841" y="369264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30574BB-A0A8-E2C8-4BE7-C08693DDFED9}"/>
                </a:ext>
              </a:extLst>
            </p:cNvPr>
            <p:cNvCxnSpPr/>
            <p:nvPr/>
          </p:nvCxnSpPr>
          <p:spPr>
            <a:xfrm>
              <a:off x="2552253" y="3058446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5E87954-1AA0-7D78-15BB-0B6BD2AD54DF}"/>
                </a:ext>
              </a:extLst>
            </p:cNvPr>
            <p:cNvCxnSpPr/>
            <p:nvPr/>
          </p:nvCxnSpPr>
          <p:spPr>
            <a:xfrm>
              <a:off x="2561639" y="367413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D8906FD-FB9A-74B0-21F9-852AFFCF2D91}"/>
                </a:ext>
              </a:extLst>
            </p:cNvPr>
            <p:cNvCxnSpPr/>
            <p:nvPr/>
          </p:nvCxnSpPr>
          <p:spPr>
            <a:xfrm flipH="1">
              <a:off x="2938390" y="2802485"/>
              <a:ext cx="18510" cy="138170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E692E1-4854-4690-0AA4-7A5FD1B5327C}"/>
                </a:ext>
              </a:extLst>
            </p:cNvPr>
            <p:cNvSpPr/>
            <p:nvPr/>
          </p:nvSpPr>
          <p:spPr>
            <a:xfrm>
              <a:off x="2256423" y="2957941"/>
              <a:ext cx="255999" cy="18716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7" name="Rounded Rectangle 1041">
              <a:extLst>
                <a:ext uri="{FF2B5EF4-FFF2-40B4-BE49-F238E27FC236}">
                  <a16:creationId xmlns:a16="http://schemas.microsoft.com/office/drawing/2014/main" id="{100DF65B-1C35-5882-4B8C-5081776B2B5E}"/>
                </a:ext>
              </a:extLst>
            </p:cNvPr>
            <p:cNvSpPr/>
            <p:nvPr/>
          </p:nvSpPr>
          <p:spPr>
            <a:xfrm>
              <a:off x="1534530" y="2926321"/>
              <a:ext cx="343703" cy="24651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8" name="Rounded Rectangle 64">
              <a:extLst>
                <a:ext uri="{FF2B5EF4-FFF2-40B4-BE49-F238E27FC236}">
                  <a16:creationId xmlns:a16="http://schemas.microsoft.com/office/drawing/2014/main" id="{9A69059B-605F-6232-D4ED-4E1DA6D021E9}"/>
                </a:ext>
              </a:extLst>
            </p:cNvPr>
            <p:cNvSpPr/>
            <p:nvPr/>
          </p:nvSpPr>
          <p:spPr>
            <a:xfrm>
              <a:off x="1530350" y="3493336"/>
              <a:ext cx="356202" cy="250346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F2</a:t>
              </a:r>
              <a:endParaRPr lang="en-IN" sz="80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C99873-834A-B6DE-5465-67D6DFF7E0D2}"/>
                </a:ext>
              </a:extLst>
            </p:cNvPr>
            <p:cNvSpPr/>
            <p:nvPr/>
          </p:nvSpPr>
          <p:spPr>
            <a:xfrm>
              <a:off x="2097291" y="277540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1D17BFD-A35F-5D7F-25E6-FCC505BCCA6F}"/>
                </a:ext>
              </a:extLst>
            </p:cNvPr>
            <p:cNvSpPr/>
            <p:nvPr/>
          </p:nvSpPr>
          <p:spPr>
            <a:xfrm>
              <a:off x="2050404" y="359583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53F540D-536E-B3B8-FA73-536752634733}"/>
                </a:ext>
              </a:extLst>
            </p:cNvPr>
            <p:cNvSpPr/>
            <p:nvPr/>
          </p:nvSpPr>
          <p:spPr>
            <a:xfrm>
              <a:off x="2707686" y="3644861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D3D866-3CA5-6C5C-5178-49C4116521CC}"/>
                </a:ext>
              </a:extLst>
            </p:cNvPr>
            <p:cNvSpPr/>
            <p:nvPr/>
          </p:nvSpPr>
          <p:spPr>
            <a:xfrm>
              <a:off x="2704728" y="3023648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03BD40A-4CF5-5EA8-570E-C0D4D054A0B2}"/>
                </a:ext>
              </a:extLst>
            </p:cNvPr>
            <p:cNvCxnSpPr>
              <a:cxnSpLocks/>
            </p:cNvCxnSpPr>
            <p:nvPr/>
          </p:nvCxnSpPr>
          <p:spPr>
            <a:xfrm>
              <a:off x="2137832" y="3642269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AC2D574-7313-837A-9BAD-0F3DC868FCE7}"/>
                </a:ext>
              </a:extLst>
            </p:cNvPr>
            <p:cNvSpPr/>
            <p:nvPr/>
          </p:nvSpPr>
          <p:spPr>
            <a:xfrm>
              <a:off x="2048126" y="3002697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F8B4D9-D776-0217-759F-52A46C87064C}"/>
                </a:ext>
              </a:extLst>
            </p:cNvPr>
            <p:cNvSpPr/>
            <p:nvPr/>
          </p:nvSpPr>
          <p:spPr>
            <a:xfrm>
              <a:off x="2289423" y="3565810"/>
              <a:ext cx="260020" cy="19641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3473174-1B02-67F4-4E2E-2E4C028F8C66}"/>
                </a:ext>
              </a:extLst>
            </p:cNvPr>
            <p:cNvCxnSpPr>
              <a:cxnSpLocks/>
            </p:cNvCxnSpPr>
            <p:nvPr/>
          </p:nvCxnSpPr>
          <p:spPr>
            <a:xfrm>
              <a:off x="1890845" y="3624299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0FF41E3-25BF-3FF1-3D3A-74D4FF7F8DE6}"/>
                </a:ext>
              </a:extLst>
            </p:cNvPr>
            <p:cNvCxnSpPr>
              <a:cxnSpLocks/>
            </p:cNvCxnSpPr>
            <p:nvPr/>
          </p:nvCxnSpPr>
          <p:spPr>
            <a:xfrm>
              <a:off x="2801606" y="3070521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C623FBF-BDAE-84B7-3CFC-98009C48079C}"/>
                </a:ext>
              </a:extLst>
            </p:cNvPr>
            <p:cNvCxnSpPr>
              <a:cxnSpLocks/>
            </p:cNvCxnSpPr>
            <p:nvPr/>
          </p:nvCxnSpPr>
          <p:spPr>
            <a:xfrm>
              <a:off x="1890844" y="3050485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61C11A-4E7A-C888-236F-BA535A5767F7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20" y="307255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6708B5-717B-453A-ED43-AF772C94057B}"/>
                </a:ext>
              </a:extLst>
            </p:cNvPr>
            <p:cNvSpPr/>
            <p:nvPr/>
          </p:nvSpPr>
          <p:spPr>
            <a:xfrm>
              <a:off x="2115800" y="3376983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F9D68B-1CF1-3009-9BF6-0CF5FEE17FFA}"/>
                </a:ext>
              </a:extLst>
            </p:cNvPr>
            <p:cNvSpPr/>
            <p:nvPr/>
          </p:nvSpPr>
          <p:spPr>
            <a:xfrm>
              <a:off x="1812176" y="2801596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65C631F-ECC6-A193-6CE0-0B28F20AE9C8}"/>
                </a:ext>
              </a:extLst>
            </p:cNvPr>
            <p:cNvSpPr/>
            <p:nvPr/>
          </p:nvSpPr>
          <p:spPr>
            <a:xfrm>
              <a:off x="1809192" y="3702980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46C006-5DCA-4A6A-8BBB-C19FD7B9E4EB}"/>
                </a:ext>
              </a:extLst>
            </p:cNvPr>
            <p:cNvSpPr/>
            <p:nvPr/>
          </p:nvSpPr>
          <p:spPr>
            <a:xfrm>
              <a:off x="2395548" y="2790158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34270E8-3CA7-B10F-84E8-30215915997D}"/>
                </a:ext>
              </a:extLst>
            </p:cNvPr>
            <p:cNvSpPr/>
            <p:nvPr/>
          </p:nvSpPr>
          <p:spPr>
            <a:xfrm>
              <a:off x="2448420" y="3758947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N4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419ADF6-7818-48AE-02B2-7B83E50BB8F3}"/>
                </a:ext>
              </a:extLst>
            </p:cNvPr>
            <p:cNvSpPr/>
            <p:nvPr/>
          </p:nvSpPr>
          <p:spPr>
            <a:xfrm>
              <a:off x="2736379" y="2474908"/>
              <a:ext cx="495399" cy="256848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rgbClr val="00B050"/>
                  </a:solidFill>
                  <a:ea typeface="Calibri"/>
                  <a:cs typeface="Calibri"/>
                </a:rPr>
                <a:t>RR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EFF60B5-A28B-4594-C45A-8B8F98699AB1}"/>
                </a:ext>
              </a:extLst>
            </p:cNvPr>
            <p:cNvSpPr/>
            <p:nvPr/>
          </p:nvSpPr>
          <p:spPr>
            <a:xfrm>
              <a:off x="3194698" y="329281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3D5C28F-FB37-D0BB-F8FA-45BB9873A583}"/>
                </a:ext>
              </a:extLst>
            </p:cNvPr>
            <p:cNvCxnSpPr>
              <a:cxnSpLocks/>
            </p:cNvCxnSpPr>
            <p:nvPr/>
          </p:nvCxnSpPr>
          <p:spPr>
            <a:xfrm>
              <a:off x="3296424" y="3337211"/>
              <a:ext cx="332214" cy="6774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00A54E8-5280-C357-707D-74519D05EBF7}"/>
                </a:ext>
              </a:extLst>
            </p:cNvPr>
            <p:cNvSpPr/>
            <p:nvPr/>
          </p:nvSpPr>
          <p:spPr>
            <a:xfrm>
              <a:off x="3517166" y="2974162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chemeClr val="tx1"/>
                  </a:solidFill>
                  <a:ea typeface="Calibri"/>
                  <a:cs typeface="Calibri"/>
                </a:rPr>
                <a:t>SR1</a:t>
              </a:r>
            </a:p>
          </p:txBody>
        </p:sp>
        <p:sp>
          <p:nvSpPr>
            <p:cNvPr id="31" name="Rectangle 99">
              <a:extLst>
                <a:ext uri="{FF2B5EF4-FFF2-40B4-BE49-F238E27FC236}">
                  <a16:creationId xmlns:a16="http://schemas.microsoft.com/office/drawing/2014/main" id="{E794A8BC-3E1E-58B6-C620-52CB7BF5E7E3}"/>
                </a:ext>
              </a:extLst>
            </p:cNvPr>
            <p:cNvSpPr/>
            <p:nvPr/>
          </p:nvSpPr>
          <p:spPr>
            <a:xfrm>
              <a:off x="3724351" y="3228050"/>
              <a:ext cx="145126" cy="194227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800" b="1" dirty="0">
                <a:ea typeface="Calibri"/>
                <a:cs typeface="Calibri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ADE7573-FFDD-389B-1ED0-9C9DFF6A0736}"/>
                </a:ext>
              </a:extLst>
            </p:cNvPr>
            <p:cNvSpPr/>
            <p:nvPr/>
          </p:nvSpPr>
          <p:spPr>
            <a:xfrm>
              <a:off x="4183687" y="329281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1E57237-822E-79D1-44CE-F5BFAFCF2293}"/>
                </a:ext>
              </a:extLst>
            </p:cNvPr>
            <p:cNvCxnSpPr>
              <a:cxnSpLocks/>
            </p:cNvCxnSpPr>
            <p:nvPr/>
          </p:nvCxnSpPr>
          <p:spPr>
            <a:xfrm>
              <a:off x="3896909" y="3337211"/>
              <a:ext cx="259346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03FB0EE-9402-0B24-C921-1B23EA8D8E19}"/>
                </a:ext>
              </a:extLst>
            </p:cNvPr>
            <p:cNvCxnSpPr>
              <a:cxnSpLocks/>
            </p:cNvCxnSpPr>
            <p:nvPr/>
          </p:nvCxnSpPr>
          <p:spPr>
            <a:xfrm>
              <a:off x="4311408" y="3324255"/>
              <a:ext cx="365441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98642B1-4626-CDB5-710A-85750D1A6016}"/>
                </a:ext>
              </a:extLst>
            </p:cNvPr>
            <p:cNvSpPr/>
            <p:nvPr/>
          </p:nvSpPr>
          <p:spPr>
            <a:xfrm>
              <a:off x="4713341" y="3215270"/>
              <a:ext cx="152894" cy="18836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191CFD7-11E6-8BAB-11DB-FD1911BC76A3}"/>
                </a:ext>
              </a:extLst>
            </p:cNvPr>
            <p:cNvSpPr/>
            <p:nvPr/>
          </p:nvSpPr>
          <p:spPr>
            <a:xfrm>
              <a:off x="5066288" y="3309092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8503692-2772-7899-BAE9-7125F1F66B19}"/>
                </a:ext>
              </a:extLst>
            </p:cNvPr>
            <p:cNvCxnSpPr>
              <a:cxnSpLocks/>
            </p:cNvCxnSpPr>
            <p:nvPr/>
          </p:nvCxnSpPr>
          <p:spPr>
            <a:xfrm>
              <a:off x="5196767" y="3339657"/>
              <a:ext cx="178832" cy="1663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AC0ACC5-C73D-792F-32AD-962507B027E3}"/>
                </a:ext>
              </a:extLst>
            </p:cNvPr>
            <p:cNvCxnSpPr>
              <a:cxnSpLocks/>
            </p:cNvCxnSpPr>
            <p:nvPr/>
          </p:nvCxnSpPr>
          <p:spPr>
            <a:xfrm>
              <a:off x="4871753" y="3317479"/>
              <a:ext cx="178832" cy="1663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E6945E-79E2-C6C7-E452-52CD733E5F20}"/>
                </a:ext>
              </a:extLst>
            </p:cNvPr>
            <p:cNvSpPr/>
            <p:nvPr/>
          </p:nvSpPr>
          <p:spPr>
            <a:xfrm>
              <a:off x="3961536" y="3077182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N6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B58A9BA-F69F-C68A-18B9-BFDC58B16EA1}"/>
                </a:ext>
              </a:extLst>
            </p:cNvPr>
            <p:cNvSpPr/>
            <p:nvPr/>
          </p:nvSpPr>
          <p:spPr>
            <a:xfrm>
              <a:off x="4827848" y="310070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N7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6A1AFF-6EBC-67A7-73D4-F05C4374763E}"/>
                </a:ext>
              </a:extLst>
            </p:cNvPr>
            <p:cNvSpPr/>
            <p:nvPr/>
          </p:nvSpPr>
          <p:spPr>
            <a:xfrm>
              <a:off x="5429305" y="3243602"/>
              <a:ext cx="559496" cy="19210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chemeClr val="tx1"/>
                  </a:solidFill>
                  <a:ea typeface="Calibri"/>
                  <a:cs typeface="Calibri"/>
                </a:rPr>
                <a:t>Sink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74F07B7-61B6-1206-F70A-AD28028F8D55}"/>
                </a:ext>
              </a:extLst>
            </p:cNvPr>
            <p:cNvSpPr/>
            <p:nvPr/>
          </p:nvSpPr>
          <p:spPr>
            <a:xfrm>
              <a:off x="4506792" y="3458596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C4A453F-8F4D-D61C-9FAA-F7B0FA028B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1370" y="3330586"/>
              <a:ext cx="186782" cy="500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332DFB0-927F-3D38-3980-89C1401905E3}"/>
                </a:ext>
              </a:extLst>
            </p:cNvPr>
            <p:cNvSpPr/>
            <p:nvPr/>
          </p:nvSpPr>
          <p:spPr>
            <a:xfrm>
              <a:off x="2943643" y="311921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N5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7509038-6797-0C50-C1FE-5019C67EB7C3}"/>
              </a:ext>
            </a:extLst>
          </p:cNvPr>
          <p:cNvSpPr txBox="1"/>
          <p:nvPr/>
        </p:nvSpPr>
        <p:spPr>
          <a:xfrm>
            <a:off x="274320" y="338328"/>
            <a:ext cx="11521440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Demo 1: </a:t>
            </a:r>
            <a:r>
              <a:rPr lang="en-US" sz="3200" dirty="0" err="1">
                <a:solidFill>
                  <a:srgbClr val="FFC000"/>
                </a:solidFill>
              </a:rPr>
              <a:t>RoundRobin</a:t>
            </a:r>
            <a:r>
              <a:rPr lang="en-US" sz="3200" dirty="0">
                <a:solidFill>
                  <a:srgbClr val="FFC000"/>
                </a:solidFill>
              </a:rPr>
              <a:t> Arbitration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CB4BD2A-771C-74C5-88A5-50C241FBC01D}"/>
                  </a:ext>
                </a:extLst>
              </p:cNvPr>
              <p:cNvSpPr txBox="1"/>
              <p:nvPr/>
            </p:nvSpPr>
            <p:spPr>
              <a:xfrm>
                <a:off x="804380" y="1871404"/>
                <a:ext cx="4041648" cy="324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this Figure there are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Injector(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) </a:t>
                </a:r>
                <a:r>
                  <a:rPr lang="en-US" sz="1400" dirty="0"/>
                  <a:t>having </a:t>
                </a:r>
                <a:r>
                  <a:rPr lang="en-US" sz="1400" dirty="0" err="1"/>
                  <a:t>injection_rate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/>
                  <a:t>) and </a:t>
                </a:r>
                <a:r>
                  <a:rPr lang="en-US" sz="1400" dirty="0" err="1"/>
                  <a:t>coeff_injection_rate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400" dirty="0"/>
                  <a:t>).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Node(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 ) </a:t>
                </a:r>
                <a:r>
                  <a:rPr lang="en-US" sz="1400" dirty="0"/>
                  <a:t>connecting two primitives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Queue(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) </a:t>
                </a:r>
                <a:r>
                  <a:rPr lang="en-US" sz="1400" dirty="0"/>
                  <a:t>having </a:t>
                </a:r>
                <a:r>
                  <a:rPr lang="en-US" sz="1400" dirty="0" err="1"/>
                  <a:t>Buffer_size</a:t>
                </a:r>
                <a:endParaRPr lang="en-US" sz="14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Server(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b="1" dirty="0" smtClean="0"/>
                          <m:t>SR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) </a:t>
                </a:r>
                <a:r>
                  <a:rPr lang="en-US" sz="1400" dirty="0"/>
                  <a:t>having </a:t>
                </a:r>
                <a:r>
                  <a:rPr lang="en-US" sz="1400" dirty="0" err="1"/>
                  <a:t>service_time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and </a:t>
                </a:r>
                <a:r>
                  <a:rPr lang="en-US" sz="1400" dirty="0" err="1"/>
                  <a:t>coeff_service_time</a:t>
                </a:r>
                <a:r>
                  <a:rPr lang="en-US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Server updates the service time and </a:t>
                </a:r>
                <a:r>
                  <a:rPr lang="en-US" sz="1400" dirty="0" err="1"/>
                  <a:t>coeff_service_time</a:t>
                </a:r>
                <a:r>
                  <a:rPr lang="en-US" sz="1400" dirty="0"/>
                  <a:t> of the </a:t>
                </a:r>
                <a:r>
                  <a:rPr lang="en-US" sz="1400" b="1" dirty="0" err="1"/>
                  <a:t>RoundRobin</a:t>
                </a:r>
                <a:r>
                  <a:rPr lang="en-US" sz="1400" b="1" dirty="0"/>
                  <a:t> arbiter(RR arbiter). 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CB4BD2A-771C-74C5-88A5-50C241FBC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80" y="1871404"/>
                <a:ext cx="4041648" cy="3246786"/>
              </a:xfrm>
              <a:prstGeom prst="rect">
                <a:avLst/>
              </a:prstGeom>
              <a:blipFill>
                <a:blip r:embed="rId2"/>
                <a:stretch>
                  <a:fillRect l="-1056" t="-938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1F1687E6-8C63-441C-4D03-BDABC8D8DE39}"/>
              </a:ext>
            </a:extLst>
          </p:cNvPr>
          <p:cNvSpPr txBox="1"/>
          <p:nvPr/>
        </p:nvSpPr>
        <p:spPr>
          <a:xfrm>
            <a:off x="5297862" y="5091514"/>
            <a:ext cx="479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RoundRobin</a:t>
            </a:r>
            <a:r>
              <a:rPr lang="en-US" dirty="0"/>
              <a:t> Arbitration</a:t>
            </a:r>
          </a:p>
        </p:txBody>
      </p:sp>
    </p:spTree>
    <p:extLst>
      <p:ext uri="{BB962C8B-B14F-4D97-AF65-F5344CB8AC3E}">
        <p14:creationId xmlns:p14="http://schemas.microsoft.com/office/powerpoint/2010/main" val="4025948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A37EBD04-9CC3-FB43-F684-9E63D57A9EFA}"/>
              </a:ext>
            </a:extLst>
          </p:cNvPr>
          <p:cNvGrpSpPr/>
          <p:nvPr/>
        </p:nvGrpSpPr>
        <p:grpSpPr>
          <a:xfrm>
            <a:off x="6431534" y="1527048"/>
            <a:ext cx="5364226" cy="3401568"/>
            <a:chOff x="1530350" y="2474908"/>
            <a:chExt cx="4458451" cy="170927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DFA31A6-3E0F-94CC-F6CE-F050B2697739}"/>
                </a:ext>
              </a:extLst>
            </p:cNvPr>
            <p:cNvCxnSpPr/>
            <p:nvPr/>
          </p:nvCxnSpPr>
          <p:spPr>
            <a:xfrm>
              <a:off x="2795841" y="369264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3F91E79-D6A0-0641-03FA-5330CE6FA679}"/>
                </a:ext>
              </a:extLst>
            </p:cNvPr>
            <p:cNvCxnSpPr/>
            <p:nvPr/>
          </p:nvCxnSpPr>
          <p:spPr>
            <a:xfrm>
              <a:off x="2552253" y="3058446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BC864F0-67E9-F8CE-0EA9-9BF57D45EB2E}"/>
                </a:ext>
              </a:extLst>
            </p:cNvPr>
            <p:cNvCxnSpPr/>
            <p:nvPr/>
          </p:nvCxnSpPr>
          <p:spPr>
            <a:xfrm>
              <a:off x="2561639" y="367413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08C892-8EAE-0152-9E89-4DE7CF28956A}"/>
                </a:ext>
              </a:extLst>
            </p:cNvPr>
            <p:cNvCxnSpPr/>
            <p:nvPr/>
          </p:nvCxnSpPr>
          <p:spPr>
            <a:xfrm flipH="1">
              <a:off x="2938390" y="2802485"/>
              <a:ext cx="18510" cy="138170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A02D3D-7C7D-6C8F-1A2B-347DCAAC60EB}"/>
                </a:ext>
              </a:extLst>
            </p:cNvPr>
            <p:cNvSpPr/>
            <p:nvPr/>
          </p:nvSpPr>
          <p:spPr>
            <a:xfrm>
              <a:off x="2256423" y="2957941"/>
              <a:ext cx="255999" cy="18716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8" name="Rounded Rectangle 1041">
              <a:extLst>
                <a:ext uri="{FF2B5EF4-FFF2-40B4-BE49-F238E27FC236}">
                  <a16:creationId xmlns:a16="http://schemas.microsoft.com/office/drawing/2014/main" id="{16110511-6127-44D9-21E4-6F0ACD11E40E}"/>
                </a:ext>
              </a:extLst>
            </p:cNvPr>
            <p:cNvSpPr/>
            <p:nvPr/>
          </p:nvSpPr>
          <p:spPr>
            <a:xfrm>
              <a:off x="1534530" y="2926321"/>
              <a:ext cx="343703" cy="24651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9" name="Rounded Rectangle 64">
              <a:extLst>
                <a:ext uri="{FF2B5EF4-FFF2-40B4-BE49-F238E27FC236}">
                  <a16:creationId xmlns:a16="http://schemas.microsoft.com/office/drawing/2014/main" id="{0C30A4D4-1FFF-D65F-FBD7-E29E20DA7077}"/>
                </a:ext>
              </a:extLst>
            </p:cNvPr>
            <p:cNvSpPr/>
            <p:nvPr/>
          </p:nvSpPr>
          <p:spPr>
            <a:xfrm>
              <a:off x="1530350" y="3493336"/>
              <a:ext cx="356202" cy="250346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F2</a:t>
              </a:r>
              <a:endParaRPr lang="en-IN" sz="80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193C89-AF9C-2E5D-1AE3-CB130196C10E}"/>
                </a:ext>
              </a:extLst>
            </p:cNvPr>
            <p:cNvSpPr/>
            <p:nvPr/>
          </p:nvSpPr>
          <p:spPr>
            <a:xfrm>
              <a:off x="2097291" y="277540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F929345-7370-2F34-0218-864E0DD639BE}"/>
                </a:ext>
              </a:extLst>
            </p:cNvPr>
            <p:cNvSpPr/>
            <p:nvPr/>
          </p:nvSpPr>
          <p:spPr>
            <a:xfrm>
              <a:off x="2050404" y="359583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5CB8355-E5DF-75ED-9D0B-499F9B01D9ED}"/>
                </a:ext>
              </a:extLst>
            </p:cNvPr>
            <p:cNvSpPr/>
            <p:nvPr/>
          </p:nvSpPr>
          <p:spPr>
            <a:xfrm>
              <a:off x="2707686" y="3644861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DE9E81E-2ACF-7FD4-8EE9-824978DCFE48}"/>
                </a:ext>
              </a:extLst>
            </p:cNvPr>
            <p:cNvSpPr/>
            <p:nvPr/>
          </p:nvSpPr>
          <p:spPr>
            <a:xfrm>
              <a:off x="2704728" y="3023648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819BC7-0A4A-0CF9-114B-EF87BCEBA68F}"/>
                </a:ext>
              </a:extLst>
            </p:cNvPr>
            <p:cNvCxnSpPr>
              <a:cxnSpLocks/>
            </p:cNvCxnSpPr>
            <p:nvPr/>
          </p:nvCxnSpPr>
          <p:spPr>
            <a:xfrm>
              <a:off x="2137832" y="3642269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C0A8F8F-E6D8-B021-FAC0-4FC2EF0F4A25}"/>
                </a:ext>
              </a:extLst>
            </p:cNvPr>
            <p:cNvSpPr/>
            <p:nvPr/>
          </p:nvSpPr>
          <p:spPr>
            <a:xfrm>
              <a:off x="2048126" y="3002697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0C5245-B362-6196-5913-24BA21A5BA0A}"/>
                </a:ext>
              </a:extLst>
            </p:cNvPr>
            <p:cNvSpPr/>
            <p:nvPr/>
          </p:nvSpPr>
          <p:spPr>
            <a:xfrm>
              <a:off x="2289423" y="3565810"/>
              <a:ext cx="260020" cy="19641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8EB184A-7CAC-C5BA-A04A-A80A22012F7B}"/>
                </a:ext>
              </a:extLst>
            </p:cNvPr>
            <p:cNvCxnSpPr>
              <a:cxnSpLocks/>
            </p:cNvCxnSpPr>
            <p:nvPr/>
          </p:nvCxnSpPr>
          <p:spPr>
            <a:xfrm>
              <a:off x="1890845" y="3624299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05702E6-A375-1EAF-D0D0-361A992787E9}"/>
                </a:ext>
              </a:extLst>
            </p:cNvPr>
            <p:cNvCxnSpPr>
              <a:cxnSpLocks/>
            </p:cNvCxnSpPr>
            <p:nvPr/>
          </p:nvCxnSpPr>
          <p:spPr>
            <a:xfrm>
              <a:off x="2801606" y="3070521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71F0153-C368-DB90-BD31-E99C4A6DB714}"/>
                </a:ext>
              </a:extLst>
            </p:cNvPr>
            <p:cNvCxnSpPr>
              <a:cxnSpLocks/>
            </p:cNvCxnSpPr>
            <p:nvPr/>
          </p:nvCxnSpPr>
          <p:spPr>
            <a:xfrm>
              <a:off x="1890844" y="3050485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9BFEDF5-B366-4982-D823-96D25A489E4F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20" y="307255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54021F3-44A5-E656-2441-C047DF47045E}"/>
                </a:ext>
              </a:extLst>
            </p:cNvPr>
            <p:cNvSpPr/>
            <p:nvPr/>
          </p:nvSpPr>
          <p:spPr>
            <a:xfrm>
              <a:off x="2115800" y="3376983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496FA6-47B7-FA2E-EB63-00EE33A32B90}"/>
                </a:ext>
              </a:extLst>
            </p:cNvPr>
            <p:cNvSpPr/>
            <p:nvPr/>
          </p:nvSpPr>
          <p:spPr>
            <a:xfrm>
              <a:off x="1812176" y="2801596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343FB5-0405-DBAB-7481-0A49524CC2FA}"/>
                </a:ext>
              </a:extLst>
            </p:cNvPr>
            <p:cNvSpPr/>
            <p:nvPr/>
          </p:nvSpPr>
          <p:spPr>
            <a:xfrm>
              <a:off x="1809192" y="3702980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EDBA8A-8848-7718-8EC4-612E7BF71B94}"/>
                </a:ext>
              </a:extLst>
            </p:cNvPr>
            <p:cNvSpPr/>
            <p:nvPr/>
          </p:nvSpPr>
          <p:spPr>
            <a:xfrm>
              <a:off x="2395548" y="2790158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8514036-2408-82AB-84BE-73EDB5458EE0}"/>
                </a:ext>
              </a:extLst>
            </p:cNvPr>
            <p:cNvSpPr/>
            <p:nvPr/>
          </p:nvSpPr>
          <p:spPr>
            <a:xfrm>
              <a:off x="2448420" y="3758947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N4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AEEC40D-5C9C-4AB1-E50A-88FA8A0F8ED2}"/>
                </a:ext>
              </a:extLst>
            </p:cNvPr>
            <p:cNvSpPr/>
            <p:nvPr/>
          </p:nvSpPr>
          <p:spPr>
            <a:xfrm>
              <a:off x="2736379" y="2474908"/>
              <a:ext cx="495399" cy="256848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rgbClr val="00B050"/>
                  </a:solidFill>
                  <a:ea typeface="Calibri"/>
                  <a:cs typeface="Calibri"/>
                </a:rPr>
                <a:t>PR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9FC005-9E16-8255-22E2-9CB77EB88098}"/>
                </a:ext>
              </a:extLst>
            </p:cNvPr>
            <p:cNvSpPr/>
            <p:nvPr/>
          </p:nvSpPr>
          <p:spPr>
            <a:xfrm>
              <a:off x="3194698" y="329281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1ABF0BE-76B2-B9CD-8720-3DF316F38503}"/>
                </a:ext>
              </a:extLst>
            </p:cNvPr>
            <p:cNvCxnSpPr>
              <a:cxnSpLocks/>
            </p:cNvCxnSpPr>
            <p:nvPr/>
          </p:nvCxnSpPr>
          <p:spPr>
            <a:xfrm>
              <a:off x="3296424" y="3337211"/>
              <a:ext cx="332214" cy="6774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189FC3-7ECC-7249-6638-29927D62604E}"/>
                </a:ext>
              </a:extLst>
            </p:cNvPr>
            <p:cNvSpPr/>
            <p:nvPr/>
          </p:nvSpPr>
          <p:spPr>
            <a:xfrm>
              <a:off x="3517166" y="2974162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chemeClr val="tx1"/>
                  </a:solidFill>
                  <a:ea typeface="Calibri"/>
                  <a:cs typeface="Calibri"/>
                </a:rPr>
                <a:t>SR</a:t>
              </a:r>
            </a:p>
          </p:txBody>
        </p:sp>
        <p:sp>
          <p:nvSpPr>
            <p:cNvPr id="30" name="Rectangle 99">
              <a:extLst>
                <a:ext uri="{FF2B5EF4-FFF2-40B4-BE49-F238E27FC236}">
                  <a16:creationId xmlns:a16="http://schemas.microsoft.com/office/drawing/2014/main" id="{D2FFBF63-568F-FB52-5959-597B4471D1BA}"/>
                </a:ext>
              </a:extLst>
            </p:cNvPr>
            <p:cNvSpPr/>
            <p:nvPr/>
          </p:nvSpPr>
          <p:spPr>
            <a:xfrm>
              <a:off x="3724351" y="3228050"/>
              <a:ext cx="145126" cy="194227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800" b="1" dirty="0">
                <a:ea typeface="Calibri"/>
                <a:cs typeface="Calibri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6B418B5-53DF-0F9D-D935-0FE1F5DB1056}"/>
                </a:ext>
              </a:extLst>
            </p:cNvPr>
            <p:cNvSpPr/>
            <p:nvPr/>
          </p:nvSpPr>
          <p:spPr>
            <a:xfrm>
              <a:off x="4183687" y="329281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3D79E96-C28F-1915-4C81-C75F44267A55}"/>
                </a:ext>
              </a:extLst>
            </p:cNvPr>
            <p:cNvCxnSpPr>
              <a:cxnSpLocks/>
            </p:cNvCxnSpPr>
            <p:nvPr/>
          </p:nvCxnSpPr>
          <p:spPr>
            <a:xfrm>
              <a:off x="3896909" y="3337211"/>
              <a:ext cx="259346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6F06F32-5D22-4C78-45C8-30C52C6E0663}"/>
                </a:ext>
              </a:extLst>
            </p:cNvPr>
            <p:cNvCxnSpPr>
              <a:cxnSpLocks/>
            </p:cNvCxnSpPr>
            <p:nvPr/>
          </p:nvCxnSpPr>
          <p:spPr>
            <a:xfrm>
              <a:off x="4311408" y="3324255"/>
              <a:ext cx="365441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85141D-E29D-F455-EAEF-1F7672C94B41}"/>
                </a:ext>
              </a:extLst>
            </p:cNvPr>
            <p:cNvSpPr/>
            <p:nvPr/>
          </p:nvSpPr>
          <p:spPr>
            <a:xfrm>
              <a:off x="4713341" y="3215270"/>
              <a:ext cx="152894" cy="18836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0C95D64-BCF0-CD51-35E1-7369DE8DB7D1}"/>
                </a:ext>
              </a:extLst>
            </p:cNvPr>
            <p:cNvSpPr/>
            <p:nvPr/>
          </p:nvSpPr>
          <p:spPr>
            <a:xfrm>
              <a:off x="5066288" y="3309092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24FD216-4867-E224-DC02-B58C30EC7470}"/>
                </a:ext>
              </a:extLst>
            </p:cNvPr>
            <p:cNvCxnSpPr>
              <a:cxnSpLocks/>
            </p:cNvCxnSpPr>
            <p:nvPr/>
          </p:nvCxnSpPr>
          <p:spPr>
            <a:xfrm>
              <a:off x="5196767" y="3339657"/>
              <a:ext cx="178832" cy="1663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CB8D9F9-9063-D8DE-6670-A5B42FC1CEC6}"/>
                </a:ext>
              </a:extLst>
            </p:cNvPr>
            <p:cNvCxnSpPr>
              <a:cxnSpLocks/>
            </p:cNvCxnSpPr>
            <p:nvPr/>
          </p:nvCxnSpPr>
          <p:spPr>
            <a:xfrm>
              <a:off x="4871753" y="3317479"/>
              <a:ext cx="178832" cy="1663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B1A2797-D235-8583-640C-D4844CD86754}"/>
                </a:ext>
              </a:extLst>
            </p:cNvPr>
            <p:cNvSpPr/>
            <p:nvPr/>
          </p:nvSpPr>
          <p:spPr>
            <a:xfrm>
              <a:off x="3961536" y="3077182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N6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A1741C-57AE-C04E-1B35-43C6B4EE23B5}"/>
                </a:ext>
              </a:extLst>
            </p:cNvPr>
            <p:cNvSpPr/>
            <p:nvPr/>
          </p:nvSpPr>
          <p:spPr>
            <a:xfrm>
              <a:off x="4827848" y="310070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N7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3ED32B8-58BA-E411-EBA0-16A04D11D760}"/>
                </a:ext>
              </a:extLst>
            </p:cNvPr>
            <p:cNvSpPr/>
            <p:nvPr/>
          </p:nvSpPr>
          <p:spPr>
            <a:xfrm>
              <a:off x="5429305" y="3243602"/>
              <a:ext cx="559496" cy="19210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chemeClr val="tx1"/>
                  </a:solidFill>
                  <a:ea typeface="Calibri"/>
                  <a:cs typeface="Calibri"/>
                </a:rPr>
                <a:t>Sink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5098E84-F6AD-CF50-C0AD-1F260950380C}"/>
                </a:ext>
              </a:extLst>
            </p:cNvPr>
            <p:cNvSpPr/>
            <p:nvPr/>
          </p:nvSpPr>
          <p:spPr>
            <a:xfrm>
              <a:off x="4506792" y="3458596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37E5CF0-F681-9A72-B276-C037EEEBAE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1370" y="3330586"/>
              <a:ext cx="186782" cy="500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99678A-4367-DB8A-144F-E7A35884FAE3}"/>
                </a:ext>
              </a:extLst>
            </p:cNvPr>
            <p:cNvSpPr/>
            <p:nvPr/>
          </p:nvSpPr>
          <p:spPr>
            <a:xfrm>
              <a:off x="2943643" y="311921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N5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8F61D6-48D9-5014-8D21-51B92E67411E}"/>
                  </a:ext>
                </a:extLst>
              </p:cNvPr>
              <p:cNvSpPr txBox="1"/>
              <p:nvPr/>
            </p:nvSpPr>
            <p:spPr>
              <a:xfrm>
                <a:off x="804380" y="1871404"/>
                <a:ext cx="4041648" cy="324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this Figure there are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Injector(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) </a:t>
                </a:r>
                <a:r>
                  <a:rPr lang="en-US" sz="1400" dirty="0"/>
                  <a:t>having </a:t>
                </a:r>
                <a:r>
                  <a:rPr lang="en-US" sz="1400" dirty="0" err="1"/>
                  <a:t>injection_rate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/>
                  <a:t>) and </a:t>
                </a:r>
                <a:r>
                  <a:rPr lang="en-US" sz="1400" dirty="0" err="1"/>
                  <a:t>coeff_injection_rate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1400" dirty="0"/>
                  <a:t>).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Node(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 ) </a:t>
                </a:r>
                <a:r>
                  <a:rPr lang="en-US" sz="1400" dirty="0"/>
                  <a:t>connecting two primitives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Queue(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) </a:t>
                </a:r>
                <a:r>
                  <a:rPr lang="en-US" sz="1400" dirty="0"/>
                  <a:t>having </a:t>
                </a:r>
                <a:r>
                  <a:rPr lang="en-US" sz="1400" dirty="0" err="1"/>
                  <a:t>Buffer_size</a:t>
                </a:r>
                <a:endParaRPr lang="en-US" sz="14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Server(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b="1" dirty="0" smtClean="0"/>
                          <m:t>SR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400" b="1" dirty="0"/>
                  <a:t>) </a:t>
                </a:r>
                <a:r>
                  <a:rPr lang="en-US" sz="1400" dirty="0"/>
                  <a:t>having </a:t>
                </a:r>
                <a:r>
                  <a:rPr lang="en-US" sz="1400" dirty="0" err="1"/>
                  <a:t>service_time</a:t>
                </a:r>
                <a:r>
                  <a:rPr lang="en-US" sz="1400" dirty="0"/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and </a:t>
                </a:r>
                <a:r>
                  <a:rPr lang="en-US" sz="1400" dirty="0" err="1"/>
                  <a:t>coeff_service_time</a:t>
                </a:r>
                <a:r>
                  <a:rPr lang="en-US" sz="1400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Server updates the service time and </a:t>
                </a:r>
                <a:r>
                  <a:rPr lang="en-US" sz="1400" dirty="0" err="1"/>
                  <a:t>coeff_service_time</a:t>
                </a:r>
                <a:r>
                  <a:rPr lang="en-US" sz="1400" dirty="0"/>
                  <a:t> of the </a:t>
                </a:r>
                <a:r>
                  <a:rPr lang="en-US" sz="1400" b="1" dirty="0"/>
                  <a:t>Priority arbiter(PR arbiter). 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C8F61D6-48D9-5014-8D21-51B92E674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80" y="1871404"/>
                <a:ext cx="4041648" cy="3246786"/>
              </a:xfrm>
              <a:prstGeom prst="rect">
                <a:avLst/>
              </a:prstGeom>
              <a:blipFill>
                <a:blip r:embed="rId2"/>
                <a:stretch>
                  <a:fillRect l="-1056" t="-938" b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05824E2B-2375-AA7A-648C-ACC16E34D6A3}"/>
              </a:ext>
            </a:extLst>
          </p:cNvPr>
          <p:cNvSpPr txBox="1"/>
          <p:nvPr/>
        </p:nvSpPr>
        <p:spPr>
          <a:xfrm>
            <a:off x="335280" y="165315"/>
            <a:ext cx="11521440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Demo 2: Priority Arbitration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F9A729-85BD-A4A6-B83F-6A83E764E6F4}"/>
              </a:ext>
            </a:extLst>
          </p:cNvPr>
          <p:cNvSpPr txBox="1"/>
          <p:nvPr/>
        </p:nvSpPr>
        <p:spPr>
          <a:xfrm>
            <a:off x="5297862" y="5091514"/>
            <a:ext cx="479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Priority Arbitration</a:t>
            </a:r>
          </a:p>
        </p:txBody>
      </p:sp>
    </p:spTree>
    <p:extLst>
      <p:ext uri="{BB962C8B-B14F-4D97-AF65-F5344CB8AC3E}">
        <p14:creationId xmlns:p14="http://schemas.microsoft.com/office/powerpoint/2010/main" val="2739774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7FDF315D-C383-E2EF-4C0A-92FE54144892}"/>
              </a:ext>
            </a:extLst>
          </p:cNvPr>
          <p:cNvGrpSpPr/>
          <p:nvPr/>
        </p:nvGrpSpPr>
        <p:grpSpPr>
          <a:xfrm>
            <a:off x="4575302" y="2546256"/>
            <a:ext cx="7146106" cy="2647535"/>
            <a:chOff x="1530350" y="2681272"/>
            <a:chExt cx="7146106" cy="1765486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58273A99-E23E-833B-099A-03405CE1A64C}"/>
                </a:ext>
              </a:extLst>
            </p:cNvPr>
            <p:cNvCxnSpPr/>
            <p:nvPr/>
          </p:nvCxnSpPr>
          <p:spPr>
            <a:xfrm>
              <a:off x="2795841" y="369264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686E31-83D9-323E-A23A-E35CDB8D7CBD}"/>
                </a:ext>
              </a:extLst>
            </p:cNvPr>
            <p:cNvCxnSpPr/>
            <p:nvPr/>
          </p:nvCxnSpPr>
          <p:spPr>
            <a:xfrm>
              <a:off x="2552253" y="3058446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032795B-C970-A24F-2183-B34BD37349BE}"/>
                </a:ext>
              </a:extLst>
            </p:cNvPr>
            <p:cNvCxnSpPr/>
            <p:nvPr/>
          </p:nvCxnSpPr>
          <p:spPr>
            <a:xfrm>
              <a:off x="2561639" y="367413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73D6D4B-7625-D493-42D7-4B789D585CD8}"/>
                </a:ext>
              </a:extLst>
            </p:cNvPr>
            <p:cNvCxnSpPr>
              <a:cxnSpLocks/>
            </p:cNvCxnSpPr>
            <p:nvPr/>
          </p:nvCxnSpPr>
          <p:spPr>
            <a:xfrm>
              <a:off x="5102973" y="4145511"/>
              <a:ext cx="353331" cy="11488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78A5DEE-BB66-6CA5-ADBB-0A7BB075B344}"/>
                </a:ext>
              </a:extLst>
            </p:cNvPr>
            <p:cNvCxnSpPr/>
            <p:nvPr/>
          </p:nvCxnSpPr>
          <p:spPr>
            <a:xfrm flipH="1">
              <a:off x="2956669" y="3010317"/>
              <a:ext cx="18510" cy="138170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E18061C-8705-E66E-7893-2881A253BFFB}"/>
                </a:ext>
              </a:extLst>
            </p:cNvPr>
            <p:cNvSpPr/>
            <p:nvPr/>
          </p:nvSpPr>
          <p:spPr>
            <a:xfrm>
              <a:off x="2256423" y="2957941"/>
              <a:ext cx="255999" cy="187163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8" name="Rounded Rectangle 1041">
              <a:extLst>
                <a:ext uri="{FF2B5EF4-FFF2-40B4-BE49-F238E27FC236}">
                  <a16:creationId xmlns:a16="http://schemas.microsoft.com/office/drawing/2014/main" id="{2D5CBBF5-1124-C8F8-90B3-8CD42AA46257}"/>
                </a:ext>
              </a:extLst>
            </p:cNvPr>
            <p:cNvSpPr/>
            <p:nvPr/>
          </p:nvSpPr>
          <p:spPr>
            <a:xfrm>
              <a:off x="1534530" y="2926321"/>
              <a:ext cx="343703" cy="246514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9" name="Rounded Rectangle 64">
              <a:extLst>
                <a:ext uri="{FF2B5EF4-FFF2-40B4-BE49-F238E27FC236}">
                  <a16:creationId xmlns:a16="http://schemas.microsoft.com/office/drawing/2014/main" id="{6DBE1757-5F58-723A-722C-E4FEAF547B28}"/>
                </a:ext>
              </a:extLst>
            </p:cNvPr>
            <p:cNvSpPr/>
            <p:nvPr/>
          </p:nvSpPr>
          <p:spPr>
            <a:xfrm>
              <a:off x="1530350" y="3493336"/>
              <a:ext cx="356202" cy="250346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F2</a:t>
              </a:r>
              <a:endParaRPr lang="en-IN" sz="80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389C24-A0D3-C724-E308-F16439108ECE}"/>
                </a:ext>
              </a:extLst>
            </p:cNvPr>
            <p:cNvSpPr/>
            <p:nvPr/>
          </p:nvSpPr>
          <p:spPr>
            <a:xfrm>
              <a:off x="2097291" y="2775405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B6D9BD-F978-230B-919E-FF00BCDB2882}"/>
                </a:ext>
              </a:extLst>
            </p:cNvPr>
            <p:cNvSpPr/>
            <p:nvPr/>
          </p:nvSpPr>
          <p:spPr>
            <a:xfrm>
              <a:off x="2764727" y="2702582"/>
              <a:ext cx="495399" cy="256848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rgbClr val="00B050"/>
                  </a:solidFill>
                  <a:ea typeface="Calibri"/>
                  <a:cs typeface="Calibri"/>
                </a:rPr>
                <a:t>RR1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60C4B7-587D-69D5-F7A6-A354E6D0186F}"/>
                </a:ext>
              </a:extLst>
            </p:cNvPr>
            <p:cNvSpPr/>
            <p:nvPr/>
          </p:nvSpPr>
          <p:spPr>
            <a:xfrm>
              <a:off x="2050404" y="359583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A44399D-5ECC-2BA1-507E-8061AE2C4DA3}"/>
                </a:ext>
              </a:extLst>
            </p:cNvPr>
            <p:cNvSpPr/>
            <p:nvPr/>
          </p:nvSpPr>
          <p:spPr>
            <a:xfrm>
              <a:off x="2707686" y="3644861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4F5EFD-FC13-E77B-80B2-12F01CA9880C}"/>
                </a:ext>
              </a:extLst>
            </p:cNvPr>
            <p:cNvSpPr/>
            <p:nvPr/>
          </p:nvSpPr>
          <p:spPr>
            <a:xfrm>
              <a:off x="2704728" y="3023648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0FEBFED-4AD1-FDF7-338B-852C29DFE94C}"/>
                </a:ext>
              </a:extLst>
            </p:cNvPr>
            <p:cNvSpPr/>
            <p:nvPr/>
          </p:nvSpPr>
          <p:spPr>
            <a:xfrm>
              <a:off x="5882353" y="3811466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E66BE94-07CE-5459-C191-D71E30BCA0CA}"/>
                </a:ext>
              </a:extLst>
            </p:cNvPr>
            <p:cNvCxnSpPr>
              <a:cxnSpLocks/>
            </p:cNvCxnSpPr>
            <p:nvPr/>
          </p:nvCxnSpPr>
          <p:spPr>
            <a:xfrm>
              <a:off x="5984079" y="3855863"/>
              <a:ext cx="332214" cy="6774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0FC313-9BF1-FED3-1DE8-54B97A140BEC}"/>
                </a:ext>
              </a:extLst>
            </p:cNvPr>
            <p:cNvSpPr/>
            <p:nvPr/>
          </p:nvSpPr>
          <p:spPr>
            <a:xfrm>
              <a:off x="6204821" y="3492814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chemeClr val="tx1"/>
                  </a:solidFill>
                  <a:ea typeface="Calibri"/>
                  <a:cs typeface="Calibri"/>
                </a:rPr>
                <a:t>SR2</a:t>
              </a:r>
            </a:p>
          </p:txBody>
        </p:sp>
        <p:sp>
          <p:nvSpPr>
            <p:cNvPr id="18" name="Rectangle 99">
              <a:extLst>
                <a:ext uri="{FF2B5EF4-FFF2-40B4-BE49-F238E27FC236}">
                  <a16:creationId xmlns:a16="http://schemas.microsoft.com/office/drawing/2014/main" id="{E0C0255F-452C-C37E-4F65-F768F832C536}"/>
                </a:ext>
              </a:extLst>
            </p:cNvPr>
            <p:cNvSpPr/>
            <p:nvPr/>
          </p:nvSpPr>
          <p:spPr>
            <a:xfrm>
              <a:off x="6412006" y="3746702"/>
              <a:ext cx="145126" cy="194227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800" b="1" dirty="0">
                <a:ea typeface="Calibri"/>
                <a:cs typeface="Calibri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AAC58DC-BF01-B09B-8D0D-B8D8E5E61B53}"/>
                </a:ext>
              </a:extLst>
            </p:cNvPr>
            <p:cNvCxnSpPr/>
            <p:nvPr/>
          </p:nvCxnSpPr>
          <p:spPr>
            <a:xfrm>
              <a:off x="3024020" y="3679300"/>
              <a:ext cx="96424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A78B476-196D-9D85-87D8-45661303FBC8}"/>
                </a:ext>
              </a:extLst>
            </p:cNvPr>
            <p:cNvCxnSpPr/>
            <p:nvPr/>
          </p:nvCxnSpPr>
          <p:spPr>
            <a:xfrm>
              <a:off x="3239557" y="3679443"/>
              <a:ext cx="100867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EE45AA2-E580-806F-4720-FE33CA685014}"/>
                </a:ext>
              </a:extLst>
            </p:cNvPr>
            <p:cNvCxnSpPr/>
            <p:nvPr/>
          </p:nvCxnSpPr>
          <p:spPr>
            <a:xfrm>
              <a:off x="3641333" y="4122951"/>
              <a:ext cx="213523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A8B7C49-B2A8-4481-9A2F-6E19415E8151}"/>
                </a:ext>
              </a:extLst>
            </p:cNvPr>
            <p:cNvCxnSpPr>
              <a:cxnSpLocks/>
            </p:cNvCxnSpPr>
            <p:nvPr/>
          </p:nvCxnSpPr>
          <p:spPr>
            <a:xfrm>
              <a:off x="4006599" y="4122951"/>
              <a:ext cx="205150" cy="11007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3DA3067-367D-09FB-1FD0-1539CB7DDB4F}"/>
                </a:ext>
              </a:extLst>
            </p:cNvPr>
            <p:cNvCxnSpPr>
              <a:cxnSpLocks/>
            </p:cNvCxnSpPr>
            <p:nvPr/>
          </p:nvCxnSpPr>
          <p:spPr>
            <a:xfrm>
              <a:off x="4582893" y="3730113"/>
              <a:ext cx="349606" cy="9151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5874E58-EC97-8D28-25CE-806CCCCE31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6401" y="3719076"/>
              <a:ext cx="319734" cy="765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2A1D0A7-D783-55BF-AD47-83A03B5DA1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1263" y="3849584"/>
              <a:ext cx="294514" cy="9666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D0D22DF-40A7-E6DE-A962-5A548C115545}"/>
                </a:ext>
              </a:extLst>
            </p:cNvPr>
            <p:cNvCxnSpPr>
              <a:cxnSpLocks/>
            </p:cNvCxnSpPr>
            <p:nvPr/>
          </p:nvCxnSpPr>
          <p:spPr>
            <a:xfrm>
              <a:off x="4596102" y="4164915"/>
              <a:ext cx="323187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7A96D92-23A7-41DE-4ED9-C8EFABE9257E}"/>
                </a:ext>
              </a:extLst>
            </p:cNvPr>
            <p:cNvCxnSpPr/>
            <p:nvPr/>
          </p:nvCxnSpPr>
          <p:spPr>
            <a:xfrm>
              <a:off x="5467368" y="3534580"/>
              <a:ext cx="0" cy="7555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6620FA7-E1BE-73C8-F34C-54360C546141}"/>
                </a:ext>
              </a:extLst>
            </p:cNvPr>
            <p:cNvSpPr/>
            <p:nvPr/>
          </p:nvSpPr>
          <p:spPr>
            <a:xfrm>
              <a:off x="4282538" y="4044116"/>
              <a:ext cx="259610" cy="203045"/>
            </a:xfrm>
            <a:prstGeom prst="rect">
              <a:avLst/>
            </a:prstGeom>
            <a:ln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E147CAD-A2AF-9476-8AB4-76C02B55C472}"/>
                </a:ext>
              </a:extLst>
            </p:cNvPr>
            <p:cNvSpPr/>
            <p:nvPr/>
          </p:nvSpPr>
          <p:spPr>
            <a:xfrm>
              <a:off x="5193750" y="3298202"/>
              <a:ext cx="504770" cy="194612"/>
            </a:xfrm>
            <a:prstGeom prst="rect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rgbClr val="FF0000"/>
                  </a:solidFill>
                  <a:ea typeface="Calibri"/>
                  <a:cs typeface="Calibri"/>
                </a:rPr>
                <a:t>PR1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5EA65FD-9F87-8A70-8063-E14FAB35027B}"/>
                </a:ext>
              </a:extLst>
            </p:cNvPr>
            <p:cNvSpPr/>
            <p:nvPr/>
          </p:nvSpPr>
          <p:spPr>
            <a:xfrm>
              <a:off x="3129107" y="3652560"/>
              <a:ext cx="40668" cy="41964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A432A46-EF6E-E53D-F63C-7D8E31F5D8FD}"/>
                </a:ext>
              </a:extLst>
            </p:cNvPr>
            <p:cNvSpPr/>
            <p:nvPr/>
          </p:nvSpPr>
          <p:spPr>
            <a:xfrm>
              <a:off x="3907898" y="4101969"/>
              <a:ext cx="40668" cy="41964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A68EEA9-C05A-7140-37F9-1C4FB345387F}"/>
                </a:ext>
              </a:extLst>
            </p:cNvPr>
            <p:cNvSpPr/>
            <p:nvPr/>
          </p:nvSpPr>
          <p:spPr>
            <a:xfrm>
              <a:off x="4993857" y="4122951"/>
              <a:ext cx="40668" cy="41964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8B4EDEC-7041-7D55-7182-AE28C404BEFA}"/>
                </a:ext>
              </a:extLst>
            </p:cNvPr>
            <p:cNvSpPr/>
            <p:nvPr/>
          </p:nvSpPr>
          <p:spPr>
            <a:xfrm>
              <a:off x="4983540" y="3703555"/>
              <a:ext cx="40668" cy="41964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8FF2B4-1FDF-1EBA-9B80-2180DCBD3720}"/>
                </a:ext>
              </a:extLst>
            </p:cNvPr>
            <p:cNvSpPr/>
            <p:nvPr/>
          </p:nvSpPr>
          <p:spPr>
            <a:xfrm>
              <a:off x="3194152" y="3353001"/>
              <a:ext cx="498295" cy="1260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rgbClr val="002060"/>
                  </a:solidFill>
                  <a:ea typeface="Calibri"/>
                  <a:cs typeface="Calibri"/>
                </a:rPr>
                <a:t>SR1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C5421D4-6B82-BC54-AF58-2AC772ACBEE4}"/>
                </a:ext>
              </a:extLst>
            </p:cNvPr>
            <p:cNvCxnSpPr>
              <a:cxnSpLocks/>
            </p:cNvCxnSpPr>
            <p:nvPr/>
          </p:nvCxnSpPr>
          <p:spPr>
            <a:xfrm>
              <a:off x="3502291" y="3725306"/>
              <a:ext cx="278084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7A9AA0B-5D1F-E70A-DD96-D241A05017AE}"/>
                </a:ext>
              </a:extLst>
            </p:cNvPr>
            <p:cNvSpPr/>
            <p:nvPr/>
          </p:nvSpPr>
          <p:spPr>
            <a:xfrm>
              <a:off x="3890835" y="3697914"/>
              <a:ext cx="40668" cy="41964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37" name="Rectangle 99">
              <a:extLst>
                <a:ext uri="{FF2B5EF4-FFF2-40B4-BE49-F238E27FC236}">
                  <a16:creationId xmlns:a16="http://schemas.microsoft.com/office/drawing/2014/main" id="{CE55D61C-80A8-AC3C-6226-56F566423E22}"/>
                </a:ext>
              </a:extLst>
            </p:cNvPr>
            <p:cNvSpPr/>
            <p:nvPr/>
          </p:nvSpPr>
          <p:spPr>
            <a:xfrm>
              <a:off x="3339013" y="3612034"/>
              <a:ext cx="181796" cy="187264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800" b="1" dirty="0">
                <a:ea typeface="Calibri"/>
                <a:cs typeface="Calibri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A058936-4F71-6CF4-7365-CB05E624E864}"/>
                </a:ext>
              </a:extLst>
            </p:cNvPr>
            <p:cNvCxnSpPr>
              <a:cxnSpLocks/>
            </p:cNvCxnSpPr>
            <p:nvPr/>
          </p:nvCxnSpPr>
          <p:spPr>
            <a:xfrm>
              <a:off x="2137832" y="3642269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C2DB159-4B42-A43D-5A88-A5A865B25FC7}"/>
                </a:ext>
              </a:extLst>
            </p:cNvPr>
            <p:cNvSpPr/>
            <p:nvPr/>
          </p:nvSpPr>
          <p:spPr>
            <a:xfrm>
              <a:off x="2048126" y="3002697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222354-EADF-5605-FF4A-323C9F78C1DF}"/>
                </a:ext>
              </a:extLst>
            </p:cNvPr>
            <p:cNvSpPr/>
            <p:nvPr/>
          </p:nvSpPr>
          <p:spPr>
            <a:xfrm>
              <a:off x="2289423" y="3565810"/>
              <a:ext cx="260020" cy="19641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9EEE59D-71A1-19F0-0009-98B9A92D9070}"/>
                </a:ext>
              </a:extLst>
            </p:cNvPr>
            <p:cNvCxnSpPr>
              <a:cxnSpLocks/>
            </p:cNvCxnSpPr>
            <p:nvPr/>
          </p:nvCxnSpPr>
          <p:spPr>
            <a:xfrm>
              <a:off x="1890845" y="3624299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46F36C0-6AD8-4953-AC07-1EAC8297F72B}"/>
                </a:ext>
              </a:extLst>
            </p:cNvPr>
            <p:cNvCxnSpPr>
              <a:cxnSpLocks/>
            </p:cNvCxnSpPr>
            <p:nvPr/>
          </p:nvCxnSpPr>
          <p:spPr>
            <a:xfrm>
              <a:off x="2801606" y="3070521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C84DA04-0D72-7A9E-8D51-9AE24182E9E3}"/>
                </a:ext>
              </a:extLst>
            </p:cNvPr>
            <p:cNvCxnSpPr>
              <a:cxnSpLocks/>
            </p:cNvCxnSpPr>
            <p:nvPr/>
          </p:nvCxnSpPr>
          <p:spPr>
            <a:xfrm>
              <a:off x="1890844" y="3050485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0199958-482F-D94B-697B-51457822DFEA}"/>
                </a:ext>
              </a:extLst>
            </p:cNvPr>
            <p:cNvCxnSpPr>
              <a:cxnSpLocks/>
            </p:cNvCxnSpPr>
            <p:nvPr/>
          </p:nvCxnSpPr>
          <p:spPr>
            <a:xfrm>
              <a:off x="2120220" y="3072558"/>
              <a:ext cx="142335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3666EF5-F527-E015-679F-DA1DD13B5362}"/>
                </a:ext>
              </a:extLst>
            </p:cNvPr>
            <p:cNvSpPr/>
            <p:nvPr/>
          </p:nvSpPr>
          <p:spPr>
            <a:xfrm>
              <a:off x="2115800" y="3376983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0C7D147-425A-6932-9372-B3C63E0FE012}"/>
                </a:ext>
              </a:extLst>
            </p:cNvPr>
            <p:cNvSpPr/>
            <p:nvPr/>
          </p:nvSpPr>
          <p:spPr>
            <a:xfrm>
              <a:off x="4282537" y="3624694"/>
              <a:ext cx="259611" cy="20305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6B276-9C71-7653-56AD-8F460EC85B7D}"/>
                </a:ext>
              </a:extLst>
            </p:cNvPr>
            <p:cNvSpPr/>
            <p:nvPr/>
          </p:nvSpPr>
          <p:spPr>
            <a:xfrm>
              <a:off x="6871342" y="3811466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C4947BF-7D5F-EC6C-C5DA-983FD20D6A26}"/>
                </a:ext>
              </a:extLst>
            </p:cNvPr>
            <p:cNvCxnSpPr>
              <a:cxnSpLocks/>
            </p:cNvCxnSpPr>
            <p:nvPr/>
          </p:nvCxnSpPr>
          <p:spPr>
            <a:xfrm>
              <a:off x="6584564" y="3855863"/>
              <a:ext cx="259346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CEC4F95-CEDF-D0F8-2A38-C5F5D57AAA39}"/>
                </a:ext>
              </a:extLst>
            </p:cNvPr>
            <p:cNvCxnSpPr>
              <a:cxnSpLocks/>
            </p:cNvCxnSpPr>
            <p:nvPr/>
          </p:nvCxnSpPr>
          <p:spPr>
            <a:xfrm>
              <a:off x="6999063" y="3842907"/>
              <a:ext cx="365441" cy="0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4065F07-B655-7321-51D9-5312D1731967}"/>
                </a:ext>
              </a:extLst>
            </p:cNvPr>
            <p:cNvSpPr/>
            <p:nvPr/>
          </p:nvSpPr>
          <p:spPr>
            <a:xfrm>
              <a:off x="7400996" y="3733922"/>
              <a:ext cx="152894" cy="18836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CD4D3B7-8E09-A95F-2A03-B4D5AAE26EB7}"/>
                </a:ext>
              </a:extLst>
            </p:cNvPr>
            <p:cNvSpPr/>
            <p:nvPr/>
          </p:nvSpPr>
          <p:spPr>
            <a:xfrm>
              <a:off x="4106200" y="3376983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4A05E78-E4E7-AD56-51D5-BC4D6E76E720}"/>
                </a:ext>
              </a:extLst>
            </p:cNvPr>
            <p:cNvSpPr/>
            <p:nvPr/>
          </p:nvSpPr>
          <p:spPr>
            <a:xfrm>
              <a:off x="4113663" y="4254649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Q4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911C949-0492-8BDC-CA89-4097EBE35DF9}"/>
                </a:ext>
              </a:extLst>
            </p:cNvPr>
            <p:cNvSpPr/>
            <p:nvPr/>
          </p:nvSpPr>
          <p:spPr>
            <a:xfrm>
              <a:off x="7753943" y="3827744"/>
              <a:ext cx="57387" cy="69026"/>
            </a:xfrm>
            <a:prstGeom prst="ellipse">
              <a:avLst/>
            </a:prstGeom>
            <a:solidFill>
              <a:srgbClr val="002060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186BE0A-0AF6-992B-DCF6-5A8CC6EA2ACC}"/>
                </a:ext>
              </a:extLst>
            </p:cNvPr>
            <p:cNvCxnSpPr>
              <a:cxnSpLocks/>
            </p:cNvCxnSpPr>
            <p:nvPr/>
          </p:nvCxnSpPr>
          <p:spPr>
            <a:xfrm>
              <a:off x="7884422" y="3858309"/>
              <a:ext cx="178832" cy="1663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8087182-CEB8-F864-8DAF-5B017E762362}"/>
                </a:ext>
              </a:extLst>
            </p:cNvPr>
            <p:cNvCxnSpPr>
              <a:cxnSpLocks/>
            </p:cNvCxnSpPr>
            <p:nvPr/>
          </p:nvCxnSpPr>
          <p:spPr>
            <a:xfrm>
              <a:off x="7559408" y="3836131"/>
              <a:ext cx="178832" cy="16635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2E23BE5-CC5C-E34F-F666-AAA20C12468B}"/>
                </a:ext>
              </a:extLst>
            </p:cNvPr>
            <p:cNvCxnSpPr>
              <a:cxnSpLocks/>
            </p:cNvCxnSpPr>
            <p:nvPr/>
          </p:nvCxnSpPr>
          <p:spPr>
            <a:xfrm>
              <a:off x="4006599" y="3722903"/>
              <a:ext cx="220004" cy="8499"/>
            </a:xfrm>
            <a:prstGeom prst="straightConnector1">
              <a:avLst/>
            </a:prstGeom>
            <a:ln w="19050" cmpd="dbl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64">
              <a:extLst>
                <a:ext uri="{FF2B5EF4-FFF2-40B4-BE49-F238E27FC236}">
                  <a16:creationId xmlns:a16="http://schemas.microsoft.com/office/drawing/2014/main" id="{1C338B05-3218-5642-E36A-DA9DEC71D4DE}"/>
                </a:ext>
              </a:extLst>
            </p:cNvPr>
            <p:cNvSpPr/>
            <p:nvPr/>
          </p:nvSpPr>
          <p:spPr>
            <a:xfrm>
              <a:off x="3222661" y="4018760"/>
              <a:ext cx="356202" cy="250346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F3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11E6F72-02EF-FEFB-6EEE-B85667FBB64C}"/>
                </a:ext>
              </a:extLst>
            </p:cNvPr>
            <p:cNvSpPr/>
            <p:nvPr/>
          </p:nvSpPr>
          <p:spPr>
            <a:xfrm>
              <a:off x="1812176" y="2801596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5C133CD-6939-6E91-C6E4-F587C85C5331}"/>
                </a:ext>
              </a:extLst>
            </p:cNvPr>
            <p:cNvSpPr/>
            <p:nvPr/>
          </p:nvSpPr>
          <p:spPr>
            <a:xfrm>
              <a:off x="1809192" y="3702980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359B3CF-D226-34D1-5703-1BF33389EC1C}"/>
                </a:ext>
              </a:extLst>
            </p:cNvPr>
            <p:cNvSpPr/>
            <p:nvPr/>
          </p:nvSpPr>
          <p:spPr>
            <a:xfrm>
              <a:off x="2395548" y="2790158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N3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7F50461-A68C-377F-C972-16D72DC38B82}"/>
                </a:ext>
              </a:extLst>
            </p:cNvPr>
            <p:cNvSpPr/>
            <p:nvPr/>
          </p:nvSpPr>
          <p:spPr>
            <a:xfrm>
              <a:off x="2448420" y="3758947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N4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1798BD-963D-00A3-96E4-440351FE45D3}"/>
                </a:ext>
              </a:extLst>
            </p:cNvPr>
            <p:cNvSpPr/>
            <p:nvPr/>
          </p:nvSpPr>
          <p:spPr>
            <a:xfrm>
              <a:off x="2880218" y="3457107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N5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533773F-5410-FE89-D016-71468DC3E535}"/>
                </a:ext>
              </a:extLst>
            </p:cNvPr>
            <p:cNvSpPr/>
            <p:nvPr/>
          </p:nvSpPr>
          <p:spPr>
            <a:xfrm>
              <a:off x="3666336" y="3501134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N6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A7C3E4C-2D05-7C29-0FAB-307A1C1D498B}"/>
                </a:ext>
              </a:extLst>
            </p:cNvPr>
            <p:cNvSpPr/>
            <p:nvPr/>
          </p:nvSpPr>
          <p:spPr>
            <a:xfrm>
              <a:off x="3664914" y="4159951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N7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66C55E0-70D8-B785-CA63-91071BCFFB96}"/>
                </a:ext>
              </a:extLst>
            </p:cNvPr>
            <p:cNvSpPr/>
            <p:nvPr/>
          </p:nvSpPr>
          <p:spPr>
            <a:xfrm>
              <a:off x="4744460" y="4207652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N9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1FD8E96-2F6D-FD81-0380-1A09B2AF88EC}"/>
                </a:ext>
              </a:extLst>
            </p:cNvPr>
            <p:cNvSpPr/>
            <p:nvPr/>
          </p:nvSpPr>
          <p:spPr>
            <a:xfrm>
              <a:off x="4680356" y="3511438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N8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5078EC3-6C0B-B460-BD1C-3FBB7F8E4D57}"/>
                </a:ext>
              </a:extLst>
            </p:cNvPr>
            <p:cNvSpPr/>
            <p:nvPr/>
          </p:nvSpPr>
          <p:spPr>
            <a:xfrm>
              <a:off x="5658784" y="3602528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N10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927B24C-41EA-CEBC-EF23-8719FC5BC5E3}"/>
                </a:ext>
              </a:extLst>
            </p:cNvPr>
            <p:cNvSpPr/>
            <p:nvPr/>
          </p:nvSpPr>
          <p:spPr>
            <a:xfrm>
              <a:off x="6649191" y="3595834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N11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F3D6C5-7913-D953-A0CC-6614B430103B}"/>
                </a:ext>
              </a:extLst>
            </p:cNvPr>
            <p:cNvSpPr/>
            <p:nvPr/>
          </p:nvSpPr>
          <p:spPr>
            <a:xfrm>
              <a:off x="7515503" y="3619357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N12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A9998CE-9530-5499-534C-C3FBA6F9415B}"/>
                </a:ext>
              </a:extLst>
            </p:cNvPr>
            <p:cNvSpPr/>
            <p:nvPr/>
          </p:nvSpPr>
          <p:spPr>
            <a:xfrm>
              <a:off x="8116960" y="3762254"/>
              <a:ext cx="559496" cy="19210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 b="1" dirty="0">
                  <a:solidFill>
                    <a:schemeClr val="tx1"/>
                  </a:solidFill>
                  <a:ea typeface="Calibri"/>
                  <a:cs typeface="Calibri"/>
                </a:rPr>
                <a:t>Sink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7A2036-1300-9D67-E567-35EFB92CF33B}"/>
                </a:ext>
              </a:extLst>
            </p:cNvPr>
            <p:cNvSpPr/>
            <p:nvPr/>
          </p:nvSpPr>
          <p:spPr>
            <a:xfrm>
              <a:off x="7194447" y="3977248"/>
              <a:ext cx="559496" cy="1921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800" dirty="0">
                  <a:solidFill>
                    <a:srgbClr val="002060"/>
                  </a:solidFill>
                </a:rPr>
                <a:t>Q5</a:t>
              </a:r>
              <a:endParaRPr lang="en-IN" sz="800" dirty="0">
                <a:solidFill>
                  <a:srgbClr val="002060"/>
                </a:solidFill>
                <a:ea typeface="Calibri"/>
                <a:cs typeface="Calibri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FC50ACF-0B58-0223-37C3-6DADEDBF58B6}"/>
                </a:ext>
              </a:extLst>
            </p:cNvPr>
            <p:cNvSpPr txBox="1"/>
            <p:nvPr/>
          </p:nvSpPr>
          <p:spPr>
            <a:xfrm>
              <a:off x="4076931" y="2681272"/>
              <a:ext cx="1335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Priority</a:t>
              </a:r>
            </a:p>
            <a:p>
              <a:r>
                <a:rPr lang="en-US" sz="9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Q3 &gt; Q4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5AD0EC4-DD90-2998-7892-1CC80F25D302}"/>
              </a:ext>
            </a:extLst>
          </p:cNvPr>
          <p:cNvSpPr txBox="1"/>
          <p:nvPr/>
        </p:nvSpPr>
        <p:spPr>
          <a:xfrm>
            <a:off x="374904" y="301752"/>
            <a:ext cx="11539728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</a:rPr>
              <a:t>Demo :3 Hybrid arbitration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668E54-E302-F68D-5482-78C05DE52101}"/>
              </a:ext>
            </a:extLst>
          </p:cNvPr>
          <p:cNvSpPr txBox="1"/>
          <p:nvPr/>
        </p:nvSpPr>
        <p:spPr>
          <a:xfrm>
            <a:off x="638936" y="2403862"/>
            <a:ext cx="3422003" cy="2277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Figure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RR(</a:t>
            </a:r>
            <a:r>
              <a:rPr lang="en-US" sz="1400" dirty="0" err="1"/>
              <a:t>RoundRobin</a:t>
            </a:r>
            <a:r>
              <a:rPr lang="en-US" sz="1400" dirty="0"/>
              <a:t> arbiter) followed by PR(Priority arbiter).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Server SR1 updates the service time of RR arbiter.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Server SR2 updates the service time of PR arbiter.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AAA3F3-B5A7-16F2-0112-0A2566EFFFAC}"/>
              </a:ext>
            </a:extLst>
          </p:cNvPr>
          <p:cNvSpPr txBox="1"/>
          <p:nvPr/>
        </p:nvSpPr>
        <p:spPr>
          <a:xfrm>
            <a:off x="5677758" y="5541264"/>
            <a:ext cx="392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Hybrid Arbitration</a:t>
            </a:r>
          </a:p>
        </p:txBody>
      </p:sp>
    </p:spTree>
    <p:extLst>
      <p:ext uri="{BB962C8B-B14F-4D97-AF65-F5344CB8AC3E}">
        <p14:creationId xmlns:p14="http://schemas.microsoft.com/office/powerpoint/2010/main" val="1592074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02654" y="195648"/>
            <a:ext cx="8786693" cy="9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7933"/>
              </a:lnSpc>
            </a:pPr>
            <a:r>
              <a:rPr lang="en-US" sz="5400" dirty="0">
                <a:solidFill>
                  <a:srgbClr val="000000"/>
                </a:solidFill>
                <a:latin typeface="Alatsi Bold"/>
              </a:rPr>
              <a:t>INHERITANCE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52766" y="1276749"/>
            <a:ext cx="2688383" cy="1130721"/>
            <a:chOff x="0" y="0"/>
            <a:chExt cx="1062077" cy="446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2077" cy="446704"/>
            </a:xfrm>
            <a:custGeom>
              <a:avLst/>
              <a:gdLst/>
              <a:ahLst/>
              <a:cxnLst/>
              <a:rect l="l" t="t" r="r" b="b"/>
              <a:pathLst>
                <a:path w="1062077" h="446704">
                  <a:moveTo>
                    <a:pt x="0" y="0"/>
                  </a:moveTo>
                  <a:lnTo>
                    <a:pt x="1062077" y="0"/>
                  </a:lnTo>
                  <a:lnTo>
                    <a:pt x="1062077" y="446704"/>
                  </a:lnTo>
                  <a:lnTo>
                    <a:pt x="0" y="44670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062077" cy="51337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453"/>
                </a:lnSpc>
              </a:pPr>
              <a:r>
                <a:rPr lang="en-US" sz="2466">
                  <a:solidFill>
                    <a:srgbClr val="000000"/>
                  </a:solidFill>
                  <a:latin typeface="Alatsi"/>
                </a:rPr>
                <a:t>PRIMITIVE</a:t>
              </a:r>
            </a:p>
            <a:p>
              <a:pPr algn="ctr">
                <a:lnSpc>
                  <a:spcPts val="3453"/>
                </a:lnSpc>
              </a:pPr>
              <a:r>
                <a:rPr lang="en-US" sz="2466">
                  <a:solidFill>
                    <a:srgbClr val="000000"/>
                  </a:solidFill>
                  <a:latin typeface="Alatsi"/>
                </a:rPr>
                <a:t>(Base Class)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903307" y="2407411"/>
            <a:ext cx="0" cy="6906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200957" y="3091645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3818869" y="3098051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9472802" y="3144668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6" name="Group 16"/>
          <p:cNvGrpSpPr/>
          <p:nvPr/>
        </p:nvGrpSpPr>
        <p:grpSpPr>
          <a:xfrm>
            <a:off x="505604" y="3816274"/>
            <a:ext cx="1467793" cy="891189"/>
            <a:chOff x="0" y="0"/>
            <a:chExt cx="579869" cy="3520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Queue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84974" y="3816274"/>
            <a:ext cx="1467793" cy="891189"/>
            <a:chOff x="0" y="0"/>
            <a:chExt cx="579869" cy="3520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Injector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231848" y="3091646"/>
            <a:ext cx="10417227" cy="46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7727154" y="3172334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8741303" y="3862890"/>
            <a:ext cx="1467793" cy="891189"/>
            <a:chOff x="0" y="0"/>
            <a:chExt cx="579869" cy="35207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Sink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993258" y="3890556"/>
            <a:ext cx="1467793" cy="891189"/>
            <a:chOff x="0" y="0"/>
            <a:chExt cx="579869" cy="35207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Alatsi"/>
                </a:rPr>
                <a:t>Arbiter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7858333" y="4754079"/>
            <a:ext cx="0" cy="5320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7058103" y="5286930"/>
            <a:ext cx="19090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7067178" y="5286149"/>
            <a:ext cx="12700" cy="6460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8953562" y="5286148"/>
            <a:ext cx="12700" cy="6460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5846109" y="5904587"/>
            <a:ext cx="1716049" cy="803485"/>
            <a:chOff x="0" y="0"/>
            <a:chExt cx="677945" cy="3174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7945" cy="317426"/>
            </a:xfrm>
            <a:custGeom>
              <a:avLst/>
              <a:gdLst/>
              <a:ahLst/>
              <a:cxnLst/>
              <a:rect l="l" t="t" r="r" b="b"/>
              <a:pathLst>
                <a:path w="677945" h="317426">
                  <a:moveTo>
                    <a:pt x="0" y="0"/>
                  </a:moveTo>
                  <a:lnTo>
                    <a:pt x="677945" y="0"/>
                  </a:lnTo>
                  <a:lnTo>
                    <a:pt x="677945" y="317426"/>
                  </a:lnTo>
                  <a:lnTo>
                    <a:pt x="0" y="31742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677945" cy="374576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519"/>
                </a:lnSpc>
              </a:pPr>
              <a:r>
                <a:rPr lang="en-US" sz="1799">
                  <a:solidFill>
                    <a:srgbClr val="000000"/>
                  </a:solidFill>
                  <a:latin typeface="Alatsi"/>
                </a:rPr>
                <a:t>Priority Arbiter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84764" y="5904587"/>
            <a:ext cx="1850521" cy="803485"/>
            <a:chOff x="0" y="0"/>
            <a:chExt cx="731070" cy="31742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070" cy="317426"/>
            </a:xfrm>
            <a:custGeom>
              <a:avLst/>
              <a:gdLst/>
              <a:ahLst/>
              <a:cxnLst/>
              <a:rect l="l" t="t" r="r" b="b"/>
              <a:pathLst>
                <a:path w="731070" h="317426">
                  <a:moveTo>
                    <a:pt x="0" y="0"/>
                  </a:moveTo>
                  <a:lnTo>
                    <a:pt x="731070" y="0"/>
                  </a:lnTo>
                  <a:lnTo>
                    <a:pt x="731070" y="317426"/>
                  </a:lnTo>
                  <a:lnTo>
                    <a:pt x="0" y="31742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731070" cy="374576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426"/>
                </a:lnSpc>
              </a:pPr>
              <a:r>
                <a:rPr lang="en-US" sz="1733">
                  <a:solidFill>
                    <a:srgbClr val="000000"/>
                  </a:solidFill>
                  <a:latin typeface="Alatsi"/>
                </a:rPr>
                <a:t>RoundRobin </a:t>
              </a:r>
            </a:p>
            <a:p>
              <a:pPr algn="ctr">
                <a:lnSpc>
                  <a:spcPts val="2426"/>
                </a:lnSpc>
              </a:pPr>
              <a:r>
                <a:rPr lang="en-US" sz="1733">
                  <a:solidFill>
                    <a:srgbClr val="000000"/>
                  </a:solidFill>
                  <a:latin typeface="Alatsi"/>
                </a:rPr>
                <a:t>Arbiter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1387872" y="3091645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2169B3BB-CF51-9D8D-E9CD-39A3BBE297F1}"/>
              </a:ext>
            </a:extLst>
          </p:cNvPr>
          <p:cNvGrpSpPr/>
          <p:nvPr/>
        </p:nvGrpSpPr>
        <p:grpSpPr>
          <a:xfrm>
            <a:off x="10447471" y="3690662"/>
            <a:ext cx="1509670" cy="1050192"/>
            <a:chOff x="0" y="-57150"/>
            <a:chExt cx="596413" cy="414890"/>
          </a:xfrm>
        </p:grpSpPr>
        <p:sp>
          <p:nvSpPr>
            <p:cNvPr id="4" name="Freeform 17">
              <a:extLst>
                <a:ext uri="{FF2B5EF4-FFF2-40B4-BE49-F238E27FC236}">
                  <a16:creationId xmlns:a16="http://schemas.microsoft.com/office/drawing/2014/main" id="{9C3D3C64-25C8-AFDF-1C72-26DD78FBB313}"/>
                </a:ext>
              </a:extLst>
            </p:cNvPr>
            <p:cNvSpPr/>
            <p:nvPr/>
          </p:nvSpPr>
          <p:spPr>
            <a:xfrm>
              <a:off x="16544" y="5666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18">
              <a:extLst>
                <a:ext uri="{FF2B5EF4-FFF2-40B4-BE49-F238E27FC236}">
                  <a16:creationId xmlns:a16="http://schemas.microsoft.com/office/drawing/2014/main" id="{9B594D15-4716-AEB5-8A69-656351598466}"/>
                </a:ext>
              </a:extLst>
            </p:cNvPr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50" dirty="0">
                  <a:solidFill>
                    <a:srgbClr val="000000"/>
                  </a:solidFill>
                  <a:latin typeface="Alatsi"/>
                </a:rPr>
                <a:t>Split</a:t>
              </a:r>
              <a:endParaRPr lang="en-US" sz="1999" dirty="0">
                <a:solidFill>
                  <a:srgbClr val="000000"/>
                </a:solidFill>
                <a:latin typeface="Alatsi"/>
              </a:endParaRPr>
            </a:p>
          </p:txBody>
        </p:sp>
      </p:grpSp>
      <p:sp>
        <p:nvSpPr>
          <p:cNvPr id="6" name="AutoShape 23">
            <a:extLst>
              <a:ext uri="{FF2B5EF4-FFF2-40B4-BE49-F238E27FC236}">
                <a16:creationId xmlns:a16="http://schemas.microsoft.com/office/drawing/2014/main" id="{9A0F6EE9-DFE1-E80E-D743-D491782FCAEA}"/>
              </a:ext>
            </a:extLst>
          </p:cNvPr>
          <p:cNvSpPr/>
          <p:nvPr/>
        </p:nvSpPr>
        <p:spPr>
          <a:xfrm>
            <a:off x="5846109" y="3127002"/>
            <a:ext cx="0" cy="7182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19">
            <a:extLst>
              <a:ext uri="{FF2B5EF4-FFF2-40B4-BE49-F238E27FC236}">
                <a16:creationId xmlns:a16="http://schemas.microsoft.com/office/drawing/2014/main" id="{22B5664D-56D9-9C94-C07B-73DEF3F96AEC}"/>
              </a:ext>
            </a:extLst>
          </p:cNvPr>
          <p:cNvGrpSpPr/>
          <p:nvPr/>
        </p:nvGrpSpPr>
        <p:grpSpPr>
          <a:xfrm>
            <a:off x="5083469" y="3853858"/>
            <a:ext cx="1467793" cy="891189"/>
            <a:chOff x="0" y="0"/>
            <a:chExt cx="579869" cy="352074"/>
          </a:xfrm>
        </p:grpSpPr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6A328631-AFD7-019A-1D5A-E5E51D1F3522}"/>
                </a:ext>
              </a:extLst>
            </p:cNvPr>
            <p:cNvSpPr/>
            <p:nvPr/>
          </p:nvSpPr>
          <p:spPr>
            <a:xfrm>
              <a:off x="0" y="0"/>
              <a:ext cx="579869" cy="352074"/>
            </a:xfrm>
            <a:custGeom>
              <a:avLst/>
              <a:gdLst/>
              <a:ahLst/>
              <a:cxnLst/>
              <a:rect l="l" t="t" r="r" b="b"/>
              <a:pathLst>
                <a:path w="579869" h="352074">
                  <a:moveTo>
                    <a:pt x="0" y="0"/>
                  </a:moveTo>
                  <a:lnTo>
                    <a:pt x="579869" y="0"/>
                  </a:lnTo>
                  <a:lnTo>
                    <a:pt x="579869" y="352074"/>
                  </a:lnTo>
                  <a:lnTo>
                    <a:pt x="0" y="3520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21">
              <a:extLst>
                <a:ext uri="{FF2B5EF4-FFF2-40B4-BE49-F238E27FC236}">
                  <a16:creationId xmlns:a16="http://schemas.microsoft.com/office/drawing/2014/main" id="{5222A4AA-56AD-7BCC-B738-F2681347F821}"/>
                </a:ext>
              </a:extLst>
            </p:cNvPr>
            <p:cNvSpPr txBox="1"/>
            <p:nvPr/>
          </p:nvSpPr>
          <p:spPr>
            <a:xfrm>
              <a:off x="0" y="-57150"/>
              <a:ext cx="579869" cy="4092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99"/>
                </a:lnSpc>
              </a:pPr>
              <a:r>
                <a:rPr lang="en-US" sz="1999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Alatsi"/>
                </a:rPr>
                <a:t>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8727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3576B3-12D7-3319-5DBE-3BB545379D3E}"/>
              </a:ext>
            </a:extLst>
          </p:cNvPr>
          <p:cNvSpPr>
            <a:spLocks noGrp="1"/>
          </p:cNvSpPr>
          <p:nvPr/>
        </p:nvSpPr>
        <p:spPr>
          <a:xfrm>
            <a:off x="305223" y="365125"/>
            <a:ext cx="10932160" cy="6750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FFC000"/>
                </a:solidFill>
              </a:rPr>
              <a:t>Introducing new Primitive </a:t>
            </a:r>
            <a:r>
              <a:rPr lang="en-US" sz="2800" b="1" dirty="0">
                <a:solidFill>
                  <a:srgbClr val="FFC000"/>
                </a:solidFill>
              </a:rPr>
              <a:t>Server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8244CF-79B2-86AA-1E2E-622071889A52}"/>
              </a:ext>
            </a:extLst>
          </p:cNvPr>
          <p:cNvSpPr>
            <a:spLocks noGrp="1"/>
          </p:cNvSpPr>
          <p:nvPr/>
        </p:nvSpPr>
        <p:spPr>
          <a:xfrm>
            <a:off x="1057507" y="14831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solidFill>
                  <a:srgbClr val="002060"/>
                </a:solidFill>
                <a:highlight>
                  <a:srgbClr val="C0C0C0"/>
                </a:highlight>
              </a:rPr>
              <a:t>Data Members</a:t>
            </a:r>
            <a:endParaRPr lang="en-US" sz="1700" dirty="0">
              <a:solidFill>
                <a:srgbClr val="00206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dirty="0" err="1">
                <a:ea typeface="+mn-lt"/>
                <a:cs typeface="+mn-lt"/>
              </a:rPr>
              <a:t>service_time</a:t>
            </a:r>
            <a:r>
              <a:rPr lang="en-US" sz="1600" b="1" dirty="0"/>
              <a:t>: </a:t>
            </a:r>
            <a:r>
              <a:rPr lang="en-US" sz="1600" dirty="0"/>
              <a:t>Represents service time of the server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dirty="0" err="1"/>
              <a:t>coeff_service_time</a:t>
            </a:r>
            <a:r>
              <a:rPr lang="en-US" sz="1600" b="1" dirty="0"/>
              <a:t> : </a:t>
            </a:r>
            <a:r>
              <a:rPr lang="en-US" sz="1600" dirty="0">
                <a:ea typeface="+mn-lt"/>
                <a:cs typeface="+mn-lt"/>
              </a:rPr>
              <a:t>Represents </a:t>
            </a:r>
            <a:r>
              <a:rPr lang="en-US" sz="1600" b="1" dirty="0">
                <a:ea typeface="+mn-lt"/>
                <a:cs typeface="+mn-lt"/>
              </a:rPr>
              <a:t> </a:t>
            </a:r>
            <a:r>
              <a:rPr lang="en-US" sz="1600" dirty="0">
                <a:ea typeface="+mn-lt"/>
                <a:cs typeface="+mn-lt"/>
              </a:rPr>
              <a:t>Squared coefficient of variation of service time</a:t>
            </a:r>
          </a:p>
          <a:p>
            <a:pPr marL="457200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endParaRPr lang="en-US" sz="1700" b="1" dirty="0">
              <a:solidFill>
                <a:srgbClr val="002060"/>
              </a:solidFill>
              <a:highlight>
                <a:srgbClr val="C0C0C0"/>
              </a:highlight>
            </a:endParaRPr>
          </a:p>
          <a:p>
            <a:endParaRPr lang="en-US" sz="1700" b="1" dirty="0">
              <a:solidFill>
                <a:srgbClr val="002060"/>
              </a:solidFill>
              <a:highlight>
                <a:srgbClr val="C0C0C0"/>
              </a:highlight>
            </a:endParaRPr>
          </a:p>
          <a:p>
            <a:r>
              <a:rPr lang="en-US" sz="1700" b="1" dirty="0">
                <a:solidFill>
                  <a:srgbClr val="002060"/>
                </a:solidFill>
                <a:highlight>
                  <a:srgbClr val="C0C0C0"/>
                </a:highlight>
              </a:rPr>
              <a:t>Member Functions</a:t>
            </a:r>
            <a:endParaRPr lang="en-US" dirty="0"/>
          </a:p>
          <a:p>
            <a:pPr lvl="1"/>
            <a:r>
              <a:rPr lang="en-US" sz="1600" dirty="0" err="1"/>
              <a:t>getServiceTime</a:t>
            </a:r>
            <a:r>
              <a:rPr lang="en-US" sz="1600" dirty="0"/>
              <a:t>()</a:t>
            </a:r>
            <a:endParaRPr lang="en-US" dirty="0"/>
          </a:p>
          <a:p>
            <a:pPr lvl="1"/>
            <a:r>
              <a:rPr lang="en-US" sz="1600" dirty="0" err="1"/>
              <a:t>getCoeffServiceTime</a:t>
            </a:r>
            <a:r>
              <a:rPr lang="en-US" sz="1600" dirty="0"/>
              <a:t>()</a:t>
            </a:r>
          </a:p>
          <a:p>
            <a:pPr lvl="1"/>
            <a:r>
              <a:rPr lang="en-US" sz="1600" dirty="0" err="1"/>
              <a:t>setServiceTime</a:t>
            </a:r>
            <a:r>
              <a:rPr lang="en-US" sz="1600" dirty="0"/>
              <a:t>() </a:t>
            </a:r>
          </a:p>
          <a:p>
            <a:pPr lvl="1"/>
            <a:r>
              <a:rPr lang="en-US" sz="1600" dirty="0" err="1"/>
              <a:t>setCoeffServiceTime</a:t>
            </a:r>
            <a:r>
              <a:rPr lang="en-US" sz="1600" dirty="0"/>
              <a:t>()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300" b="1" dirty="0">
              <a:highlight>
                <a:srgbClr val="C0C0C0"/>
              </a:highlight>
            </a:endParaRPr>
          </a:p>
        </p:txBody>
      </p:sp>
      <p:pic>
        <p:nvPicPr>
          <p:cNvPr id="6" name="Picture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4E8C83C5-69E9-8E87-C925-4CBEE98EF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056" y="2791251"/>
            <a:ext cx="5390515" cy="27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96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ACA7-DBDD-27C8-D1A2-71BB1CEF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C21E-F405-207B-EECE-A6000D99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r>
              <a:rPr lang="en-US" dirty="0">
                <a:latin typeface="Aptos"/>
                <a:ea typeface="+mn-lt"/>
                <a:cs typeface="+mn-lt"/>
              </a:rPr>
              <a:t>Handling</a:t>
            </a:r>
            <a:r>
              <a:rPr lang="en-US" dirty="0">
                <a:ea typeface="+mn-lt"/>
                <a:cs typeface="+mn-lt"/>
              </a:rPr>
              <a:t> Finite Buffers: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Updating the code to deal with cases where buffers have limited size and see how it affects performance.</a:t>
            </a:r>
            <a:endParaRPr lang="en-US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07342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0E6B8D02-607F-4C95-9820-6385D04150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5DD1E0-6269-4F9D-AB81-80CFFC80ED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980191-A2EC-4705-B00C-727F88799727}">
  <ds:schemaRefs>
    <ds:schemaRef ds:uri="cf6b262d-64b1-48de-8710-0fc3c93bfca9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717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Alatsi</vt:lpstr>
      <vt:lpstr>Alatsi Bold</vt:lpstr>
      <vt:lpstr>Aptos</vt:lpstr>
      <vt:lpstr>Aptos Display</vt:lpstr>
      <vt:lpstr>Arial</vt:lpstr>
      <vt:lpstr>Calibri</vt:lpstr>
      <vt:lpstr>Cambria Math</vt:lpstr>
      <vt:lpstr>Courier New</vt:lpstr>
      <vt:lpstr>Open Sans Bold</vt:lpstr>
      <vt:lpstr>Office Theme</vt:lpstr>
      <vt:lpstr>PowerPoint Presentation</vt:lpstr>
      <vt:lpstr>Agenda</vt:lpstr>
      <vt:lpstr>How NoC Performance Analysis Tool is working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3</cp:revision>
  <dcterms:created xsi:type="dcterms:W3CDTF">2025-02-04T11:40:02Z</dcterms:created>
  <dcterms:modified xsi:type="dcterms:W3CDTF">2025-02-04T15:35:32Z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