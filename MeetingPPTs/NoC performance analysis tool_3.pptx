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62" r:id="rId6"/>
    <p:sldId id="258" r:id="rId7"/>
    <p:sldId id="259" r:id="rId8"/>
    <p:sldId id="276" r:id="rId9"/>
    <p:sldId id="256" r:id="rId10"/>
    <p:sldId id="260" r:id="rId11"/>
    <p:sldId id="277" r:id="rId12"/>
    <p:sldId id="278" r:id="rId13"/>
    <p:sldId id="261" r:id="rId14"/>
    <p:sldId id="275"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1F9C07-11D0-48B8-89A2-95FE672CDA94}" v="1" dt="2025-03-17T09:43:56.8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F9F49-2507-6344-F3EB-5A1178E1AC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D11BD7-C997-61CD-692D-0064C7E231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7AA8DE-E35C-B3CB-B40F-3E04B9179679}"/>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5" name="Footer Placeholder 4">
            <a:extLst>
              <a:ext uri="{FF2B5EF4-FFF2-40B4-BE49-F238E27FC236}">
                <a16:creationId xmlns:a16="http://schemas.microsoft.com/office/drawing/2014/main" id="{155AD7A6-4732-589A-26EB-E50B445042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6A9D6-8382-F0C9-211B-98EA42F193BE}"/>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3338645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7B95-90D0-194D-8BA6-4D4628E4E3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51BB36-54C7-9DC0-6CC6-BDA1B70B01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B7D321-1368-7264-8B78-9D7D4AC24897}"/>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5" name="Footer Placeholder 4">
            <a:extLst>
              <a:ext uri="{FF2B5EF4-FFF2-40B4-BE49-F238E27FC236}">
                <a16:creationId xmlns:a16="http://schemas.microsoft.com/office/drawing/2014/main" id="{B751EFE1-5825-FE39-509D-1D23EF3BCD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B1D2F2-CD32-8397-ADCC-DA669A4F6225}"/>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1709721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E33FF-76B9-3D6C-637F-B37D031C42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F04E1B-9CC3-A6AE-C4F6-390953B79F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31C322-EA1E-D8CC-09F8-FDDF942C8AA3}"/>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5" name="Footer Placeholder 4">
            <a:extLst>
              <a:ext uri="{FF2B5EF4-FFF2-40B4-BE49-F238E27FC236}">
                <a16:creationId xmlns:a16="http://schemas.microsoft.com/office/drawing/2014/main" id="{ABBA69AD-7A0F-6F89-6905-B9F3A5E20E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E2123-349B-A9B5-3760-F3E66738C6F6}"/>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1172569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2A9FD-C993-BEE8-F79B-E50F726C60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18A2DB-5E33-6B9C-2946-432742BA50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2DBC26-730C-CB2A-B66B-75902677BF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37BA09-7635-6A97-7EDD-D416519895F4}"/>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6" name="Footer Placeholder 5">
            <a:extLst>
              <a:ext uri="{FF2B5EF4-FFF2-40B4-BE49-F238E27FC236}">
                <a16:creationId xmlns:a16="http://schemas.microsoft.com/office/drawing/2014/main" id="{9CF5DB3E-4E34-6A64-8BD7-CDD2C29A1A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DAB570-35EF-BF87-5DBC-02923FBADC01}"/>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175119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C7F88-BC9F-CBC6-A4CB-3516C2CD77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7A8730-B480-EFEE-63DE-9989F68F6E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57B89D-5F3B-3EA0-2F96-5BB9506385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5C58F0-908C-300C-F349-038DD1AAF9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1595BC-59B4-F9FB-B867-8136E8434F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CD152A-6752-59F5-2BA2-703346CE4ADA}"/>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8" name="Footer Placeholder 7">
            <a:extLst>
              <a:ext uri="{FF2B5EF4-FFF2-40B4-BE49-F238E27FC236}">
                <a16:creationId xmlns:a16="http://schemas.microsoft.com/office/drawing/2014/main" id="{8F8C394D-C63D-F224-0B3C-B8D91952DE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14A4D2-F3E1-9AD7-21D7-888C09B4C439}"/>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3488045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4E88F-2B7F-8555-4F20-5F413A1EB5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771112-690F-4C74-5A21-33BF0B03B459}"/>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4" name="Footer Placeholder 3">
            <a:extLst>
              <a:ext uri="{FF2B5EF4-FFF2-40B4-BE49-F238E27FC236}">
                <a16:creationId xmlns:a16="http://schemas.microsoft.com/office/drawing/2014/main" id="{23B1BA94-4397-BD04-3AAA-4E81E47BC9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DEEEA6-83C8-A9D6-826A-49FFEC0CCD66}"/>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524740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5C533D-B1E6-3A26-2BBA-E5A7208837D8}"/>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3" name="Footer Placeholder 2">
            <a:extLst>
              <a:ext uri="{FF2B5EF4-FFF2-40B4-BE49-F238E27FC236}">
                <a16:creationId xmlns:a16="http://schemas.microsoft.com/office/drawing/2014/main" id="{D33D62BD-315B-A79E-70E2-6008F251F3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9765FC-C4EC-F60D-0E07-FA8E4BC1FFA1}"/>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63527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3B1B-5DAB-757D-0FB8-F0032858B2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CBCA47-FFCA-8624-BBAA-8C3D9B1EC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E86816-3B18-A2BB-98F3-CDD2C322F5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DBC72-1E5E-A486-C78F-4F41A44C53D8}"/>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6" name="Footer Placeholder 5">
            <a:extLst>
              <a:ext uri="{FF2B5EF4-FFF2-40B4-BE49-F238E27FC236}">
                <a16:creationId xmlns:a16="http://schemas.microsoft.com/office/drawing/2014/main" id="{0F20847B-B052-1D46-ED20-2A1205F44B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CB4F02-67ED-DC43-529C-FCEE710F0134}"/>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4347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3555-95B0-68CF-B8EB-F5FFDBE61A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5D17B1-C68B-4992-828B-410FE13D6C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28893E-80B2-ACF6-BFE2-FFA68F1F9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E0A87A-6DFB-2964-290F-F9365E8F49EE}"/>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6" name="Footer Placeholder 5">
            <a:extLst>
              <a:ext uri="{FF2B5EF4-FFF2-40B4-BE49-F238E27FC236}">
                <a16:creationId xmlns:a16="http://schemas.microsoft.com/office/drawing/2014/main" id="{6E591CEE-6332-6F91-BF90-260C33CCC9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BA19DA-D6C6-B0D1-53D1-B7BF93EE48B6}"/>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517921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F2DB7-9513-F831-E07C-7FD929EEBF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238E66-0608-0A50-2316-8BAC97DAFF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6B86F2-BEC8-013F-0BDF-5EF05D7E7C57}"/>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5" name="Footer Placeholder 4">
            <a:extLst>
              <a:ext uri="{FF2B5EF4-FFF2-40B4-BE49-F238E27FC236}">
                <a16:creationId xmlns:a16="http://schemas.microsoft.com/office/drawing/2014/main" id="{08C697B8-5CDD-654A-1C5A-9E916F00C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D8474E-3C0E-FB52-95E5-362C968E4F26}"/>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1900076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1DACAF-7FAA-C022-D2B1-8469930CEA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77CB06-633E-7343-5565-4E4BE1CE61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BCB9DA-2631-9211-4E92-2E5F32A90339}"/>
              </a:ext>
            </a:extLst>
          </p:cNvPr>
          <p:cNvSpPr>
            <a:spLocks noGrp="1"/>
          </p:cNvSpPr>
          <p:nvPr>
            <p:ph type="dt" sz="half" idx="10"/>
          </p:nvPr>
        </p:nvSpPr>
        <p:spPr/>
        <p:txBody>
          <a:bodyPr/>
          <a:lstStyle/>
          <a:p>
            <a:fld id="{8B66149D-E666-4D63-9E19-D586BC68BED1}" type="datetimeFigureOut">
              <a:rPr lang="en-US" smtClean="0"/>
              <a:t>6/11/2025</a:t>
            </a:fld>
            <a:endParaRPr lang="en-US"/>
          </a:p>
        </p:txBody>
      </p:sp>
      <p:sp>
        <p:nvSpPr>
          <p:cNvPr id="5" name="Footer Placeholder 4">
            <a:extLst>
              <a:ext uri="{FF2B5EF4-FFF2-40B4-BE49-F238E27FC236}">
                <a16:creationId xmlns:a16="http://schemas.microsoft.com/office/drawing/2014/main" id="{CA6D9CB0-4073-B38C-9893-2957BC9019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DE8D0D-A13E-8DC0-07AC-6BAA980F6995}"/>
              </a:ext>
            </a:extLst>
          </p:cNvPr>
          <p:cNvSpPr>
            <a:spLocks noGrp="1"/>
          </p:cNvSpPr>
          <p:nvPr>
            <p:ph type="sldNum" sz="quarter" idx="12"/>
          </p:nvPr>
        </p:nvSpPr>
        <p:spPr/>
        <p:txBody>
          <a:bodyPr/>
          <a:lstStyle/>
          <a:p>
            <a:fld id="{39326AC1-7594-41D1-83E3-2CB74480E29A}" type="slidenum">
              <a:rPr lang="en-US" smtClean="0"/>
              <a:t>‹#›</a:t>
            </a:fld>
            <a:endParaRPr lang="en-US"/>
          </a:p>
        </p:txBody>
      </p:sp>
    </p:spTree>
    <p:extLst>
      <p:ext uri="{BB962C8B-B14F-4D97-AF65-F5344CB8AC3E}">
        <p14:creationId xmlns:p14="http://schemas.microsoft.com/office/powerpoint/2010/main" val="4280400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E260DA-1AB4-AC4E-1780-7E2B59EFBE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659852-C30E-C99B-0753-F34C7D49BF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CF65BE-9A53-1D7E-99EF-014248ECA8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66149D-E666-4D63-9E19-D586BC68BED1}" type="datetimeFigureOut">
              <a:rPr lang="en-US" smtClean="0"/>
              <a:t>6/11/2025</a:t>
            </a:fld>
            <a:endParaRPr lang="en-US"/>
          </a:p>
        </p:txBody>
      </p:sp>
      <p:sp>
        <p:nvSpPr>
          <p:cNvPr id="5" name="Footer Placeholder 4">
            <a:extLst>
              <a:ext uri="{FF2B5EF4-FFF2-40B4-BE49-F238E27FC236}">
                <a16:creationId xmlns:a16="http://schemas.microsoft.com/office/drawing/2014/main" id="{DC2CC356-9843-80DF-CFEB-D37852B140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CB658F-37C9-6645-397A-C77177735E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326AC1-7594-41D1-83E3-2CB74480E29A}" type="slidenum">
              <a:rPr lang="en-US" smtClean="0"/>
              <a:t>‹#›</a:t>
            </a:fld>
            <a:endParaRPr lang="en-US"/>
          </a:p>
        </p:txBody>
      </p:sp>
    </p:spTree>
    <p:extLst>
      <p:ext uri="{BB962C8B-B14F-4D97-AF65-F5344CB8AC3E}">
        <p14:creationId xmlns:p14="http://schemas.microsoft.com/office/powerpoint/2010/main" val="2608725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70.png"/><Relationship Id="rId4" Type="http://schemas.openxmlformats.org/officeDocument/2006/relationships/image" Target="../media/image6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Box 143">
            <a:extLst>
              <a:ext uri="{FF2B5EF4-FFF2-40B4-BE49-F238E27FC236}">
                <a16:creationId xmlns:a16="http://schemas.microsoft.com/office/drawing/2014/main" id="{77F2B5A2-5988-EDD9-C889-B563E085F8BF}"/>
              </a:ext>
            </a:extLst>
          </p:cNvPr>
          <p:cNvSpPr txBox="1"/>
          <p:nvPr/>
        </p:nvSpPr>
        <p:spPr>
          <a:xfrm>
            <a:off x="798487" y="2715910"/>
            <a:ext cx="1026571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t>NoC Performance Analysis Tool with Hybrid Arbitration</a:t>
            </a:r>
          </a:p>
        </p:txBody>
      </p:sp>
    </p:spTree>
    <p:extLst>
      <p:ext uri="{BB962C8B-B14F-4D97-AF65-F5344CB8AC3E}">
        <p14:creationId xmlns:p14="http://schemas.microsoft.com/office/powerpoint/2010/main" val="169213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E93E9-D497-B8D1-FBE0-BA59AE4E930F}"/>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E91D21F9-8B94-A0F3-AA77-F45749723222}"/>
              </a:ext>
            </a:extLst>
          </p:cNvPr>
          <p:cNvSpPr>
            <a:spLocks noGrp="1"/>
          </p:cNvSpPr>
          <p:nvPr>
            <p:ph idx="1"/>
          </p:nvPr>
        </p:nvSpPr>
        <p:spPr/>
        <p:txBody>
          <a:bodyPr vert="horz" lIns="91440" tIns="45720" rIns="91440" bIns="45720" rtlCol="0" anchor="t">
            <a:normAutofit/>
          </a:bodyPr>
          <a:lstStyle/>
          <a:p>
            <a:r>
              <a:rPr lang="en-US" dirty="0">
                <a:ea typeface="+mn-lt"/>
                <a:cs typeface="+mn-lt"/>
              </a:rPr>
              <a:t>Recap</a:t>
            </a:r>
            <a:endParaRPr lang="en-US" dirty="0"/>
          </a:p>
          <a:p>
            <a:r>
              <a:rPr lang="en-US" dirty="0">
                <a:solidFill>
                  <a:schemeClr val="tx1">
                    <a:lumMod val="65000"/>
                    <a:lumOff val="35000"/>
                  </a:schemeClr>
                </a:solidFill>
                <a:ea typeface="+mn-lt"/>
                <a:cs typeface="+mn-lt"/>
              </a:rPr>
              <a:t>Code Changes </a:t>
            </a:r>
          </a:p>
          <a:p>
            <a:r>
              <a:rPr lang="en-US" dirty="0">
                <a:solidFill>
                  <a:schemeClr val="tx1">
                    <a:lumMod val="65000"/>
                    <a:lumOff val="35000"/>
                  </a:schemeClr>
                </a:solidFill>
                <a:ea typeface="+mn-lt"/>
                <a:cs typeface="+mn-lt"/>
              </a:rPr>
              <a:t>Back Pressure Handling</a:t>
            </a:r>
          </a:p>
          <a:p>
            <a:r>
              <a:rPr lang="en-US" dirty="0">
                <a:solidFill>
                  <a:schemeClr val="tx1">
                    <a:lumMod val="65000"/>
                    <a:lumOff val="35000"/>
                  </a:schemeClr>
                </a:solidFill>
                <a:ea typeface="+mn-lt"/>
                <a:cs typeface="+mn-lt"/>
              </a:rPr>
              <a:t>Next Steps</a:t>
            </a:r>
          </a:p>
          <a:p>
            <a:endParaRPr lang="en-US" dirty="0">
              <a:solidFill>
                <a:schemeClr val="tx1">
                  <a:lumMod val="65000"/>
                  <a:lumOff val="35000"/>
                </a:schemeClr>
              </a:solidFill>
              <a:ea typeface="+mn-lt"/>
              <a:cs typeface="+mn-lt"/>
            </a:endParaRPr>
          </a:p>
          <a:p>
            <a:endParaRPr lang="en-US" dirty="0">
              <a:solidFill>
                <a:schemeClr val="tx1">
                  <a:lumMod val="65000"/>
                  <a:lumOff val="35000"/>
                </a:schemeClr>
              </a:solidFill>
            </a:endParaRPr>
          </a:p>
        </p:txBody>
      </p:sp>
    </p:spTree>
    <p:extLst>
      <p:ext uri="{BB962C8B-B14F-4D97-AF65-F5344CB8AC3E}">
        <p14:creationId xmlns:p14="http://schemas.microsoft.com/office/powerpoint/2010/main" val="985532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0F46A-91BF-C456-E151-055405872FB6}"/>
              </a:ext>
            </a:extLst>
          </p:cNvPr>
          <p:cNvSpPr>
            <a:spLocks noGrp="1"/>
          </p:cNvSpPr>
          <p:nvPr>
            <p:ph type="title"/>
          </p:nvPr>
        </p:nvSpPr>
        <p:spPr>
          <a:xfrm>
            <a:off x="838200" y="365125"/>
            <a:ext cx="10515600" cy="640715"/>
          </a:xfrm>
          <a:solidFill>
            <a:schemeClr val="tx1"/>
          </a:solidFill>
        </p:spPr>
        <p:txBody>
          <a:bodyPr>
            <a:normAutofit/>
          </a:bodyPr>
          <a:lstStyle/>
          <a:p>
            <a:pPr algn="ctr"/>
            <a:r>
              <a:rPr lang="en-US" sz="3200" dirty="0">
                <a:solidFill>
                  <a:srgbClr val="FFC000"/>
                </a:solidFill>
                <a:ea typeface="+mj-lt"/>
                <a:cs typeface="+mj-lt"/>
              </a:rPr>
              <a:t>Updates to Class </a:t>
            </a:r>
            <a:r>
              <a:rPr lang="en-US" sz="3200" b="1" dirty="0">
                <a:solidFill>
                  <a:srgbClr val="FFC000"/>
                </a:solidFill>
                <a:latin typeface="Consolas"/>
              </a:rPr>
              <a:t>Queue</a:t>
            </a:r>
            <a:endParaRPr lang="en-US" sz="3200" b="1" dirty="0">
              <a:solidFill>
                <a:srgbClr val="FFC000"/>
              </a:solidFill>
            </a:endParaRPr>
          </a:p>
        </p:txBody>
      </p:sp>
      <p:sp>
        <p:nvSpPr>
          <p:cNvPr id="3" name="Content Placeholder 2">
            <a:extLst>
              <a:ext uri="{FF2B5EF4-FFF2-40B4-BE49-F238E27FC236}">
                <a16:creationId xmlns:a16="http://schemas.microsoft.com/office/drawing/2014/main" id="{5A11D8A7-7FF8-7610-39EF-0B116412928A}"/>
              </a:ext>
            </a:extLst>
          </p:cNvPr>
          <p:cNvSpPr>
            <a:spLocks noGrp="1"/>
          </p:cNvSpPr>
          <p:nvPr>
            <p:ph idx="1"/>
          </p:nvPr>
        </p:nvSpPr>
        <p:spPr>
          <a:xfrm>
            <a:off x="1357884" y="1236631"/>
            <a:ext cx="9476232" cy="2466690"/>
          </a:xfrm>
        </p:spPr>
        <p:txBody>
          <a:bodyPr/>
          <a:lstStyle/>
          <a:p>
            <a:r>
              <a:rPr lang="en-US" sz="2000" b="1" dirty="0">
                <a:solidFill>
                  <a:schemeClr val="tx2"/>
                </a:solidFill>
                <a:highlight>
                  <a:srgbClr val="C0C0C0"/>
                </a:highlight>
              </a:rPr>
              <a:t>New Data Member</a:t>
            </a:r>
            <a:endParaRPr lang="en-US" sz="2000" dirty="0">
              <a:solidFill>
                <a:schemeClr val="tx2"/>
              </a:solidFill>
              <a:highlight>
                <a:srgbClr val="C0C0C0"/>
              </a:highlight>
            </a:endParaRPr>
          </a:p>
          <a:p>
            <a:pPr lvl="1"/>
            <a:r>
              <a:rPr lang="en-US" sz="2000" b="1" dirty="0" err="1"/>
              <a:t>service_time</a:t>
            </a:r>
            <a:r>
              <a:rPr lang="en-US" sz="2000" b="1" dirty="0"/>
              <a:t> : </a:t>
            </a:r>
            <a:r>
              <a:rPr lang="en-US" sz="2000" dirty="0">
                <a:ea typeface="+mn-lt"/>
                <a:cs typeface="+mn-lt"/>
              </a:rPr>
              <a:t>Represents the service time of each queue.</a:t>
            </a:r>
          </a:p>
          <a:p>
            <a:pPr marL="457200" lvl="1" indent="0">
              <a:buNone/>
            </a:pPr>
            <a:endParaRPr lang="en-US" sz="2000" dirty="0">
              <a:ea typeface="+mn-lt"/>
              <a:cs typeface="+mn-lt"/>
            </a:endParaRPr>
          </a:p>
          <a:p>
            <a:r>
              <a:rPr lang="en-US" sz="2000" b="1" dirty="0">
                <a:solidFill>
                  <a:schemeClr val="accent1">
                    <a:lumMod val="50000"/>
                  </a:schemeClr>
                </a:solidFill>
                <a:highlight>
                  <a:srgbClr val="C0C0C0"/>
                </a:highlight>
              </a:rPr>
              <a:t>New Member Functions</a:t>
            </a:r>
            <a:endParaRPr lang="en-US" sz="2000" dirty="0">
              <a:solidFill>
                <a:schemeClr val="accent1">
                  <a:lumMod val="50000"/>
                </a:schemeClr>
              </a:solidFill>
              <a:highlight>
                <a:srgbClr val="C0C0C0"/>
              </a:highlight>
            </a:endParaRPr>
          </a:p>
          <a:p>
            <a:pPr lvl="1"/>
            <a:r>
              <a:rPr lang="en-US" sz="1600" b="1" dirty="0" err="1"/>
              <a:t>getServiceTime</a:t>
            </a:r>
            <a:r>
              <a:rPr lang="en-US" sz="1600" b="1" dirty="0"/>
              <a:t>() : </a:t>
            </a:r>
            <a:r>
              <a:rPr lang="en-US" sz="1600" dirty="0"/>
              <a:t>To get the service time of  each queue.</a:t>
            </a:r>
          </a:p>
          <a:p>
            <a:pPr lvl="1"/>
            <a:r>
              <a:rPr lang="en-US" sz="1600" b="1" dirty="0" err="1"/>
              <a:t>setServiceTime</a:t>
            </a:r>
            <a:r>
              <a:rPr lang="en-US" sz="1600" b="1" dirty="0"/>
              <a:t>(double &amp;</a:t>
            </a:r>
            <a:r>
              <a:rPr lang="en-US" sz="1600" b="1" dirty="0" err="1"/>
              <a:t>new_service_time</a:t>
            </a:r>
            <a:r>
              <a:rPr lang="en-US" sz="1600" b="1" dirty="0"/>
              <a:t>) : </a:t>
            </a:r>
            <a:r>
              <a:rPr lang="en-US" sz="1600" dirty="0"/>
              <a:t>To set the service time of each queue.</a:t>
            </a:r>
            <a:endParaRPr lang="en-US" sz="1600" b="1" dirty="0"/>
          </a:p>
          <a:p>
            <a:pPr lvl="1"/>
            <a:endParaRPr lang="en-US" dirty="0"/>
          </a:p>
        </p:txBody>
      </p:sp>
      <p:pic>
        <p:nvPicPr>
          <p:cNvPr id="9" name="Picture 8">
            <a:extLst>
              <a:ext uri="{FF2B5EF4-FFF2-40B4-BE49-F238E27FC236}">
                <a16:creationId xmlns:a16="http://schemas.microsoft.com/office/drawing/2014/main" id="{E72F32CC-F861-41E6-4ECF-C5E9FBEB0570}"/>
              </a:ext>
            </a:extLst>
          </p:cNvPr>
          <p:cNvPicPr>
            <a:picLocks noChangeAspect="1"/>
          </p:cNvPicPr>
          <p:nvPr/>
        </p:nvPicPr>
        <p:blipFill>
          <a:blip r:embed="rId2"/>
          <a:stretch>
            <a:fillRect/>
          </a:stretch>
        </p:blipFill>
        <p:spPr>
          <a:xfrm>
            <a:off x="1911096" y="3429000"/>
            <a:ext cx="7370063" cy="2699551"/>
          </a:xfrm>
          <a:prstGeom prst="rect">
            <a:avLst/>
          </a:prstGeom>
        </p:spPr>
      </p:pic>
    </p:spTree>
    <p:extLst>
      <p:ext uri="{BB962C8B-B14F-4D97-AF65-F5344CB8AC3E}">
        <p14:creationId xmlns:p14="http://schemas.microsoft.com/office/powerpoint/2010/main" val="3931697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2914E-F5B6-537C-99B6-DA417625D9DB}"/>
              </a:ext>
            </a:extLst>
          </p:cNvPr>
          <p:cNvSpPr>
            <a:spLocks noGrp="1"/>
          </p:cNvSpPr>
          <p:nvPr>
            <p:ph type="title"/>
          </p:nvPr>
        </p:nvSpPr>
        <p:spPr>
          <a:xfrm>
            <a:off x="838200" y="365125"/>
            <a:ext cx="10515600" cy="494411"/>
          </a:xfrm>
          <a:solidFill>
            <a:schemeClr val="tx1"/>
          </a:solidFill>
        </p:spPr>
        <p:txBody>
          <a:bodyPr>
            <a:noAutofit/>
          </a:bodyPr>
          <a:lstStyle/>
          <a:p>
            <a:r>
              <a:rPr lang="en-US" sz="3200" dirty="0">
                <a:solidFill>
                  <a:srgbClr val="FFC000"/>
                </a:solidFill>
              </a:rPr>
              <a:t>Updates</a:t>
            </a:r>
            <a:endParaRPr lang="en-US" sz="3200" b="1" dirty="0">
              <a:solidFill>
                <a:srgbClr val="FFC000"/>
              </a:solidFill>
            </a:endParaRPr>
          </a:p>
        </p:txBody>
      </p:sp>
      <p:sp>
        <p:nvSpPr>
          <p:cNvPr id="3" name="Content Placeholder 2">
            <a:extLst>
              <a:ext uri="{FF2B5EF4-FFF2-40B4-BE49-F238E27FC236}">
                <a16:creationId xmlns:a16="http://schemas.microsoft.com/office/drawing/2014/main" id="{68CA1E0F-6C68-D61D-2A33-ED1A3B2BF162}"/>
              </a:ext>
            </a:extLst>
          </p:cNvPr>
          <p:cNvSpPr>
            <a:spLocks noGrp="1"/>
          </p:cNvSpPr>
          <p:nvPr>
            <p:ph idx="1"/>
          </p:nvPr>
        </p:nvSpPr>
        <p:spPr>
          <a:xfrm>
            <a:off x="838200" y="1097280"/>
            <a:ext cx="10515600" cy="1311623"/>
          </a:xfrm>
        </p:spPr>
        <p:txBody>
          <a:bodyPr>
            <a:normAutofit/>
          </a:bodyPr>
          <a:lstStyle/>
          <a:p>
            <a:pPr marL="0" indent="0">
              <a:buNone/>
            </a:pPr>
            <a:r>
              <a:rPr lang="en-US" sz="1600" dirty="0">
                <a:solidFill>
                  <a:srgbClr val="002060"/>
                </a:solidFill>
                <a:highlight>
                  <a:srgbClr val="C0C0C0"/>
                </a:highlight>
              </a:rPr>
              <a:t>New added member in class </a:t>
            </a:r>
            <a:r>
              <a:rPr lang="en-US" sz="1600" b="1" dirty="0">
                <a:solidFill>
                  <a:srgbClr val="002060"/>
                </a:solidFill>
                <a:highlight>
                  <a:srgbClr val="C0C0C0"/>
                </a:highlight>
              </a:rPr>
              <a:t>Arbiter</a:t>
            </a:r>
          </a:p>
          <a:p>
            <a:pPr lvl="1"/>
            <a:r>
              <a:rPr lang="en-US" sz="1600" b="1" dirty="0" err="1">
                <a:ea typeface="+mn-lt"/>
                <a:cs typeface="+mn-lt"/>
              </a:rPr>
              <a:t>zero_load_latency</a:t>
            </a:r>
            <a:r>
              <a:rPr lang="en-US" sz="1600" b="1" dirty="0"/>
              <a:t>: </a:t>
            </a:r>
            <a:r>
              <a:rPr lang="en-US" sz="1600" dirty="0"/>
              <a:t>Represents zero load of the arbiter.</a:t>
            </a:r>
          </a:p>
          <a:p>
            <a:pPr lvl="1"/>
            <a:r>
              <a:rPr lang="en-US" sz="1600" b="1" dirty="0" err="1"/>
              <a:t>getZeroLoadLatency</a:t>
            </a:r>
            <a:r>
              <a:rPr lang="en-US" sz="1600" b="1" dirty="0"/>
              <a:t>(): </a:t>
            </a:r>
            <a:r>
              <a:rPr lang="en-US" sz="1600" dirty="0"/>
              <a:t>Return </a:t>
            </a:r>
            <a:r>
              <a:rPr lang="en-US" sz="1600" dirty="0" err="1"/>
              <a:t>zero_load_latency</a:t>
            </a:r>
            <a:r>
              <a:rPr lang="en-US" sz="1600" dirty="0"/>
              <a:t> of the corresponding arbiter(</a:t>
            </a:r>
            <a:r>
              <a:rPr lang="en-US" sz="1600" dirty="0" err="1"/>
              <a:t>RRarbiter</a:t>
            </a:r>
            <a:r>
              <a:rPr lang="en-US" sz="1600" dirty="0"/>
              <a:t>, </a:t>
            </a:r>
            <a:r>
              <a:rPr lang="en-US" sz="1600" dirty="0" err="1"/>
              <a:t>PRarbiter</a:t>
            </a:r>
            <a:r>
              <a:rPr lang="en-US" sz="1600" dirty="0"/>
              <a:t>).</a:t>
            </a:r>
          </a:p>
          <a:p>
            <a:pPr lvl="1"/>
            <a:r>
              <a:rPr lang="en-US" sz="1600" b="1" dirty="0" err="1"/>
              <a:t>setZeroLoadLatency</a:t>
            </a:r>
            <a:r>
              <a:rPr lang="en-US" sz="1600" b="1" dirty="0"/>
              <a:t>(): </a:t>
            </a:r>
            <a:r>
              <a:rPr lang="en-US" sz="1600" dirty="0"/>
              <a:t>set </a:t>
            </a:r>
            <a:r>
              <a:rPr lang="en-US" sz="1600" dirty="0" err="1"/>
              <a:t>zero_load_latency</a:t>
            </a:r>
            <a:r>
              <a:rPr lang="en-US" sz="1600" dirty="0"/>
              <a:t> to the arbiter (</a:t>
            </a:r>
            <a:r>
              <a:rPr lang="en-US" sz="1600" dirty="0" err="1"/>
              <a:t>RRarbiter</a:t>
            </a:r>
            <a:r>
              <a:rPr lang="en-US" sz="1600" dirty="0"/>
              <a:t>, </a:t>
            </a:r>
            <a:r>
              <a:rPr lang="en-US" sz="1600" dirty="0" err="1"/>
              <a:t>PRarbiter</a:t>
            </a:r>
            <a:r>
              <a:rPr lang="en-US" sz="1600" dirty="0"/>
              <a:t>)</a:t>
            </a:r>
          </a:p>
          <a:p>
            <a:pPr lvl="1"/>
            <a:endParaRPr lang="en-US" sz="1600" dirty="0"/>
          </a:p>
          <a:p>
            <a:pPr marL="0" indent="0">
              <a:buNone/>
            </a:pPr>
            <a:endParaRPr lang="en-US" sz="2400" dirty="0">
              <a:solidFill>
                <a:srgbClr val="002060"/>
              </a:solidFill>
            </a:endParaRPr>
          </a:p>
        </p:txBody>
      </p:sp>
      <p:sp>
        <p:nvSpPr>
          <p:cNvPr id="4" name="TextBox 3">
            <a:extLst>
              <a:ext uri="{FF2B5EF4-FFF2-40B4-BE49-F238E27FC236}">
                <a16:creationId xmlns:a16="http://schemas.microsoft.com/office/drawing/2014/main" id="{A39176B2-EB6D-9121-ABFF-18890072A49A}"/>
              </a:ext>
            </a:extLst>
          </p:cNvPr>
          <p:cNvSpPr txBox="1"/>
          <p:nvPr/>
        </p:nvSpPr>
        <p:spPr>
          <a:xfrm>
            <a:off x="1002890" y="2974258"/>
            <a:ext cx="10196052" cy="1754326"/>
          </a:xfrm>
          <a:prstGeom prst="rect">
            <a:avLst/>
          </a:prstGeom>
          <a:noFill/>
        </p:spPr>
        <p:txBody>
          <a:bodyPr wrap="square" rtlCol="0">
            <a:spAutoFit/>
          </a:bodyPr>
          <a:lstStyle/>
          <a:p>
            <a:pPr marL="0" indent="0">
              <a:buNone/>
            </a:pPr>
            <a:r>
              <a:rPr lang="en-US" b="1" dirty="0">
                <a:solidFill>
                  <a:srgbClr val="002060"/>
                </a:solidFill>
                <a:highlight>
                  <a:srgbClr val="C0C0C0"/>
                </a:highlight>
              </a:rPr>
              <a:t>Passing </a:t>
            </a:r>
            <a:r>
              <a:rPr lang="en-US" b="1" dirty="0" err="1">
                <a:solidFill>
                  <a:srgbClr val="002060"/>
                </a:solidFill>
                <a:highlight>
                  <a:srgbClr val="C0C0C0"/>
                </a:highlight>
              </a:rPr>
              <a:t>Statistics_file</a:t>
            </a:r>
            <a:r>
              <a:rPr lang="en-US" b="1" dirty="0">
                <a:solidFill>
                  <a:srgbClr val="002060"/>
                </a:solidFill>
                <a:highlight>
                  <a:srgbClr val="C0C0C0"/>
                </a:highlight>
              </a:rPr>
              <a:t> and network file through terminal </a:t>
            </a:r>
          </a:p>
          <a:p>
            <a:pPr marL="0" indent="0">
              <a:buNone/>
            </a:pPr>
            <a:endParaRPr lang="en-US" sz="1800" b="1" dirty="0">
              <a:solidFill>
                <a:srgbClr val="002060"/>
              </a:solidFill>
              <a:highlight>
                <a:srgbClr val="C0C0C0"/>
              </a:highlight>
            </a:endParaRPr>
          </a:p>
          <a:p>
            <a:pPr marL="285750" indent="-285750">
              <a:buFont typeface="Courier New" panose="02070309020205020404" pitchFamily="49" charset="0"/>
              <a:buChar char="o"/>
            </a:pPr>
            <a:r>
              <a:rPr lang="en-US" dirty="0">
                <a:solidFill>
                  <a:schemeClr val="tx1">
                    <a:lumMod val="95000"/>
                    <a:lumOff val="5000"/>
                  </a:schemeClr>
                </a:solidFill>
              </a:rPr>
              <a:t>Make</a:t>
            </a:r>
            <a:r>
              <a:rPr lang="en-US" sz="1800" dirty="0">
                <a:solidFill>
                  <a:schemeClr val="tx1">
                    <a:lumMod val="95000"/>
                    <a:lumOff val="5000"/>
                  </a:schemeClr>
                </a:solidFill>
              </a:rPr>
              <a:t> statistics.txt file</a:t>
            </a:r>
          </a:p>
          <a:p>
            <a:pPr marL="285750" indent="-285750">
              <a:buFont typeface="Courier New" panose="02070309020205020404" pitchFamily="49" charset="0"/>
              <a:buChar char="o"/>
            </a:pPr>
            <a:r>
              <a:rPr lang="en-US" sz="1800" dirty="0">
                <a:solidFill>
                  <a:schemeClr val="tx1">
                    <a:lumMod val="95000"/>
                    <a:lumOff val="5000"/>
                  </a:schemeClr>
                </a:solidFill>
              </a:rPr>
              <a:t>Make network.txt file</a:t>
            </a:r>
          </a:p>
          <a:p>
            <a:pPr marL="285750" indent="-285750">
              <a:buFont typeface="Courier New" panose="02070309020205020404" pitchFamily="49" charset="0"/>
              <a:buChar char="o"/>
            </a:pPr>
            <a:r>
              <a:rPr lang="en-US" dirty="0">
                <a:solidFill>
                  <a:schemeClr val="tx1">
                    <a:lumMod val="95000"/>
                    <a:lumOff val="5000"/>
                  </a:schemeClr>
                </a:solidFill>
              </a:rPr>
              <a:t>./main custom statistics.txt network.txt</a:t>
            </a:r>
          </a:p>
          <a:p>
            <a:pPr marL="285750" indent="-285750">
              <a:buFont typeface="Courier New" panose="02070309020205020404" pitchFamily="49" charset="0"/>
              <a:buChar char="o"/>
            </a:pPr>
            <a:endParaRPr lang="en-US" sz="1800" dirty="0">
              <a:solidFill>
                <a:schemeClr val="tx1">
                  <a:lumMod val="95000"/>
                  <a:lumOff val="5000"/>
                </a:schemeClr>
              </a:solidFill>
            </a:endParaRPr>
          </a:p>
        </p:txBody>
      </p:sp>
      <p:pic>
        <p:nvPicPr>
          <p:cNvPr id="6" name="Picture 5">
            <a:extLst>
              <a:ext uri="{FF2B5EF4-FFF2-40B4-BE49-F238E27FC236}">
                <a16:creationId xmlns:a16="http://schemas.microsoft.com/office/drawing/2014/main" id="{4C14AF49-64A5-8FAB-8F9C-FB7249E92D89}"/>
              </a:ext>
            </a:extLst>
          </p:cNvPr>
          <p:cNvPicPr>
            <a:picLocks noChangeAspect="1"/>
          </p:cNvPicPr>
          <p:nvPr/>
        </p:nvPicPr>
        <p:blipFill>
          <a:blip r:embed="rId2"/>
          <a:stretch>
            <a:fillRect/>
          </a:stretch>
        </p:blipFill>
        <p:spPr>
          <a:xfrm>
            <a:off x="1584275" y="4827639"/>
            <a:ext cx="8287312" cy="1581647"/>
          </a:xfrm>
          <a:prstGeom prst="rect">
            <a:avLst/>
          </a:prstGeom>
        </p:spPr>
      </p:pic>
      <p:cxnSp>
        <p:nvCxnSpPr>
          <p:cNvPr id="8" name="Straight Arrow Connector 7">
            <a:extLst>
              <a:ext uri="{FF2B5EF4-FFF2-40B4-BE49-F238E27FC236}">
                <a16:creationId xmlns:a16="http://schemas.microsoft.com/office/drawing/2014/main" id="{1D987EC6-B3A3-26A5-2524-B04A39F17CF6}"/>
              </a:ext>
            </a:extLst>
          </p:cNvPr>
          <p:cNvCxnSpPr>
            <a:cxnSpLocks/>
          </p:cNvCxnSpPr>
          <p:nvPr/>
        </p:nvCxnSpPr>
        <p:spPr>
          <a:xfrm flipH="1">
            <a:off x="9260705" y="5760720"/>
            <a:ext cx="1347020" cy="432619"/>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4999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FDE51-4EBF-B1AA-010D-438EAC3AE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29454-0EF5-A490-2889-8ACC11298F59}"/>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A0BF5CBF-D4E5-A0DC-BCBD-8E5362F9F0F0}"/>
              </a:ext>
            </a:extLst>
          </p:cNvPr>
          <p:cNvSpPr>
            <a:spLocks noGrp="1"/>
          </p:cNvSpPr>
          <p:nvPr>
            <p:ph idx="1"/>
          </p:nvPr>
        </p:nvSpPr>
        <p:spPr/>
        <p:txBody>
          <a:bodyPr vert="horz" lIns="91440" tIns="45720" rIns="91440" bIns="45720" rtlCol="0" anchor="t">
            <a:normAutofit/>
          </a:bodyPr>
          <a:lstStyle/>
          <a:p>
            <a:r>
              <a:rPr lang="en-US" dirty="0">
                <a:solidFill>
                  <a:schemeClr val="tx1">
                    <a:lumMod val="65000"/>
                    <a:lumOff val="35000"/>
                  </a:schemeClr>
                </a:solidFill>
                <a:ea typeface="+mn-lt"/>
                <a:cs typeface="+mn-lt"/>
              </a:rPr>
              <a:t>Recap</a:t>
            </a:r>
            <a:endParaRPr lang="en-US" dirty="0">
              <a:solidFill>
                <a:schemeClr val="tx1">
                  <a:lumMod val="65000"/>
                  <a:lumOff val="35000"/>
                </a:schemeClr>
              </a:solidFill>
            </a:endParaRPr>
          </a:p>
          <a:p>
            <a:r>
              <a:rPr lang="en-US" dirty="0">
                <a:solidFill>
                  <a:schemeClr val="tx1">
                    <a:lumMod val="65000"/>
                    <a:lumOff val="35000"/>
                  </a:schemeClr>
                </a:solidFill>
                <a:ea typeface="+mn-lt"/>
                <a:cs typeface="+mn-lt"/>
              </a:rPr>
              <a:t>Code Changes </a:t>
            </a:r>
          </a:p>
          <a:p>
            <a:r>
              <a:rPr lang="en-US" dirty="0">
                <a:ea typeface="+mn-lt"/>
                <a:cs typeface="+mn-lt"/>
              </a:rPr>
              <a:t>Back Pressure Handling</a:t>
            </a:r>
          </a:p>
          <a:p>
            <a:r>
              <a:rPr lang="en-US" dirty="0">
                <a:solidFill>
                  <a:schemeClr val="tx1">
                    <a:lumMod val="65000"/>
                    <a:lumOff val="35000"/>
                  </a:schemeClr>
                </a:solidFill>
                <a:ea typeface="+mn-lt"/>
                <a:cs typeface="+mn-lt"/>
              </a:rPr>
              <a:t>Next Steps</a:t>
            </a:r>
          </a:p>
          <a:p>
            <a:endParaRPr lang="en-US" dirty="0">
              <a:solidFill>
                <a:schemeClr val="tx1">
                  <a:lumMod val="65000"/>
                  <a:lumOff val="35000"/>
                </a:schemeClr>
              </a:solidFill>
            </a:endParaRPr>
          </a:p>
        </p:txBody>
      </p:sp>
    </p:spTree>
    <p:extLst>
      <p:ext uri="{BB962C8B-B14F-4D97-AF65-F5344CB8AC3E}">
        <p14:creationId xmlns:p14="http://schemas.microsoft.com/office/powerpoint/2010/main" val="9276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91">
            <a:extLst>
              <a:ext uri="{FF2B5EF4-FFF2-40B4-BE49-F238E27FC236}">
                <a16:creationId xmlns:a16="http://schemas.microsoft.com/office/drawing/2014/main" id="{A4AE7C11-1F47-84A8-C64A-96C2B19DC309}"/>
              </a:ext>
            </a:extLst>
          </p:cNvPr>
          <p:cNvSpPr txBox="1"/>
          <p:nvPr/>
        </p:nvSpPr>
        <p:spPr>
          <a:xfrm>
            <a:off x="301752" y="173736"/>
            <a:ext cx="11759184" cy="461665"/>
          </a:xfrm>
          <a:prstGeom prst="rect">
            <a:avLst/>
          </a:prstGeom>
          <a:solidFill>
            <a:schemeClr val="tx1"/>
          </a:solidFill>
          <a:ln>
            <a:solidFill>
              <a:schemeClr val="tx1"/>
            </a:solidFill>
          </a:ln>
        </p:spPr>
        <p:txBody>
          <a:bodyPr wrap="square" rtlCol="0">
            <a:spAutoFit/>
          </a:bodyPr>
          <a:lstStyle/>
          <a:p>
            <a:pPr algn="ctr"/>
            <a:r>
              <a:rPr lang="en-US" sz="2400" dirty="0">
                <a:solidFill>
                  <a:srgbClr val="FFC000"/>
                </a:solidFill>
              </a:rPr>
              <a:t>Handling </a:t>
            </a:r>
            <a:r>
              <a:rPr lang="en-US" sz="2400" dirty="0" err="1">
                <a:solidFill>
                  <a:srgbClr val="FFC000"/>
                </a:solidFill>
              </a:rPr>
              <a:t>BackPressure</a:t>
            </a:r>
            <a:endParaRPr lang="en-US" sz="2400" dirty="0">
              <a:solidFill>
                <a:srgbClr val="FFC000"/>
              </a:solidFill>
            </a:endParaRPr>
          </a:p>
        </p:txBody>
      </p:sp>
      <p:grpSp>
        <p:nvGrpSpPr>
          <p:cNvPr id="2" name="Group 1">
            <a:extLst>
              <a:ext uri="{FF2B5EF4-FFF2-40B4-BE49-F238E27FC236}">
                <a16:creationId xmlns:a16="http://schemas.microsoft.com/office/drawing/2014/main" id="{8FE54A46-4EA0-0DFA-7EBD-590C050A76E8}"/>
              </a:ext>
            </a:extLst>
          </p:cNvPr>
          <p:cNvGrpSpPr/>
          <p:nvPr/>
        </p:nvGrpSpPr>
        <p:grpSpPr>
          <a:xfrm>
            <a:off x="2019736" y="1673352"/>
            <a:ext cx="7705602" cy="3684094"/>
            <a:chOff x="2019736" y="1673352"/>
            <a:chExt cx="7705602" cy="3684094"/>
          </a:xfrm>
        </p:grpSpPr>
        <p:cxnSp>
          <p:nvCxnSpPr>
            <p:cNvPr id="5" name="Straight Arrow Connector 4">
              <a:extLst>
                <a:ext uri="{FF2B5EF4-FFF2-40B4-BE49-F238E27FC236}">
                  <a16:creationId xmlns:a16="http://schemas.microsoft.com/office/drawing/2014/main" id="{183C27FD-E357-1D88-EC2B-38BF15498A73}"/>
                </a:ext>
              </a:extLst>
            </p:cNvPr>
            <p:cNvCxnSpPr/>
            <p:nvPr/>
          </p:nvCxnSpPr>
          <p:spPr>
            <a:xfrm>
              <a:off x="3285227" y="3567902"/>
              <a:ext cx="142335"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79E5B58-C398-7D08-A340-D85AE56C273E}"/>
                </a:ext>
              </a:extLst>
            </p:cNvPr>
            <p:cNvCxnSpPr/>
            <p:nvPr/>
          </p:nvCxnSpPr>
          <p:spPr>
            <a:xfrm>
              <a:off x="3041639" y="2847472"/>
              <a:ext cx="142335"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84C4DA1-1B26-26B4-68D8-DBC63038E577}"/>
                </a:ext>
              </a:extLst>
            </p:cNvPr>
            <p:cNvCxnSpPr/>
            <p:nvPr/>
          </p:nvCxnSpPr>
          <p:spPr>
            <a:xfrm>
              <a:off x="3051025" y="3546875"/>
              <a:ext cx="142335"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2FBE388-4EBF-2BF0-4B27-FA9806824DD2}"/>
                </a:ext>
              </a:extLst>
            </p:cNvPr>
            <p:cNvCxnSpPr>
              <a:cxnSpLocks/>
            </p:cNvCxnSpPr>
            <p:nvPr/>
          </p:nvCxnSpPr>
          <p:spPr>
            <a:xfrm>
              <a:off x="5592359" y="4082337"/>
              <a:ext cx="353331" cy="1305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D723743-790C-B13B-EB6F-1B260A4238B9}"/>
                </a:ext>
              </a:extLst>
            </p:cNvPr>
            <p:cNvCxnSpPr>
              <a:cxnSpLocks/>
            </p:cNvCxnSpPr>
            <p:nvPr/>
          </p:nvCxnSpPr>
          <p:spPr>
            <a:xfrm flipH="1">
              <a:off x="3450557" y="2792799"/>
              <a:ext cx="14008" cy="117435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6C302A0-A48A-AA27-6E41-660D0D93EE4B}"/>
                </a:ext>
              </a:extLst>
            </p:cNvPr>
            <p:cNvSpPr/>
            <p:nvPr/>
          </p:nvSpPr>
          <p:spPr>
            <a:xfrm>
              <a:off x="2745809" y="2733302"/>
              <a:ext cx="255999" cy="21261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1" name="Rounded Rectangle 1041">
              <a:extLst>
                <a:ext uri="{FF2B5EF4-FFF2-40B4-BE49-F238E27FC236}">
                  <a16:creationId xmlns:a16="http://schemas.microsoft.com/office/drawing/2014/main" id="{CB1680DC-05F4-AA31-A0C5-7CAE2ACC9EDA}"/>
                </a:ext>
              </a:extLst>
            </p:cNvPr>
            <p:cNvSpPr/>
            <p:nvPr/>
          </p:nvSpPr>
          <p:spPr>
            <a:xfrm>
              <a:off x="2023916" y="2697382"/>
              <a:ext cx="343703" cy="28003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F1</a:t>
              </a:r>
              <a:endParaRPr lang="en-IN" sz="800" dirty="0">
                <a:solidFill>
                  <a:srgbClr val="002060"/>
                </a:solidFill>
                <a:ea typeface="Calibri"/>
                <a:cs typeface="Calibri"/>
              </a:endParaRPr>
            </a:p>
          </p:txBody>
        </p:sp>
        <p:sp>
          <p:nvSpPr>
            <p:cNvPr id="12" name="Rounded Rectangle 64">
              <a:extLst>
                <a:ext uri="{FF2B5EF4-FFF2-40B4-BE49-F238E27FC236}">
                  <a16:creationId xmlns:a16="http://schemas.microsoft.com/office/drawing/2014/main" id="{5E482923-CA45-9990-E108-365BE2772323}"/>
                </a:ext>
              </a:extLst>
            </p:cNvPr>
            <p:cNvSpPr/>
            <p:nvPr/>
          </p:nvSpPr>
          <p:spPr>
            <a:xfrm>
              <a:off x="2019736" y="3341491"/>
              <a:ext cx="356202" cy="28438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F2</a:t>
              </a:r>
              <a:endParaRPr lang="en-IN" sz="800">
                <a:solidFill>
                  <a:srgbClr val="002060"/>
                </a:solidFill>
                <a:ea typeface="Calibri"/>
                <a:cs typeface="Calibri"/>
              </a:endParaRPr>
            </a:p>
          </p:txBody>
        </p:sp>
        <p:sp>
          <p:nvSpPr>
            <p:cNvPr id="13" name="Rectangle 12">
              <a:extLst>
                <a:ext uri="{FF2B5EF4-FFF2-40B4-BE49-F238E27FC236}">
                  <a16:creationId xmlns:a16="http://schemas.microsoft.com/office/drawing/2014/main" id="{F91A0AF8-FC1B-B8CB-C432-F1A134FCBA50}"/>
                </a:ext>
              </a:extLst>
            </p:cNvPr>
            <p:cNvSpPr/>
            <p:nvPr/>
          </p:nvSpPr>
          <p:spPr>
            <a:xfrm>
              <a:off x="2586677" y="2525947"/>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Q1</a:t>
              </a:r>
              <a:endParaRPr lang="en-IN" sz="800" dirty="0">
                <a:solidFill>
                  <a:srgbClr val="002060"/>
                </a:solidFill>
                <a:ea typeface="Calibri"/>
                <a:cs typeface="Calibri"/>
              </a:endParaRPr>
            </a:p>
          </p:txBody>
        </p:sp>
        <p:sp>
          <p:nvSpPr>
            <p:cNvPr id="14" name="Rectangle 13">
              <a:extLst>
                <a:ext uri="{FF2B5EF4-FFF2-40B4-BE49-F238E27FC236}">
                  <a16:creationId xmlns:a16="http://schemas.microsoft.com/office/drawing/2014/main" id="{2B410556-AFF6-4E00-6668-50C27009E75B}"/>
                </a:ext>
              </a:extLst>
            </p:cNvPr>
            <p:cNvSpPr/>
            <p:nvPr/>
          </p:nvSpPr>
          <p:spPr>
            <a:xfrm>
              <a:off x="3254113" y="2443223"/>
              <a:ext cx="495399" cy="291770"/>
            </a:xfrm>
            <a:prstGeom prst="rect">
              <a:avLst/>
            </a:prstGeom>
            <a:ln/>
          </p:spPr>
          <p:style>
            <a:lnRef idx="0">
              <a:schemeClr val="dk1"/>
            </a:lnRef>
            <a:fillRef idx="3">
              <a:schemeClr val="dk1"/>
            </a:fillRef>
            <a:effectRef idx="3">
              <a:schemeClr val="dk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rgbClr val="00B050"/>
                  </a:solidFill>
                  <a:ea typeface="Calibri"/>
                  <a:cs typeface="Calibri"/>
                </a:rPr>
                <a:t>RR1</a:t>
              </a:r>
            </a:p>
          </p:txBody>
        </p:sp>
        <p:sp>
          <p:nvSpPr>
            <p:cNvPr id="15" name="Oval 14">
              <a:extLst>
                <a:ext uri="{FF2B5EF4-FFF2-40B4-BE49-F238E27FC236}">
                  <a16:creationId xmlns:a16="http://schemas.microsoft.com/office/drawing/2014/main" id="{CC769E5F-AACE-6C2B-AE72-930584E87EF1}"/>
                </a:ext>
              </a:extLst>
            </p:cNvPr>
            <p:cNvSpPr/>
            <p:nvPr/>
          </p:nvSpPr>
          <p:spPr>
            <a:xfrm>
              <a:off x="2539790" y="3457925"/>
              <a:ext cx="57387" cy="78411"/>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16" name="Oval 15">
              <a:extLst>
                <a:ext uri="{FF2B5EF4-FFF2-40B4-BE49-F238E27FC236}">
                  <a16:creationId xmlns:a16="http://schemas.microsoft.com/office/drawing/2014/main" id="{5AE5E69A-A91E-02E1-90CC-1487958A4210}"/>
                </a:ext>
              </a:extLst>
            </p:cNvPr>
            <p:cNvSpPr/>
            <p:nvPr/>
          </p:nvSpPr>
          <p:spPr>
            <a:xfrm>
              <a:off x="3197072" y="3513617"/>
              <a:ext cx="57387" cy="78411"/>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17" name="Oval 16">
              <a:extLst>
                <a:ext uri="{FF2B5EF4-FFF2-40B4-BE49-F238E27FC236}">
                  <a16:creationId xmlns:a16="http://schemas.microsoft.com/office/drawing/2014/main" id="{D7113D88-F486-6DD5-4045-F71CCFF6FDE3}"/>
                </a:ext>
              </a:extLst>
            </p:cNvPr>
            <p:cNvSpPr/>
            <p:nvPr/>
          </p:nvSpPr>
          <p:spPr>
            <a:xfrm>
              <a:off x="3194114" y="2807942"/>
              <a:ext cx="57387" cy="78411"/>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18" name="Oval 17">
              <a:extLst>
                <a:ext uri="{FF2B5EF4-FFF2-40B4-BE49-F238E27FC236}">
                  <a16:creationId xmlns:a16="http://schemas.microsoft.com/office/drawing/2014/main" id="{5FDA892D-857B-A820-B748-5DCC2CA89F44}"/>
                </a:ext>
              </a:extLst>
            </p:cNvPr>
            <p:cNvSpPr/>
            <p:nvPr/>
          </p:nvSpPr>
          <p:spPr>
            <a:xfrm>
              <a:off x="6371739" y="3702875"/>
              <a:ext cx="57387" cy="78411"/>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cxnSp>
          <p:nvCxnSpPr>
            <p:cNvPr id="19" name="Straight Arrow Connector 18">
              <a:extLst>
                <a:ext uri="{FF2B5EF4-FFF2-40B4-BE49-F238E27FC236}">
                  <a16:creationId xmlns:a16="http://schemas.microsoft.com/office/drawing/2014/main" id="{0057B149-D6E1-7D74-0444-1C07539A4D5D}"/>
                </a:ext>
              </a:extLst>
            </p:cNvPr>
            <p:cNvCxnSpPr>
              <a:cxnSpLocks/>
            </p:cNvCxnSpPr>
            <p:nvPr/>
          </p:nvCxnSpPr>
          <p:spPr>
            <a:xfrm>
              <a:off x="6473465" y="3753308"/>
              <a:ext cx="332214" cy="7695"/>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4460547-202C-4301-5D4D-7C11F1D7AAB5}"/>
                </a:ext>
              </a:extLst>
            </p:cNvPr>
            <p:cNvSpPr/>
            <p:nvPr/>
          </p:nvSpPr>
          <p:spPr>
            <a:xfrm>
              <a:off x="6694207" y="3340898"/>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chemeClr val="tx1"/>
                  </a:solidFill>
                  <a:ea typeface="Calibri"/>
                  <a:cs typeface="Calibri"/>
                </a:rPr>
                <a:t>SR2</a:t>
              </a:r>
            </a:p>
          </p:txBody>
        </p:sp>
        <p:sp>
          <p:nvSpPr>
            <p:cNvPr id="21" name="Rectangle 99">
              <a:extLst>
                <a:ext uri="{FF2B5EF4-FFF2-40B4-BE49-F238E27FC236}">
                  <a16:creationId xmlns:a16="http://schemas.microsoft.com/office/drawing/2014/main" id="{731B2520-342C-EFFC-294C-B1085E76FBF5}"/>
                </a:ext>
              </a:extLst>
            </p:cNvPr>
            <p:cNvSpPr/>
            <p:nvPr/>
          </p:nvSpPr>
          <p:spPr>
            <a:xfrm>
              <a:off x="6901392" y="3629305"/>
              <a:ext cx="145126" cy="22063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b="1" dirty="0">
                <a:ea typeface="Calibri"/>
                <a:cs typeface="Calibri"/>
              </a:endParaRPr>
            </a:p>
          </p:txBody>
        </p:sp>
        <p:cxnSp>
          <p:nvCxnSpPr>
            <p:cNvPr id="22" name="Straight Arrow Connector 21">
              <a:extLst>
                <a:ext uri="{FF2B5EF4-FFF2-40B4-BE49-F238E27FC236}">
                  <a16:creationId xmlns:a16="http://schemas.microsoft.com/office/drawing/2014/main" id="{B97D194C-FA64-36F6-5AEB-40EE28DCB233}"/>
                </a:ext>
              </a:extLst>
            </p:cNvPr>
            <p:cNvCxnSpPr/>
            <p:nvPr/>
          </p:nvCxnSpPr>
          <p:spPr>
            <a:xfrm>
              <a:off x="3513406" y="3552739"/>
              <a:ext cx="96424"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92E29F7-FF8D-2B19-5C7F-AA6FDF9CC550}"/>
                </a:ext>
              </a:extLst>
            </p:cNvPr>
            <p:cNvCxnSpPr/>
            <p:nvPr/>
          </p:nvCxnSpPr>
          <p:spPr>
            <a:xfrm>
              <a:off x="3728943" y="3552901"/>
              <a:ext cx="100867"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93C54D8-4ABE-CF6F-7F64-DD9FEAA0D498}"/>
                </a:ext>
              </a:extLst>
            </p:cNvPr>
            <p:cNvCxnSpPr/>
            <p:nvPr/>
          </p:nvCxnSpPr>
          <p:spPr>
            <a:xfrm>
              <a:off x="4130719" y="4056710"/>
              <a:ext cx="213523"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F1A0CD6-8D0A-A2EB-FFEE-9899F0FC251C}"/>
                </a:ext>
              </a:extLst>
            </p:cNvPr>
            <p:cNvCxnSpPr>
              <a:cxnSpLocks/>
            </p:cNvCxnSpPr>
            <p:nvPr/>
          </p:nvCxnSpPr>
          <p:spPr>
            <a:xfrm>
              <a:off x="4495985" y="4056710"/>
              <a:ext cx="205150" cy="12504"/>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A2E6F78-47D4-6976-B5BD-1491217052F6}"/>
                </a:ext>
              </a:extLst>
            </p:cNvPr>
            <p:cNvCxnSpPr>
              <a:cxnSpLocks/>
            </p:cNvCxnSpPr>
            <p:nvPr/>
          </p:nvCxnSpPr>
          <p:spPr>
            <a:xfrm>
              <a:off x="5072279" y="3610461"/>
              <a:ext cx="349606" cy="10395"/>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432DA71-2B57-3656-B107-1ED8DC8F8474}"/>
                </a:ext>
              </a:extLst>
            </p:cNvPr>
            <p:cNvCxnSpPr>
              <a:cxnSpLocks/>
            </p:cNvCxnSpPr>
            <p:nvPr/>
          </p:nvCxnSpPr>
          <p:spPr>
            <a:xfrm flipV="1">
              <a:off x="5615787" y="3597923"/>
              <a:ext cx="319734" cy="8696"/>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1ECE35F-453F-4527-2F7B-911D83FEACE9}"/>
                </a:ext>
              </a:extLst>
            </p:cNvPr>
            <p:cNvCxnSpPr>
              <a:cxnSpLocks/>
            </p:cNvCxnSpPr>
            <p:nvPr/>
          </p:nvCxnSpPr>
          <p:spPr>
            <a:xfrm flipV="1">
              <a:off x="6040649" y="3746175"/>
              <a:ext cx="294514" cy="1098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86FABB8-E48B-DC50-C773-EA2DF747890D}"/>
                </a:ext>
              </a:extLst>
            </p:cNvPr>
            <p:cNvCxnSpPr>
              <a:cxnSpLocks/>
            </p:cNvCxnSpPr>
            <p:nvPr/>
          </p:nvCxnSpPr>
          <p:spPr>
            <a:xfrm>
              <a:off x="5085488" y="4104380"/>
              <a:ext cx="323187"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0BA928D-0168-2135-5B4C-67358AA090E4}"/>
                </a:ext>
              </a:extLst>
            </p:cNvPr>
            <p:cNvCxnSpPr/>
            <p:nvPr/>
          </p:nvCxnSpPr>
          <p:spPr>
            <a:xfrm>
              <a:off x="5956754" y="3388342"/>
              <a:ext cx="0" cy="8583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7BB54CC-E390-3821-50F3-C7B5727347A9}"/>
                </a:ext>
              </a:extLst>
            </p:cNvPr>
            <p:cNvSpPr/>
            <p:nvPr/>
          </p:nvSpPr>
          <p:spPr>
            <a:xfrm>
              <a:off x="4771924" y="3967156"/>
              <a:ext cx="259610" cy="230652"/>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2" name="Rectangle 31">
              <a:extLst>
                <a:ext uri="{FF2B5EF4-FFF2-40B4-BE49-F238E27FC236}">
                  <a16:creationId xmlns:a16="http://schemas.microsoft.com/office/drawing/2014/main" id="{774E2572-28CF-6384-E97A-49076508E14C}"/>
                </a:ext>
              </a:extLst>
            </p:cNvPr>
            <p:cNvSpPr/>
            <p:nvPr/>
          </p:nvSpPr>
          <p:spPr>
            <a:xfrm>
              <a:off x="5683136" y="3119826"/>
              <a:ext cx="504770" cy="221072"/>
            </a:xfrm>
            <a:prstGeom prst="rect">
              <a:avLst/>
            </a:prstGeom>
            <a:ln/>
          </p:spPr>
          <p:style>
            <a:lnRef idx="0">
              <a:schemeClr val="dk1"/>
            </a:lnRef>
            <a:fillRef idx="3">
              <a:schemeClr val="dk1"/>
            </a:fillRef>
            <a:effectRef idx="3">
              <a:schemeClr val="dk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rgbClr val="FF0000"/>
                  </a:solidFill>
                  <a:ea typeface="Calibri"/>
                  <a:cs typeface="Calibri"/>
                </a:rPr>
                <a:t>PR1</a:t>
              </a:r>
            </a:p>
          </p:txBody>
        </p:sp>
        <p:sp>
          <p:nvSpPr>
            <p:cNvPr id="33" name="Oval 32">
              <a:extLst>
                <a:ext uri="{FF2B5EF4-FFF2-40B4-BE49-F238E27FC236}">
                  <a16:creationId xmlns:a16="http://schemas.microsoft.com/office/drawing/2014/main" id="{723CB16C-1245-E502-BDC1-A4E721AA16E3}"/>
                </a:ext>
              </a:extLst>
            </p:cNvPr>
            <p:cNvSpPr/>
            <p:nvPr/>
          </p:nvSpPr>
          <p:spPr>
            <a:xfrm>
              <a:off x="3618493" y="3522363"/>
              <a:ext cx="40668" cy="47670"/>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34" name="Oval 33">
              <a:extLst>
                <a:ext uri="{FF2B5EF4-FFF2-40B4-BE49-F238E27FC236}">
                  <a16:creationId xmlns:a16="http://schemas.microsoft.com/office/drawing/2014/main" id="{C553EE17-5C9A-5FD3-DA5A-3CC3EFA937EF}"/>
                </a:ext>
              </a:extLst>
            </p:cNvPr>
            <p:cNvSpPr/>
            <p:nvPr/>
          </p:nvSpPr>
          <p:spPr>
            <a:xfrm>
              <a:off x="4397284" y="4032875"/>
              <a:ext cx="40668" cy="47670"/>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35" name="Oval 34">
              <a:extLst>
                <a:ext uri="{FF2B5EF4-FFF2-40B4-BE49-F238E27FC236}">
                  <a16:creationId xmlns:a16="http://schemas.microsoft.com/office/drawing/2014/main" id="{A71BEE1D-7DDE-092D-D608-4388248653C1}"/>
                </a:ext>
              </a:extLst>
            </p:cNvPr>
            <p:cNvSpPr/>
            <p:nvPr/>
          </p:nvSpPr>
          <p:spPr>
            <a:xfrm>
              <a:off x="5483243" y="4056710"/>
              <a:ext cx="40668" cy="47670"/>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36" name="Oval 35">
              <a:extLst>
                <a:ext uri="{FF2B5EF4-FFF2-40B4-BE49-F238E27FC236}">
                  <a16:creationId xmlns:a16="http://schemas.microsoft.com/office/drawing/2014/main" id="{C7C75D06-59F2-0E73-B73E-839BD26E721D}"/>
                </a:ext>
              </a:extLst>
            </p:cNvPr>
            <p:cNvSpPr/>
            <p:nvPr/>
          </p:nvSpPr>
          <p:spPr>
            <a:xfrm>
              <a:off x="5472926" y="3580292"/>
              <a:ext cx="40668" cy="47670"/>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37" name="Rectangle 36">
              <a:extLst>
                <a:ext uri="{FF2B5EF4-FFF2-40B4-BE49-F238E27FC236}">
                  <a16:creationId xmlns:a16="http://schemas.microsoft.com/office/drawing/2014/main" id="{2A223658-5458-0E99-E43A-9AAF40D58C9C}"/>
                </a:ext>
              </a:extLst>
            </p:cNvPr>
            <p:cNvSpPr/>
            <p:nvPr/>
          </p:nvSpPr>
          <p:spPr>
            <a:xfrm>
              <a:off x="3683538" y="3182075"/>
              <a:ext cx="498295" cy="143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rgbClr val="002060"/>
                  </a:solidFill>
                  <a:ea typeface="Calibri"/>
                  <a:cs typeface="Calibri"/>
                </a:rPr>
                <a:t>SR1</a:t>
              </a:r>
            </a:p>
          </p:txBody>
        </p:sp>
        <p:cxnSp>
          <p:nvCxnSpPr>
            <p:cNvPr id="38" name="Straight Arrow Connector 37">
              <a:extLst>
                <a:ext uri="{FF2B5EF4-FFF2-40B4-BE49-F238E27FC236}">
                  <a16:creationId xmlns:a16="http://schemas.microsoft.com/office/drawing/2014/main" id="{003B80E2-E5FC-868B-065D-9F2342691D74}"/>
                </a:ext>
              </a:extLst>
            </p:cNvPr>
            <p:cNvCxnSpPr>
              <a:cxnSpLocks/>
            </p:cNvCxnSpPr>
            <p:nvPr/>
          </p:nvCxnSpPr>
          <p:spPr>
            <a:xfrm>
              <a:off x="3991677" y="3605000"/>
              <a:ext cx="278084"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F4CBA28C-358D-3FA9-C923-87577A96FF17}"/>
                </a:ext>
              </a:extLst>
            </p:cNvPr>
            <p:cNvSpPr/>
            <p:nvPr/>
          </p:nvSpPr>
          <p:spPr>
            <a:xfrm>
              <a:off x="4380221" y="3573884"/>
              <a:ext cx="40668" cy="47670"/>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40" name="Rectangle 99">
              <a:extLst>
                <a:ext uri="{FF2B5EF4-FFF2-40B4-BE49-F238E27FC236}">
                  <a16:creationId xmlns:a16="http://schemas.microsoft.com/office/drawing/2014/main" id="{6F359A92-F735-C8E1-4F56-65740558ACCF}"/>
                </a:ext>
              </a:extLst>
            </p:cNvPr>
            <p:cNvSpPr/>
            <p:nvPr/>
          </p:nvSpPr>
          <p:spPr>
            <a:xfrm>
              <a:off x="3828399" y="3476327"/>
              <a:ext cx="181796" cy="2127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b="1" dirty="0">
                <a:ea typeface="Calibri"/>
                <a:cs typeface="Calibri"/>
              </a:endParaRPr>
            </a:p>
          </p:txBody>
        </p:sp>
        <p:cxnSp>
          <p:nvCxnSpPr>
            <p:cNvPr id="41" name="Straight Arrow Connector 40">
              <a:extLst>
                <a:ext uri="{FF2B5EF4-FFF2-40B4-BE49-F238E27FC236}">
                  <a16:creationId xmlns:a16="http://schemas.microsoft.com/office/drawing/2014/main" id="{DA49D79C-F66D-0135-E460-68AE7EB26703}"/>
                </a:ext>
              </a:extLst>
            </p:cNvPr>
            <p:cNvCxnSpPr>
              <a:cxnSpLocks/>
            </p:cNvCxnSpPr>
            <p:nvPr/>
          </p:nvCxnSpPr>
          <p:spPr>
            <a:xfrm>
              <a:off x="2627218" y="3510673"/>
              <a:ext cx="142335"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76E81622-B7D5-90D3-8902-DB80F5EDA008}"/>
                </a:ext>
              </a:extLst>
            </p:cNvPr>
            <p:cNvSpPr/>
            <p:nvPr/>
          </p:nvSpPr>
          <p:spPr>
            <a:xfrm>
              <a:off x="2537512" y="2784143"/>
              <a:ext cx="57387" cy="78411"/>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sp>
          <p:nvSpPr>
            <p:cNvPr id="43" name="Rectangle 42">
              <a:extLst>
                <a:ext uri="{FF2B5EF4-FFF2-40B4-BE49-F238E27FC236}">
                  <a16:creationId xmlns:a16="http://schemas.microsoft.com/office/drawing/2014/main" id="{2D7096ED-6339-61C8-F00B-C9774D5B399F}"/>
                </a:ext>
              </a:extLst>
            </p:cNvPr>
            <p:cNvSpPr/>
            <p:nvPr/>
          </p:nvSpPr>
          <p:spPr>
            <a:xfrm>
              <a:off x="2778809" y="3423818"/>
              <a:ext cx="260020" cy="22312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cxnSp>
          <p:nvCxnSpPr>
            <p:cNvPr id="44" name="Straight Arrow Connector 43">
              <a:extLst>
                <a:ext uri="{FF2B5EF4-FFF2-40B4-BE49-F238E27FC236}">
                  <a16:creationId xmlns:a16="http://schemas.microsoft.com/office/drawing/2014/main" id="{0C46F5B3-92D1-279C-7BCD-6915B8E861D7}"/>
                </a:ext>
              </a:extLst>
            </p:cNvPr>
            <p:cNvCxnSpPr>
              <a:cxnSpLocks/>
            </p:cNvCxnSpPr>
            <p:nvPr/>
          </p:nvCxnSpPr>
          <p:spPr>
            <a:xfrm>
              <a:off x="2380231" y="3490260"/>
              <a:ext cx="142335"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2D2F615-3B87-68F1-ABD0-C57C26863124}"/>
                </a:ext>
              </a:extLst>
            </p:cNvPr>
            <p:cNvCxnSpPr>
              <a:cxnSpLocks/>
            </p:cNvCxnSpPr>
            <p:nvPr/>
          </p:nvCxnSpPr>
          <p:spPr>
            <a:xfrm>
              <a:off x="3290992" y="2861188"/>
              <a:ext cx="142335"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2E19815-0675-A976-554A-DDEE1F2359F7}"/>
                </a:ext>
              </a:extLst>
            </p:cNvPr>
            <p:cNvCxnSpPr>
              <a:cxnSpLocks/>
            </p:cNvCxnSpPr>
            <p:nvPr/>
          </p:nvCxnSpPr>
          <p:spPr>
            <a:xfrm>
              <a:off x="2380230" y="2838428"/>
              <a:ext cx="142335"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99F6240-5667-DA4A-A46F-025478D05DD7}"/>
                </a:ext>
              </a:extLst>
            </p:cNvPr>
            <p:cNvCxnSpPr>
              <a:cxnSpLocks/>
            </p:cNvCxnSpPr>
            <p:nvPr/>
          </p:nvCxnSpPr>
          <p:spPr>
            <a:xfrm>
              <a:off x="2609606" y="2863502"/>
              <a:ext cx="142335"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EDDA3C2-5270-1155-7188-7CC99CD52C19}"/>
                </a:ext>
              </a:extLst>
            </p:cNvPr>
            <p:cNvSpPr/>
            <p:nvPr/>
          </p:nvSpPr>
          <p:spPr>
            <a:xfrm>
              <a:off x="2605186" y="3209318"/>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Q2</a:t>
              </a:r>
              <a:endParaRPr lang="en-IN" sz="800" dirty="0">
                <a:solidFill>
                  <a:srgbClr val="002060"/>
                </a:solidFill>
                <a:ea typeface="Calibri"/>
                <a:cs typeface="Calibri"/>
              </a:endParaRPr>
            </a:p>
          </p:txBody>
        </p:sp>
        <p:sp>
          <p:nvSpPr>
            <p:cNvPr id="49" name="Rectangle 48">
              <a:extLst>
                <a:ext uri="{FF2B5EF4-FFF2-40B4-BE49-F238E27FC236}">
                  <a16:creationId xmlns:a16="http://schemas.microsoft.com/office/drawing/2014/main" id="{37D0A8B3-AE28-37D6-5EFD-0177FDAE576A}"/>
                </a:ext>
              </a:extLst>
            </p:cNvPr>
            <p:cNvSpPr/>
            <p:nvPr/>
          </p:nvSpPr>
          <p:spPr>
            <a:xfrm>
              <a:off x="4771923" y="3490709"/>
              <a:ext cx="259611" cy="23065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0" name="Oval 49">
              <a:extLst>
                <a:ext uri="{FF2B5EF4-FFF2-40B4-BE49-F238E27FC236}">
                  <a16:creationId xmlns:a16="http://schemas.microsoft.com/office/drawing/2014/main" id="{E6F5CB09-A38C-2FE1-3448-345342C8BE04}"/>
                </a:ext>
              </a:extLst>
            </p:cNvPr>
            <p:cNvSpPr/>
            <p:nvPr/>
          </p:nvSpPr>
          <p:spPr>
            <a:xfrm>
              <a:off x="7360728" y="3702875"/>
              <a:ext cx="57387" cy="78411"/>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cxnSp>
          <p:nvCxnSpPr>
            <p:cNvPr id="51" name="Straight Arrow Connector 50">
              <a:extLst>
                <a:ext uri="{FF2B5EF4-FFF2-40B4-BE49-F238E27FC236}">
                  <a16:creationId xmlns:a16="http://schemas.microsoft.com/office/drawing/2014/main" id="{7E7C0CAF-5CD7-07AA-F093-7B4C358ECBA3}"/>
                </a:ext>
              </a:extLst>
            </p:cNvPr>
            <p:cNvCxnSpPr>
              <a:cxnSpLocks/>
            </p:cNvCxnSpPr>
            <p:nvPr/>
          </p:nvCxnSpPr>
          <p:spPr>
            <a:xfrm>
              <a:off x="7073950" y="3753308"/>
              <a:ext cx="259346"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FBA88EF-A97C-FB3A-E8D6-D0F1C54407AA}"/>
                </a:ext>
              </a:extLst>
            </p:cNvPr>
            <p:cNvCxnSpPr>
              <a:cxnSpLocks/>
            </p:cNvCxnSpPr>
            <p:nvPr/>
          </p:nvCxnSpPr>
          <p:spPr>
            <a:xfrm>
              <a:off x="7488449" y="3738590"/>
              <a:ext cx="195384" cy="0"/>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D5D0CDD0-636D-EE09-1C05-F5E4D02458DF}"/>
                </a:ext>
              </a:extLst>
            </p:cNvPr>
            <p:cNvSpPr/>
            <p:nvPr/>
          </p:nvSpPr>
          <p:spPr>
            <a:xfrm>
              <a:off x="7756925" y="3614788"/>
              <a:ext cx="286351" cy="19932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4" name="Rectangle 53">
              <a:extLst>
                <a:ext uri="{FF2B5EF4-FFF2-40B4-BE49-F238E27FC236}">
                  <a16:creationId xmlns:a16="http://schemas.microsoft.com/office/drawing/2014/main" id="{01C84BDD-BC96-6519-3BEA-61103126073E}"/>
                </a:ext>
              </a:extLst>
            </p:cNvPr>
            <p:cNvSpPr/>
            <p:nvPr/>
          </p:nvSpPr>
          <p:spPr>
            <a:xfrm>
              <a:off x="4595586" y="3209318"/>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Q3</a:t>
              </a:r>
              <a:endParaRPr lang="en-IN" sz="800" dirty="0">
                <a:solidFill>
                  <a:srgbClr val="002060"/>
                </a:solidFill>
                <a:ea typeface="Calibri"/>
                <a:cs typeface="Calibri"/>
              </a:endParaRPr>
            </a:p>
          </p:txBody>
        </p:sp>
        <p:sp>
          <p:nvSpPr>
            <p:cNvPr id="55" name="Rectangle 54">
              <a:extLst>
                <a:ext uri="{FF2B5EF4-FFF2-40B4-BE49-F238E27FC236}">
                  <a16:creationId xmlns:a16="http://schemas.microsoft.com/office/drawing/2014/main" id="{E4908E1B-1823-9217-E9F1-5809A698E3C3}"/>
                </a:ext>
              </a:extLst>
            </p:cNvPr>
            <p:cNvSpPr/>
            <p:nvPr/>
          </p:nvSpPr>
          <p:spPr>
            <a:xfrm>
              <a:off x="4603049" y="4206314"/>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Q4</a:t>
              </a:r>
              <a:endParaRPr lang="en-IN" sz="800" dirty="0">
                <a:solidFill>
                  <a:srgbClr val="002060"/>
                </a:solidFill>
                <a:ea typeface="Calibri"/>
                <a:cs typeface="Calibri"/>
              </a:endParaRPr>
            </a:p>
          </p:txBody>
        </p:sp>
        <p:sp>
          <p:nvSpPr>
            <p:cNvPr id="56" name="Oval 55">
              <a:extLst>
                <a:ext uri="{FF2B5EF4-FFF2-40B4-BE49-F238E27FC236}">
                  <a16:creationId xmlns:a16="http://schemas.microsoft.com/office/drawing/2014/main" id="{3E6588D0-0774-F249-3F81-FBB9746E890F}"/>
                </a:ext>
              </a:extLst>
            </p:cNvPr>
            <p:cNvSpPr/>
            <p:nvPr/>
          </p:nvSpPr>
          <p:spPr>
            <a:xfrm>
              <a:off x="8243329" y="3721366"/>
              <a:ext cx="57387" cy="78411"/>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cxnSp>
          <p:nvCxnSpPr>
            <p:cNvPr id="57" name="Straight Arrow Connector 56">
              <a:extLst>
                <a:ext uri="{FF2B5EF4-FFF2-40B4-BE49-F238E27FC236}">
                  <a16:creationId xmlns:a16="http://schemas.microsoft.com/office/drawing/2014/main" id="{7B7CCA43-76E9-0902-FDDA-6A400A18E501}"/>
                </a:ext>
              </a:extLst>
            </p:cNvPr>
            <p:cNvCxnSpPr>
              <a:cxnSpLocks/>
            </p:cNvCxnSpPr>
            <p:nvPr/>
          </p:nvCxnSpPr>
          <p:spPr>
            <a:xfrm>
              <a:off x="8373808" y="3756087"/>
              <a:ext cx="178832" cy="18897"/>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E20E421-8516-8762-D831-65EEA4B3A0A6}"/>
                </a:ext>
              </a:extLst>
            </p:cNvPr>
            <p:cNvCxnSpPr>
              <a:cxnSpLocks/>
            </p:cNvCxnSpPr>
            <p:nvPr/>
          </p:nvCxnSpPr>
          <p:spPr>
            <a:xfrm>
              <a:off x="8048794" y="3730893"/>
              <a:ext cx="178832" cy="18897"/>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8C037F79-3363-1840-7CF1-45EC5C291E76}"/>
                </a:ext>
              </a:extLst>
            </p:cNvPr>
            <p:cNvCxnSpPr>
              <a:cxnSpLocks/>
            </p:cNvCxnSpPr>
            <p:nvPr/>
          </p:nvCxnSpPr>
          <p:spPr>
            <a:xfrm>
              <a:off x="4495985" y="3602270"/>
              <a:ext cx="220004" cy="9655"/>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0" name="Rounded Rectangle 64">
              <a:extLst>
                <a:ext uri="{FF2B5EF4-FFF2-40B4-BE49-F238E27FC236}">
                  <a16:creationId xmlns:a16="http://schemas.microsoft.com/office/drawing/2014/main" id="{58C300F0-F07C-C78B-C862-8C574A386B91}"/>
                </a:ext>
              </a:extLst>
            </p:cNvPr>
            <p:cNvSpPr/>
            <p:nvPr/>
          </p:nvSpPr>
          <p:spPr>
            <a:xfrm>
              <a:off x="3712047" y="3938353"/>
              <a:ext cx="356202" cy="28438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F3</a:t>
              </a:r>
              <a:endParaRPr lang="en-IN" sz="800" dirty="0">
                <a:solidFill>
                  <a:srgbClr val="002060"/>
                </a:solidFill>
                <a:ea typeface="Calibri"/>
                <a:cs typeface="Calibri"/>
              </a:endParaRPr>
            </a:p>
          </p:txBody>
        </p:sp>
        <p:sp>
          <p:nvSpPr>
            <p:cNvPr id="61" name="Rectangle 60">
              <a:extLst>
                <a:ext uri="{FF2B5EF4-FFF2-40B4-BE49-F238E27FC236}">
                  <a16:creationId xmlns:a16="http://schemas.microsoft.com/office/drawing/2014/main" id="{A0CE6815-B76C-84E1-C4FB-A2C26AF362F5}"/>
                </a:ext>
              </a:extLst>
            </p:cNvPr>
            <p:cNvSpPr/>
            <p:nvPr/>
          </p:nvSpPr>
          <p:spPr>
            <a:xfrm>
              <a:off x="2301562" y="2555699"/>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N1</a:t>
              </a:r>
              <a:endParaRPr lang="en-IN" sz="800" dirty="0">
                <a:solidFill>
                  <a:srgbClr val="002060"/>
                </a:solidFill>
                <a:ea typeface="Calibri"/>
                <a:cs typeface="Calibri"/>
              </a:endParaRPr>
            </a:p>
          </p:txBody>
        </p:sp>
        <p:sp>
          <p:nvSpPr>
            <p:cNvPr id="62" name="Rectangle 61">
              <a:extLst>
                <a:ext uri="{FF2B5EF4-FFF2-40B4-BE49-F238E27FC236}">
                  <a16:creationId xmlns:a16="http://schemas.microsoft.com/office/drawing/2014/main" id="{B2E17AD9-8F90-C610-0F25-D803099601E3}"/>
                </a:ext>
              </a:extLst>
            </p:cNvPr>
            <p:cNvSpPr/>
            <p:nvPr/>
          </p:nvSpPr>
          <p:spPr>
            <a:xfrm>
              <a:off x="2298578" y="3579639"/>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N2</a:t>
              </a:r>
              <a:endParaRPr lang="en-IN" sz="800" dirty="0">
                <a:solidFill>
                  <a:srgbClr val="002060"/>
                </a:solidFill>
                <a:ea typeface="Calibri"/>
                <a:cs typeface="Calibri"/>
              </a:endParaRPr>
            </a:p>
          </p:txBody>
        </p:sp>
        <p:sp>
          <p:nvSpPr>
            <p:cNvPr id="63" name="Rectangle 62">
              <a:extLst>
                <a:ext uri="{FF2B5EF4-FFF2-40B4-BE49-F238E27FC236}">
                  <a16:creationId xmlns:a16="http://schemas.microsoft.com/office/drawing/2014/main" id="{A844A1B9-18EB-EA21-41E9-1C05D5ABC41D}"/>
                </a:ext>
              </a:extLst>
            </p:cNvPr>
            <p:cNvSpPr/>
            <p:nvPr/>
          </p:nvSpPr>
          <p:spPr>
            <a:xfrm>
              <a:off x="2884934" y="2542706"/>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N3</a:t>
              </a:r>
              <a:endParaRPr lang="en-IN" sz="800" dirty="0">
                <a:solidFill>
                  <a:srgbClr val="002060"/>
                </a:solidFill>
                <a:ea typeface="Calibri"/>
                <a:cs typeface="Calibri"/>
              </a:endParaRPr>
            </a:p>
          </p:txBody>
        </p:sp>
        <p:sp>
          <p:nvSpPr>
            <p:cNvPr id="64" name="Rectangle 63">
              <a:extLst>
                <a:ext uri="{FF2B5EF4-FFF2-40B4-BE49-F238E27FC236}">
                  <a16:creationId xmlns:a16="http://schemas.microsoft.com/office/drawing/2014/main" id="{F4429DAA-B812-F918-85B1-82861A9CF09F}"/>
                </a:ext>
              </a:extLst>
            </p:cNvPr>
            <p:cNvSpPr/>
            <p:nvPr/>
          </p:nvSpPr>
          <p:spPr>
            <a:xfrm>
              <a:off x="2937806" y="3643215"/>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N4</a:t>
              </a:r>
              <a:endParaRPr lang="en-IN" sz="800" dirty="0">
                <a:solidFill>
                  <a:srgbClr val="002060"/>
                </a:solidFill>
                <a:ea typeface="Calibri"/>
                <a:cs typeface="Calibri"/>
              </a:endParaRPr>
            </a:p>
          </p:txBody>
        </p:sp>
        <p:sp>
          <p:nvSpPr>
            <p:cNvPr id="65" name="Rectangle 64">
              <a:extLst>
                <a:ext uri="{FF2B5EF4-FFF2-40B4-BE49-F238E27FC236}">
                  <a16:creationId xmlns:a16="http://schemas.microsoft.com/office/drawing/2014/main" id="{7EF84801-2010-F495-2431-17DEAD67C8B7}"/>
                </a:ext>
              </a:extLst>
            </p:cNvPr>
            <p:cNvSpPr/>
            <p:nvPr/>
          </p:nvSpPr>
          <p:spPr>
            <a:xfrm>
              <a:off x="3369604" y="3300336"/>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N5</a:t>
              </a:r>
              <a:endParaRPr lang="en-IN" sz="800" dirty="0">
                <a:solidFill>
                  <a:srgbClr val="002060"/>
                </a:solidFill>
                <a:ea typeface="Calibri"/>
                <a:cs typeface="Calibri"/>
              </a:endParaRPr>
            </a:p>
          </p:txBody>
        </p:sp>
        <p:sp>
          <p:nvSpPr>
            <p:cNvPr id="66" name="Rectangle 65">
              <a:extLst>
                <a:ext uri="{FF2B5EF4-FFF2-40B4-BE49-F238E27FC236}">
                  <a16:creationId xmlns:a16="http://schemas.microsoft.com/office/drawing/2014/main" id="{5AD42C67-6982-0C6F-CEDC-A602A5D0CC22}"/>
                </a:ext>
              </a:extLst>
            </p:cNvPr>
            <p:cNvSpPr/>
            <p:nvPr/>
          </p:nvSpPr>
          <p:spPr>
            <a:xfrm>
              <a:off x="4155722" y="3350349"/>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N6</a:t>
              </a:r>
              <a:endParaRPr lang="en-IN" sz="800" dirty="0">
                <a:solidFill>
                  <a:srgbClr val="002060"/>
                </a:solidFill>
                <a:ea typeface="Calibri"/>
                <a:cs typeface="Calibri"/>
              </a:endParaRPr>
            </a:p>
          </p:txBody>
        </p:sp>
        <p:sp>
          <p:nvSpPr>
            <p:cNvPr id="67" name="Rectangle 66">
              <a:extLst>
                <a:ext uri="{FF2B5EF4-FFF2-40B4-BE49-F238E27FC236}">
                  <a16:creationId xmlns:a16="http://schemas.microsoft.com/office/drawing/2014/main" id="{F9120A7F-ACA7-3309-3D54-82230EF25FF5}"/>
                </a:ext>
              </a:extLst>
            </p:cNvPr>
            <p:cNvSpPr/>
            <p:nvPr/>
          </p:nvSpPr>
          <p:spPr>
            <a:xfrm>
              <a:off x="4154300" y="4098741"/>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N7</a:t>
              </a:r>
              <a:endParaRPr lang="en-IN" sz="800" dirty="0">
                <a:solidFill>
                  <a:srgbClr val="002060"/>
                </a:solidFill>
                <a:ea typeface="Calibri"/>
                <a:cs typeface="Calibri"/>
              </a:endParaRPr>
            </a:p>
          </p:txBody>
        </p:sp>
        <p:sp>
          <p:nvSpPr>
            <p:cNvPr id="68" name="Rectangle 67">
              <a:extLst>
                <a:ext uri="{FF2B5EF4-FFF2-40B4-BE49-F238E27FC236}">
                  <a16:creationId xmlns:a16="http://schemas.microsoft.com/office/drawing/2014/main" id="{A82E1440-A055-1301-AA0F-7BDEB69E27F1}"/>
                </a:ext>
              </a:extLst>
            </p:cNvPr>
            <p:cNvSpPr/>
            <p:nvPr/>
          </p:nvSpPr>
          <p:spPr>
            <a:xfrm>
              <a:off x="5233846" y="4152927"/>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N9</a:t>
              </a:r>
              <a:endParaRPr lang="en-IN" sz="800" dirty="0">
                <a:solidFill>
                  <a:srgbClr val="002060"/>
                </a:solidFill>
                <a:ea typeface="Calibri"/>
                <a:cs typeface="Calibri"/>
              </a:endParaRPr>
            </a:p>
          </p:txBody>
        </p:sp>
        <p:sp>
          <p:nvSpPr>
            <p:cNvPr id="69" name="Rectangle 68">
              <a:extLst>
                <a:ext uri="{FF2B5EF4-FFF2-40B4-BE49-F238E27FC236}">
                  <a16:creationId xmlns:a16="http://schemas.microsoft.com/office/drawing/2014/main" id="{5CF70982-FCB4-60D1-C2EE-9725993B4596}"/>
                </a:ext>
              </a:extLst>
            </p:cNvPr>
            <p:cNvSpPr/>
            <p:nvPr/>
          </p:nvSpPr>
          <p:spPr>
            <a:xfrm>
              <a:off x="5169742" y="3362054"/>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N8</a:t>
              </a:r>
              <a:endParaRPr lang="en-IN" sz="800" dirty="0">
                <a:solidFill>
                  <a:srgbClr val="002060"/>
                </a:solidFill>
                <a:ea typeface="Calibri"/>
                <a:cs typeface="Calibri"/>
              </a:endParaRPr>
            </a:p>
          </p:txBody>
        </p:sp>
        <p:sp>
          <p:nvSpPr>
            <p:cNvPr id="70" name="Rectangle 69">
              <a:extLst>
                <a:ext uri="{FF2B5EF4-FFF2-40B4-BE49-F238E27FC236}">
                  <a16:creationId xmlns:a16="http://schemas.microsoft.com/office/drawing/2014/main" id="{6460CE8D-B49D-906E-DD80-9A2D2BC1488E}"/>
                </a:ext>
              </a:extLst>
            </p:cNvPr>
            <p:cNvSpPr/>
            <p:nvPr/>
          </p:nvSpPr>
          <p:spPr>
            <a:xfrm>
              <a:off x="6148170" y="3465529"/>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N10</a:t>
              </a:r>
              <a:endParaRPr lang="en-IN" sz="800" dirty="0">
                <a:solidFill>
                  <a:srgbClr val="002060"/>
                </a:solidFill>
                <a:ea typeface="Calibri"/>
                <a:cs typeface="Calibri"/>
              </a:endParaRPr>
            </a:p>
          </p:txBody>
        </p:sp>
        <p:sp>
          <p:nvSpPr>
            <p:cNvPr id="71" name="Rectangle 70">
              <a:extLst>
                <a:ext uri="{FF2B5EF4-FFF2-40B4-BE49-F238E27FC236}">
                  <a16:creationId xmlns:a16="http://schemas.microsoft.com/office/drawing/2014/main" id="{67F7A4DF-7830-8A97-9219-4B3A2EB8635B}"/>
                </a:ext>
              </a:extLst>
            </p:cNvPr>
            <p:cNvSpPr/>
            <p:nvPr/>
          </p:nvSpPr>
          <p:spPr>
            <a:xfrm>
              <a:off x="7138577" y="3457925"/>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N11</a:t>
              </a:r>
              <a:endParaRPr lang="en-IN" sz="800" dirty="0">
                <a:solidFill>
                  <a:srgbClr val="002060"/>
                </a:solidFill>
                <a:ea typeface="Calibri"/>
                <a:cs typeface="Calibri"/>
              </a:endParaRPr>
            </a:p>
          </p:txBody>
        </p:sp>
        <p:sp>
          <p:nvSpPr>
            <p:cNvPr id="72" name="Rectangle 71">
              <a:extLst>
                <a:ext uri="{FF2B5EF4-FFF2-40B4-BE49-F238E27FC236}">
                  <a16:creationId xmlns:a16="http://schemas.microsoft.com/office/drawing/2014/main" id="{19E8FE36-1CA8-0E82-AF4B-398D30877DD4}"/>
                </a:ext>
              </a:extLst>
            </p:cNvPr>
            <p:cNvSpPr/>
            <p:nvPr/>
          </p:nvSpPr>
          <p:spPr>
            <a:xfrm>
              <a:off x="8004889" y="3484646"/>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N12</a:t>
              </a:r>
              <a:endParaRPr lang="en-IN" sz="800" dirty="0">
                <a:solidFill>
                  <a:srgbClr val="002060"/>
                </a:solidFill>
                <a:ea typeface="Calibri"/>
                <a:cs typeface="Calibri"/>
              </a:endParaRPr>
            </a:p>
          </p:txBody>
        </p:sp>
        <p:sp>
          <p:nvSpPr>
            <p:cNvPr id="73" name="Rectangle 72">
              <a:extLst>
                <a:ext uri="{FF2B5EF4-FFF2-40B4-BE49-F238E27FC236}">
                  <a16:creationId xmlns:a16="http://schemas.microsoft.com/office/drawing/2014/main" id="{8CCE58E3-954A-7CA1-548E-3CAF23AD56CE}"/>
                </a:ext>
              </a:extLst>
            </p:cNvPr>
            <p:cNvSpPr/>
            <p:nvPr/>
          </p:nvSpPr>
          <p:spPr>
            <a:xfrm>
              <a:off x="9165842" y="3637060"/>
              <a:ext cx="559496" cy="21822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chemeClr val="tx1"/>
                  </a:solidFill>
                  <a:ea typeface="Calibri"/>
                  <a:cs typeface="Calibri"/>
                </a:rPr>
                <a:t>Sink</a:t>
              </a:r>
            </a:p>
          </p:txBody>
        </p:sp>
        <p:sp>
          <p:nvSpPr>
            <p:cNvPr id="74" name="Rectangle 73">
              <a:extLst>
                <a:ext uri="{FF2B5EF4-FFF2-40B4-BE49-F238E27FC236}">
                  <a16:creationId xmlns:a16="http://schemas.microsoft.com/office/drawing/2014/main" id="{3C2DB68F-9C93-5B1C-5556-0B3A12019766}"/>
                </a:ext>
              </a:extLst>
            </p:cNvPr>
            <p:cNvSpPr/>
            <p:nvPr/>
          </p:nvSpPr>
          <p:spPr>
            <a:xfrm>
              <a:off x="7597462" y="3880512"/>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dirty="0">
                  <a:solidFill>
                    <a:srgbClr val="002060"/>
                  </a:solidFill>
                </a:rPr>
                <a:t>Q5</a:t>
              </a:r>
              <a:endParaRPr lang="en-IN" sz="1100" b="1" dirty="0">
                <a:solidFill>
                  <a:srgbClr val="002060"/>
                </a:solidFill>
                <a:ea typeface="Calibri"/>
                <a:cs typeface="Calibri"/>
              </a:endParaRPr>
            </a:p>
          </p:txBody>
        </p:sp>
        <p:cxnSp>
          <p:nvCxnSpPr>
            <p:cNvPr id="75" name="Straight Arrow Connector 74">
              <a:extLst>
                <a:ext uri="{FF2B5EF4-FFF2-40B4-BE49-F238E27FC236}">
                  <a16:creationId xmlns:a16="http://schemas.microsoft.com/office/drawing/2014/main" id="{25D243F2-32E4-23A6-D5AF-91CED665AFC1}"/>
                </a:ext>
              </a:extLst>
            </p:cNvPr>
            <p:cNvCxnSpPr>
              <a:cxnSpLocks/>
            </p:cNvCxnSpPr>
            <p:nvPr/>
          </p:nvCxnSpPr>
          <p:spPr>
            <a:xfrm>
              <a:off x="3832562" y="1763662"/>
              <a:ext cx="35830" cy="136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9F810AD-D49B-769A-BF9B-35C5FFBA7AB6}"/>
                </a:ext>
              </a:extLst>
            </p:cNvPr>
            <p:cNvCxnSpPr>
              <a:cxnSpLocks/>
            </p:cNvCxnSpPr>
            <p:nvPr/>
          </p:nvCxnSpPr>
          <p:spPr>
            <a:xfrm>
              <a:off x="6940892" y="1934149"/>
              <a:ext cx="35830" cy="136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EA61A65-6CE2-D0EE-B431-DBBA2E6D6B16}"/>
                </a:ext>
              </a:extLst>
            </p:cNvPr>
            <p:cNvCxnSpPr>
              <a:cxnSpLocks/>
            </p:cNvCxnSpPr>
            <p:nvPr/>
          </p:nvCxnSpPr>
          <p:spPr>
            <a:xfrm flipH="1">
              <a:off x="6187906" y="1945073"/>
              <a:ext cx="753009" cy="1124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C204A6B-25CA-1863-1DDF-3E63C040B31A}"/>
                </a:ext>
              </a:extLst>
            </p:cNvPr>
            <p:cNvCxnSpPr>
              <a:cxnSpLocks/>
            </p:cNvCxnSpPr>
            <p:nvPr/>
          </p:nvCxnSpPr>
          <p:spPr>
            <a:xfrm flipH="1">
              <a:off x="3513406" y="1760248"/>
              <a:ext cx="324132" cy="582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Rectangle 99">
              <a:extLst>
                <a:ext uri="{FF2B5EF4-FFF2-40B4-BE49-F238E27FC236}">
                  <a16:creationId xmlns:a16="http://schemas.microsoft.com/office/drawing/2014/main" id="{642D2368-A410-4CF8-A02D-D3D3BAFE3DA1}"/>
                </a:ext>
              </a:extLst>
            </p:cNvPr>
            <p:cNvSpPr/>
            <p:nvPr/>
          </p:nvSpPr>
          <p:spPr>
            <a:xfrm>
              <a:off x="8560942" y="3635856"/>
              <a:ext cx="145126" cy="22063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00" b="1" dirty="0">
                <a:ea typeface="Calibri"/>
                <a:cs typeface="Calibri"/>
              </a:endParaRPr>
            </a:p>
          </p:txBody>
        </p:sp>
        <p:sp>
          <p:nvSpPr>
            <p:cNvPr id="80" name="Rectangle 79">
              <a:extLst>
                <a:ext uri="{FF2B5EF4-FFF2-40B4-BE49-F238E27FC236}">
                  <a16:creationId xmlns:a16="http://schemas.microsoft.com/office/drawing/2014/main" id="{C961E4BA-965B-1250-7D63-2B7969986194}"/>
                </a:ext>
              </a:extLst>
            </p:cNvPr>
            <p:cNvSpPr/>
            <p:nvPr/>
          </p:nvSpPr>
          <p:spPr>
            <a:xfrm>
              <a:off x="8331262" y="3348810"/>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b="1" dirty="0">
                  <a:solidFill>
                    <a:schemeClr val="tx1"/>
                  </a:solidFill>
                  <a:ea typeface="Calibri"/>
                  <a:cs typeface="Calibri"/>
                </a:rPr>
                <a:t>SR3</a:t>
              </a:r>
            </a:p>
          </p:txBody>
        </p:sp>
        <p:sp>
          <p:nvSpPr>
            <p:cNvPr id="81" name="Oval 80">
              <a:extLst>
                <a:ext uri="{FF2B5EF4-FFF2-40B4-BE49-F238E27FC236}">
                  <a16:creationId xmlns:a16="http://schemas.microsoft.com/office/drawing/2014/main" id="{A151FE2F-790F-9C7A-1EC4-F208B256699B}"/>
                </a:ext>
              </a:extLst>
            </p:cNvPr>
            <p:cNvSpPr/>
            <p:nvPr/>
          </p:nvSpPr>
          <p:spPr>
            <a:xfrm>
              <a:off x="8871201" y="3706969"/>
              <a:ext cx="57387" cy="78411"/>
            </a:xfrm>
            <a:prstGeom prst="ellipse">
              <a:avLst/>
            </a:prstGeom>
            <a:solidFill>
              <a:srgbClr val="002060"/>
            </a:solidFill>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600" dirty="0">
                <a:solidFill>
                  <a:srgbClr val="FF0000"/>
                </a:solidFill>
              </a:endParaRPr>
            </a:p>
          </p:txBody>
        </p:sp>
        <p:cxnSp>
          <p:nvCxnSpPr>
            <p:cNvPr id="82" name="Straight Arrow Connector 81">
              <a:extLst>
                <a:ext uri="{FF2B5EF4-FFF2-40B4-BE49-F238E27FC236}">
                  <a16:creationId xmlns:a16="http://schemas.microsoft.com/office/drawing/2014/main" id="{5847AEA0-798B-3ED0-EE04-33CB478643CA}"/>
                </a:ext>
              </a:extLst>
            </p:cNvPr>
            <p:cNvCxnSpPr>
              <a:cxnSpLocks/>
            </p:cNvCxnSpPr>
            <p:nvPr/>
          </p:nvCxnSpPr>
          <p:spPr>
            <a:xfrm>
              <a:off x="8698978" y="3759198"/>
              <a:ext cx="178832" cy="18897"/>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DD32E12F-9B4B-4D50-C14A-497C64D10CED}"/>
                </a:ext>
              </a:extLst>
            </p:cNvPr>
            <p:cNvCxnSpPr>
              <a:cxnSpLocks/>
            </p:cNvCxnSpPr>
            <p:nvPr/>
          </p:nvCxnSpPr>
          <p:spPr>
            <a:xfrm>
              <a:off x="8987010" y="3759198"/>
              <a:ext cx="178832" cy="18897"/>
            </a:xfrm>
            <a:prstGeom prst="straightConnector1">
              <a:avLst/>
            </a:prstGeom>
            <a:ln w="19050" cmpd="dbl">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A77C850F-9F76-1F1E-254E-E456E0E1B817}"/>
                </a:ext>
              </a:extLst>
            </p:cNvPr>
            <p:cNvSpPr/>
            <p:nvPr/>
          </p:nvSpPr>
          <p:spPr>
            <a:xfrm>
              <a:off x="8682661" y="3438656"/>
              <a:ext cx="559496" cy="218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solidFill>
                    <a:srgbClr val="002060"/>
                  </a:solidFill>
                </a:rPr>
                <a:t>N13</a:t>
              </a:r>
              <a:endParaRPr lang="en-IN" sz="800" dirty="0">
                <a:solidFill>
                  <a:srgbClr val="002060"/>
                </a:solidFill>
                <a:ea typeface="Calibri"/>
                <a:cs typeface="Calibri"/>
              </a:endParaRPr>
            </a:p>
          </p:txBody>
        </p:sp>
        <p:cxnSp>
          <p:nvCxnSpPr>
            <p:cNvPr id="86" name="Straight Arrow Connector 85">
              <a:extLst>
                <a:ext uri="{FF2B5EF4-FFF2-40B4-BE49-F238E27FC236}">
                  <a16:creationId xmlns:a16="http://schemas.microsoft.com/office/drawing/2014/main" id="{4A7A2A3A-B39A-B976-6E84-87A7F4B23881}"/>
                </a:ext>
              </a:extLst>
            </p:cNvPr>
            <p:cNvCxnSpPr/>
            <p:nvPr/>
          </p:nvCxnSpPr>
          <p:spPr>
            <a:xfrm>
              <a:off x="4495985" y="1673352"/>
              <a:ext cx="14395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59A282DB-2468-F25F-4FC6-675733B35B26}"/>
                </a:ext>
              </a:extLst>
            </p:cNvPr>
            <p:cNvCxnSpPr>
              <a:cxnSpLocks/>
            </p:cNvCxnSpPr>
            <p:nvPr/>
          </p:nvCxnSpPr>
          <p:spPr>
            <a:xfrm flipH="1">
              <a:off x="4570063" y="4916424"/>
              <a:ext cx="1525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3059D326-0C5A-0388-8584-D4C3A20D89D6}"/>
                </a:ext>
              </a:extLst>
            </p:cNvPr>
            <p:cNvSpPr txBox="1"/>
            <p:nvPr/>
          </p:nvSpPr>
          <p:spPr>
            <a:xfrm>
              <a:off x="4833123" y="4988114"/>
              <a:ext cx="2563488" cy="369332"/>
            </a:xfrm>
            <a:prstGeom prst="rect">
              <a:avLst/>
            </a:prstGeom>
            <a:noFill/>
          </p:spPr>
          <p:txBody>
            <a:bodyPr wrap="square" rtlCol="0">
              <a:spAutoFit/>
            </a:bodyPr>
            <a:lstStyle/>
            <a:p>
              <a:r>
                <a:rPr lang="en-US" dirty="0"/>
                <a:t>Backward Move</a:t>
              </a:r>
            </a:p>
          </p:txBody>
        </p:sp>
        <p:sp>
          <p:nvSpPr>
            <p:cNvPr id="91" name="TextBox 90">
              <a:extLst>
                <a:ext uri="{FF2B5EF4-FFF2-40B4-BE49-F238E27FC236}">
                  <a16:creationId xmlns:a16="http://schemas.microsoft.com/office/drawing/2014/main" id="{C66812B3-1C6E-CA8B-162A-416B651664AA}"/>
                </a:ext>
              </a:extLst>
            </p:cNvPr>
            <p:cNvSpPr txBox="1"/>
            <p:nvPr/>
          </p:nvSpPr>
          <p:spPr>
            <a:xfrm>
              <a:off x="4493239" y="1770350"/>
              <a:ext cx="2563488" cy="369332"/>
            </a:xfrm>
            <a:prstGeom prst="rect">
              <a:avLst/>
            </a:prstGeom>
            <a:noFill/>
          </p:spPr>
          <p:txBody>
            <a:bodyPr wrap="square" rtlCol="0">
              <a:spAutoFit/>
            </a:bodyPr>
            <a:lstStyle/>
            <a:p>
              <a:r>
                <a:rPr lang="en-US" dirty="0"/>
                <a:t>Forward Move</a:t>
              </a:r>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65843709-7C27-C255-F44C-B7ED5C786B0A}"/>
                    </a:ext>
                  </a:extLst>
                </p:cNvPr>
                <p:cNvSpPr txBox="1"/>
                <p:nvPr/>
              </p:nvSpPr>
              <p:spPr>
                <a:xfrm>
                  <a:off x="6644432" y="4036917"/>
                  <a:ext cx="653060" cy="3781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oMath>
                    </m:oMathPara>
                  </a14:m>
                  <a:endParaRPr lang="en-US" dirty="0"/>
                </a:p>
              </p:txBody>
            </p:sp>
          </mc:Choice>
          <mc:Fallback xmlns="">
            <p:sp>
              <p:nvSpPr>
                <p:cNvPr id="93" name="TextBox 92">
                  <a:extLst>
                    <a:ext uri="{FF2B5EF4-FFF2-40B4-BE49-F238E27FC236}">
                      <a16:creationId xmlns:a16="http://schemas.microsoft.com/office/drawing/2014/main" id="{65843709-7C27-C255-F44C-B7ED5C786B0A}"/>
                    </a:ext>
                  </a:extLst>
                </p:cNvPr>
                <p:cNvSpPr txBox="1">
                  <a:spLocks noRot="1" noChangeAspect="1" noMove="1" noResize="1" noEditPoints="1" noAdjustHandles="1" noChangeArrowheads="1" noChangeShapeType="1" noTextEdit="1"/>
                </p:cNvSpPr>
                <p:nvPr/>
              </p:nvSpPr>
              <p:spPr>
                <a:xfrm>
                  <a:off x="6644432" y="4036917"/>
                  <a:ext cx="653060" cy="37818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3B5132CC-F369-D36A-E421-415642CECF60}"/>
                    </a:ext>
                  </a:extLst>
                </p:cNvPr>
                <p:cNvSpPr txBox="1"/>
                <p:nvPr/>
              </p:nvSpPr>
              <p:spPr>
                <a:xfrm>
                  <a:off x="4404906" y="4356001"/>
                  <a:ext cx="1210881" cy="369332"/>
                </a:xfrm>
                <a:prstGeom prst="rect">
                  <a:avLst/>
                </a:prstGeom>
                <a:noFill/>
              </p:spPr>
              <p:txBody>
                <a:bodyPr wrap="square"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oMath>
                  </a14:m>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sSubSup>
                        <m:sSubSupPr>
                          <m:ctrlPr>
                            <a:rPr lang="en-US" i="1" dirty="0" smtClean="0">
                              <a:latin typeface="Cambria Math" panose="02040503050406030204" pitchFamily="18" charset="0"/>
                              <a:ea typeface="Cambria Math" panose="02040503050406030204" pitchFamily="18" charset="0"/>
                            </a:rPr>
                          </m:ctrlPr>
                        </m:sSubSupPr>
                        <m:e>
                          <m:r>
                            <a:rPr lang="en-US" b="0" i="1" dirty="0" smtClean="0">
                              <a:latin typeface="Cambria Math" panose="02040503050406030204" pitchFamily="18" charset="0"/>
                              <a:ea typeface="Cambria Math" panose="02040503050406030204" pitchFamily="18" charset="0"/>
                            </a:rPr>
                            <m:t>𝑇</m:t>
                          </m:r>
                        </m:e>
                        <m:sub>
                          <m:r>
                            <a:rPr lang="en-US" b="0" i="1" dirty="0" smtClean="0">
                              <a:latin typeface="Cambria Math" panose="02040503050406030204" pitchFamily="18" charset="0"/>
                              <a:ea typeface="Cambria Math" panose="02040503050406030204" pitchFamily="18" charset="0"/>
                            </a:rPr>
                            <m:t>2</m:t>
                          </m:r>
                        </m:sub>
                        <m:sup>
                          <m:r>
                            <a:rPr lang="en-US" b="0" i="1" dirty="0" smtClean="0">
                              <a:latin typeface="Cambria Math" panose="02040503050406030204" pitchFamily="18" charset="0"/>
                              <a:ea typeface="Cambria Math" panose="02040503050406030204" pitchFamily="18" charset="0"/>
                            </a:rPr>
                            <m:t>′</m:t>
                          </m:r>
                        </m:sup>
                      </m:sSubSup>
                    </m:oMath>
                  </a14:m>
                  <a:endParaRPr lang="en-US" dirty="0"/>
                </a:p>
              </p:txBody>
            </p:sp>
          </mc:Choice>
          <mc:Fallback xmlns="">
            <p:sp>
              <p:nvSpPr>
                <p:cNvPr id="94" name="TextBox 93">
                  <a:extLst>
                    <a:ext uri="{FF2B5EF4-FFF2-40B4-BE49-F238E27FC236}">
                      <a16:creationId xmlns:a16="http://schemas.microsoft.com/office/drawing/2014/main" id="{3B5132CC-F369-D36A-E421-415642CECF60}"/>
                    </a:ext>
                  </a:extLst>
                </p:cNvPr>
                <p:cNvSpPr txBox="1">
                  <a:spLocks noRot="1" noChangeAspect="1" noMove="1" noResize="1" noEditPoints="1" noAdjustHandles="1" noChangeArrowheads="1" noChangeShapeType="1" noTextEdit="1"/>
                </p:cNvSpPr>
                <p:nvPr/>
              </p:nvSpPr>
              <p:spPr>
                <a:xfrm>
                  <a:off x="4404906" y="4356001"/>
                  <a:ext cx="1210881" cy="369332"/>
                </a:xfrm>
                <a:prstGeom prst="rect">
                  <a:avLst/>
                </a:prstGeom>
                <a:blipFill>
                  <a:blip r:embed="rId3"/>
                  <a:stretch>
                    <a:fillRect t="-8333" b="-2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96BE4329-38CA-08A7-E019-E8A45C110E51}"/>
                    </a:ext>
                  </a:extLst>
                </p:cNvPr>
                <p:cNvSpPr txBox="1"/>
                <p:nvPr/>
              </p:nvSpPr>
              <p:spPr>
                <a:xfrm>
                  <a:off x="4317575" y="2806644"/>
                  <a:ext cx="1210881" cy="369332"/>
                </a:xfrm>
                <a:prstGeom prst="rect">
                  <a:avLst/>
                </a:prstGeom>
                <a:noFill/>
              </p:spPr>
              <p:txBody>
                <a:bodyPr wrap="square"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oMath>
                  </a14:m>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sSubSup>
                        <m:sSubSupPr>
                          <m:ctrlPr>
                            <a:rPr lang="en-US" i="1" dirty="0" smtClean="0">
                              <a:latin typeface="Cambria Math" panose="02040503050406030204" pitchFamily="18" charset="0"/>
                              <a:ea typeface="Cambria Math" panose="02040503050406030204" pitchFamily="18" charset="0"/>
                            </a:rPr>
                          </m:ctrlPr>
                        </m:sSubSupPr>
                        <m:e>
                          <m:r>
                            <a:rPr lang="en-US" b="0" i="1" dirty="0" smtClean="0">
                              <a:latin typeface="Cambria Math" panose="02040503050406030204" pitchFamily="18" charset="0"/>
                              <a:ea typeface="Cambria Math" panose="02040503050406030204" pitchFamily="18" charset="0"/>
                            </a:rPr>
                            <m:t>𝑇</m:t>
                          </m:r>
                        </m:e>
                        <m:sub>
                          <m:r>
                            <a:rPr lang="en-US" b="0" i="1" dirty="0" smtClean="0">
                              <a:latin typeface="Cambria Math" panose="02040503050406030204" pitchFamily="18" charset="0"/>
                              <a:ea typeface="Cambria Math" panose="02040503050406030204" pitchFamily="18" charset="0"/>
                            </a:rPr>
                            <m:t>2</m:t>
                          </m:r>
                        </m:sub>
                        <m:sup>
                          <m:r>
                            <a:rPr lang="en-US" b="0" i="1" dirty="0" smtClean="0">
                              <a:latin typeface="Cambria Math" panose="02040503050406030204" pitchFamily="18" charset="0"/>
                              <a:ea typeface="Cambria Math" panose="02040503050406030204" pitchFamily="18" charset="0"/>
                            </a:rPr>
                            <m:t>′′</m:t>
                          </m:r>
                        </m:sup>
                      </m:sSubSup>
                    </m:oMath>
                  </a14:m>
                  <a:endParaRPr lang="en-US" dirty="0"/>
                </a:p>
              </p:txBody>
            </p:sp>
          </mc:Choice>
          <mc:Fallback xmlns="">
            <p:sp>
              <p:nvSpPr>
                <p:cNvPr id="95" name="TextBox 94">
                  <a:extLst>
                    <a:ext uri="{FF2B5EF4-FFF2-40B4-BE49-F238E27FC236}">
                      <a16:creationId xmlns:a16="http://schemas.microsoft.com/office/drawing/2014/main" id="{96BE4329-38CA-08A7-E019-E8A45C110E51}"/>
                    </a:ext>
                  </a:extLst>
                </p:cNvPr>
                <p:cNvSpPr txBox="1">
                  <a:spLocks noRot="1" noChangeAspect="1" noMove="1" noResize="1" noEditPoints="1" noAdjustHandles="1" noChangeArrowheads="1" noChangeShapeType="1" noTextEdit="1"/>
                </p:cNvSpPr>
                <p:nvPr/>
              </p:nvSpPr>
              <p:spPr>
                <a:xfrm>
                  <a:off x="4317575" y="2806644"/>
                  <a:ext cx="1210881" cy="369332"/>
                </a:xfrm>
                <a:prstGeom prst="rect">
                  <a:avLst/>
                </a:prstGeom>
                <a:blipFill>
                  <a:blip r:embed="rId4"/>
                  <a:stretch>
                    <a:fillRect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B21AFA84-D7AC-A560-1CC3-0946D178E020}"/>
                    </a:ext>
                  </a:extLst>
                </p:cNvPr>
                <p:cNvSpPr txBox="1"/>
                <p:nvPr/>
              </p:nvSpPr>
              <p:spPr>
                <a:xfrm>
                  <a:off x="3101032" y="4188878"/>
                  <a:ext cx="653060" cy="3781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oMath>
                    </m:oMathPara>
                  </a14:m>
                  <a:endParaRPr lang="en-US" dirty="0"/>
                </a:p>
              </p:txBody>
            </p:sp>
          </mc:Choice>
          <mc:Fallback xmlns="">
            <p:sp>
              <p:nvSpPr>
                <p:cNvPr id="96" name="TextBox 95">
                  <a:extLst>
                    <a:ext uri="{FF2B5EF4-FFF2-40B4-BE49-F238E27FC236}">
                      <a16:creationId xmlns:a16="http://schemas.microsoft.com/office/drawing/2014/main" id="{B21AFA84-D7AC-A560-1CC3-0946D178E020}"/>
                    </a:ext>
                  </a:extLst>
                </p:cNvPr>
                <p:cNvSpPr txBox="1">
                  <a:spLocks noRot="1" noChangeAspect="1" noMove="1" noResize="1" noEditPoints="1" noAdjustHandles="1" noChangeArrowheads="1" noChangeShapeType="1" noTextEdit="1"/>
                </p:cNvSpPr>
                <p:nvPr/>
              </p:nvSpPr>
              <p:spPr>
                <a:xfrm>
                  <a:off x="3101032" y="4188878"/>
                  <a:ext cx="653060" cy="37818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2200371-5285-597E-4EB9-F31CA3FF3DB8}"/>
                    </a:ext>
                  </a:extLst>
                </p:cNvPr>
                <p:cNvSpPr txBox="1"/>
                <p:nvPr/>
              </p:nvSpPr>
              <p:spPr>
                <a:xfrm>
                  <a:off x="2308463" y="3885970"/>
                  <a:ext cx="1210881" cy="378180"/>
                </a:xfrm>
                <a:prstGeom prst="rect">
                  <a:avLst/>
                </a:prstGeom>
                <a:noFill/>
              </p:spPr>
              <p:txBody>
                <a:bodyPr wrap="square"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oMath>
                  </a14:m>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sSubSup>
                        <m:sSubSupPr>
                          <m:ctrlPr>
                            <a:rPr lang="en-US" i="1" dirty="0" smtClean="0">
                              <a:latin typeface="Cambria Math" panose="02040503050406030204" pitchFamily="18" charset="0"/>
                              <a:ea typeface="Cambria Math" panose="02040503050406030204" pitchFamily="18" charset="0"/>
                            </a:rPr>
                          </m:ctrlPr>
                        </m:sSubSupPr>
                        <m:e>
                          <m:r>
                            <a:rPr lang="en-US" b="0" i="1" dirty="0" smtClean="0">
                              <a:latin typeface="Cambria Math" panose="02040503050406030204" pitchFamily="18" charset="0"/>
                              <a:ea typeface="Cambria Math" panose="02040503050406030204" pitchFamily="18" charset="0"/>
                            </a:rPr>
                            <m:t>𝑇</m:t>
                          </m:r>
                        </m:e>
                        <m:sub>
                          <m:r>
                            <a:rPr lang="en-US" b="0" i="1" dirty="0" smtClean="0">
                              <a:latin typeface="Cambria Math" panose="02040503050406030204" pitchFamily="18" charset="0"/>
                              <a:ea typeface="Cambria Math" panose="02040503050406030204" pitchFamily="18" charset="0"/>
                            </a:rPr>
                            <m:t>1</m:t>
                          </m:r>
                        </m:sub>
                        <m:sup>
                          <m:r>
                            <a:rPr lang="en-US" b="0" i="1" dirty="0" smtClean="0">
                              <a:latin typeface="Cambria Math" panose="02040503050406030204" pitchFamily="18" charset="0"/>
                              <a:ea typeface="Cambria Math" panose="02040503050406030204" pitchFamily="18" charset="0"/>
                            </a:rPr>
                            <m:t>′</m:t>
                          </m:r>
                        </m:sup>
                      </m:sSubSup>
                    </m:oMath>
                  </a14:m>
                  <a:endParaRPr lang="en-US" dirty="0"/>
                </a:p>
              </p:txBody>
            </p:sp>
          </mc:Choice>
          <mc:Fallback xmlns="">
            <p:sp>
              <p:nvSpPr>
                <p:cNvPr id="97" name="TextBox 96">
                  <a:extLst>
                    <a:ext uri="{FF2B5EF4-FFF2-40B4-BE49-F238E27FC236}">
                      <a16:creationId xmlns:a16="http://schemas.microsoft.com/office/drawing/2014/main" id="{22200371-5285-597E-4EB9-F31CA3FF3DB8}"/>
                    </a:ext>
                  </a:extLst>
                </p:cNvPr>
                <p:cNvSpPr txBox="1">
                  <a:spLocks noRot="1" noChangeAspect="1" noMove="1" noResize="1" noEditPoints="1" noAdjustHandles="1" noChangeArrowheads="1" noChangeShapeType="1" noTextEdit="1"/>
                </p:cNvSpPr>
                <p:nvPr/>
              </p:nvSpPr>
              <p:spPr>
                <a:xfrm>
                  <a:off x="2308463" y="3885970"/>
                  <a:ext cx="1210881" cy="378180"/>
                </a:xfrm>
                <a:prstGeom prst="rect">
                  <a:avLst/>
                </a:prstGeom>
                <a:blipFill>
                  <a:blip r:embed="rId6"/>
                  <a:stretch>
                    <a:fillRect t="-6452" b="-241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193A6609-796A-92D5-35AF-99A797F65F49}"/>
                    </a:ext>
                  </a:extLst>
                </p:cNvPr>
                <p:cNvSpPr txBox="1"/>
                <p:nvPr/>
              </p:nvSpPr>
              <p:spPr>
                <a:xfrm>
                  <a:off x="2206304" y="2195871"/>
                  <a:ext cx="1210881" cy="369332"/>
                </a:xfrm>
                <a:prstGeom prst="rect">
                  <a:avLst/>
                </a:prstGeom>
                <a:noFill/>
              </p:spPr>
              <p:txBody>
                <a:bodyPr wrap="square"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oMath>
                  </a14:m>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sSubSup>
                        <m:sSubSupPr>
                          <m:ctrlPr>
                            <a:rPr lang="en-US" i="1" dirty="0" smtClean="0">
                              <a:latin typeface="Cambria Math" panose="02040503050406030204" pitchFamily="18" charset="0"/>
                              <a:ea typeface="Cambria Math" panose="02040503050406030204" pitchFamily="18" charset="0"/>
                            </a:rPr>
                          </m:ctrlPr>
                        </m:sSubSupPr>
                        <m:e>
                          <m:r>
                            <a:rPr lang="en-US" b="0" i="1" dirty="0" smtClean="0">
                              <a:latin typeface="Cambria Math" panose="02040503050406030204" pitchFamily="18" charset="0"/>
                              <a:ea typeface="Cambria Math" panose="02040503050406030204" pitchFamily="18" charset="0"/>
                            </a:rPr>
                            <m:t>𝑇</m:t>
                          </m:r>
                        </m:e>
                        <m:sub>
                          <m:r>
                            <a:rPr lang="en-US" b="0" i="1" dirty="0" smtClean="0">
                              <a:latin typeface="Cambria Math" panose="02040503050406030204" pitchFamily="18" charset="0"/>
                              <a:ea typeface="Cambria Math" panose="02040503050406030204" pitchFamily="18" charset="0"/>
                            </a:rPr>
                            <m:t>1</m:t>
                          </m:r>
                        </m:sub>
                        <m:sup>
                          <m:r>
                            <a:rPr lang="en-US" b="0" i="1" dirty="0" smtClean="0">
                              <a:latin typeface="Cambria Math" panose="02040503050406030204" pitchFamily="18" charset="0"/>
                              <a:ea typeface="Cambria Math" panose="02040503050406030204" pitchFamily="18" charset="0"/>
                            </a:rPr>
                            <m:t>′′</m:t>
                          </m:r>
                        </m:sup>
                      </m:sSubSup>
                    </m:oMath>
                  </a14:m>
                  <a:endParaRPr lang="en-US" dirty="0"/>
                </a:p>
              </p:txBody>
            </p:sp>
          </mc:Choice>
          <mc:Fallback xmlns="">
            <p:sp>
              <p:nvSpPr>
                <p:cNvPr id="98" name="TextBox 97">
                  <a:extLst>
                    <a:ext uri="{FF2B5EF4-FFF2-40B4-BE49-F238E27FC236}">
                      <a16:creationId xmlns:a16="http://schemas.microsoft.com/office/drawing/2014/main" id="{193A6609-796A-92D5-35AF-99A797F65F49}"/>
                    </a:ext>
                  </a:extLst>
                </p:cNvPr>
                <p:cNvSpPr txBox="1">
                  <a:spLocks noRot="1" noChangeAspect="1" noMove="1" noResize="1" noEditPoints="1" noAdjustHandles="1" noChangeArrowheads="1" noChangeShapeType="1" noTextEdit="1"/>
                </p:cNvSpPr>
                <p:nvPr/>
              </p:nvSpPr>
              <p:spPr>
                <a:xfrm>
                  <a:off x="2206304" y="2195871"/>
                  <a:ext cx="1210881" cy="369332"/>
                </a:xfrm>
                <a:prstGeom prst="rect">
                  <a:avLst/>
                </a:prstGeom>
                <a:blipFill>
                  <a:blip r:embed="rId7"/>
                  <a:stretch>
                    <a:fillRect t="-6557" b="-26230"/>
                  </a:stretch>
                </a:blipFill>
              </p:spPr>
              <p:txBody>
                <a:bodyPr/>
                <a:lstStyle/>
                <a:p>
                  <a:r>
                    <a:rPr lang="en-US">
                      <a:noFill/>
                    </a:rPr>
                    <a:t> </a:t>
                  </a:r>
                </a:p>
              </p:txBody>
            </p:sp>
          </mc:Fallback>
        </mc:AlternateContent>
      </p:grpSp>
    </p:spTree>
    <p:extLst>
      <p:ext uri="{BB962C8B-B14F-4D97-AF65-F5344CB8AC3E}">
        <p14:creationId xmlns:p14="http://schemas.microsoft.com/office/powerpoint/2010/main" val="907485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FCE65-7B1E-243F-8DF0-43FCAFE6BC11}"/>
              </a:ext>
            </a:extLst>
          </p:cNvPr>
          <p:cNvSpPr>
            <a:spLocks noGrp="1"/>
          </p:cNvSpPr>
          <p:nvPr>
            <p:ph type="title"/>
          </p:nvPr>
        </p:nvSpPr>
        <p:spPr>
          <a:xfrm>
            <a:off x="838200" y="365125"/>
            <a:ext cx="10515600" cy="480449"/>
          </a:xfrm>
          <a:solidFill>
            <a:schemeClr val="tx1"/>
          </a:solidFill>
        </p:spPr>
        <p:txBody>
          <a:bodyPr>
            <a:noAutofit/>
          </a:bodyPr>
          <a:lstStyle/>
          <a:p>
            <a:r>
              <a:rPr lang="en-IN" sz="3200" dirty="0">
                <a:solidFill>
                  <a:srgbClr val="FFC000"/>
                </a:solidFill>
              </a:rPr>
              <a:t>New added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7E5506-3092-285F-3E84-1FF05EE45722}"/>
                  </a:ext>
                </a:extLst>
              </p:cNvPr>
              <p:cNvSpPr>
                <a:spLocks noGrp="1"/>
              </p:cNvSpPr>
              <p:nvPr>
                <p:ph idx="1"/>
              </p:nvPr>
            </p:nvSpPr>
            <p:spPr>
              <a:xfrm>
                <a:off x="373626" y="954593"/>
                <a:ext cx="11179277" cy="5222370"/>
              </a:xfrm>
            </p:spPr>
            <p:txBody>
              <a:bodyPr>
                <a:normAutofit fontScale="92500" lnSpcReduction="20000"/>
              </a:bodyPr>
              <a:lstStyle/>
              <a:p>
                <a:endParaRPr lang="en-IN" dirty="0"/>
              </a:p>
              <a:p>
                <a:r>
                  <a:rPr lang="en-IN" dirty="0" err="1"/>
                  <a:t>update_service_process</a:t>
                </a:r>
                <a:r>
                  <a:rPr lang="en-IN" dirty="0"/>
                  <a:t>() – (</a:t>
                </a:r>
                <a14:m>
                  <m:oMath xmlns:m="http://schemas.openxmlformats.org/officeDocument/2006/math">
                    <m:r>
                      <a:rPr lang="en-IN" b="0" i="1" smtClean="0">
                        <a:latin typeface="Cambria Math" panose="02040503050406030204" pitchFamily="18" charset="0"/>
                      </a:rPr>
                      <m:t>𝑡</m:t>
                    </m:r>
                    <m:r>
                      <a:rPr lang="en-IN" b="0" i="1" smtClean="0">
                        <a:latin typeface="Cambria Math" panose="02040503050406030204" pitchFamily="18" charset="0"/>
                        <a:ea typeface="Cambria Math" panose="02040503050406030204" pitchFamily="18" charset="0"/>
                      </a:rPr>
                      <m:t>→ </m:t>
                    </m:r>
                    <m:acc>
                      <m:accPr>
                        <m:chr m:val="̂"/>
                        <m:ctrlPr>
                          <a:rPr lang="en-IN" b="0" i="1" smtClean="0">
                            <a:latin typeface="Cambria Math" panose="02040503050406030204" pitchFamily="18" charset="0"/>
                            <a:ea typeface="Cambria Math" panose="02040503050406030204" pitchFamily="18" charset="0"/>
                          </a:rPr>
                        </m:ctrlPr>
                      </m:accPr>
                      <m:e>
                        <m:r>
                          <a:rPr lang="en-IN" b="0" i="1" smtClean="0">
                            <a:latin typeface="Cambria Math" panose="02040503050406030204" pitchFamily="18" charset="0"/>
                            <a:ea typeface="Cambria Math" panose="02040503050406030204" pitchFamily="18" charset="0"/>
                          </a:rPr>
                          <m:t>𝑡</m:t>
                        </m:r>
                      </m:e>
                    </m:acc>
                  </m:oMath>
                </a14:m>
                <a:r>
                  <a:rPr lang="en-IN" dirty="0"/>
                  <a:t>)</a:t>
                </a:r>
              </a:p>
              <a:p>
                <a:pPr lvl="1"/>
                <a:r>
                  <a:rPr lang="en-IN" sz="1800" dirty="0"/>
                  <a:t>Calculate average occupancy of </a:t>
                </a:r>
                <a14:m>
                  <m:oMath xmlns:m="http://schemas.openxmlformats.org/officeDocument/2006/math">
                    <m:sSub>
                      <m:sSubPr>
                        <m:ctrlPr>
                          <a:rPr lang="en-IN" sz="1800" b="0" i="1" smtClean="0">
                            <a:latin typeface="Cambria Math" panose="02040503050406030204" pitchFamily="18" charset="0"/>
                          </a:rPr>
                        </m:ctrlPr>
                      </m:sSubPr>
                      <m:e>
                        <m:r>
                          <m:rPr>
                            <m:sty m:val="p"/>
                          </m:rPr>
                          <a:rPr lang="en-IN" sz="1800" b="0" i="1" smtClean="0">
                            <a:latin typeface="Cambria Math" panose="02040503050406030204" pitchFamily="18" charset="0"/>
                          </a:rPr>
                          <m:t>Q</m:t>
                        </m:r>
                      </m:e>
                      <m:sub>
                        <m:r>
                          <a:rPr lang="en-IN" sz="1800" b="0" i="1" smtClean="0">
                            <a:latin typeface="Cambria Math" panose="02040503050406030204" pitchFamily="18" charset="0"/>
                          </a:rPr>
                          <m:t>𝑆𝑖𝑛𝑘</m:t>
                        </m:r>
                      </m:sub>
                    </m:sSub>
                  </m:oMath>
                </a14:m>
                <a:r>
                  <a:rPr lang="en-IN" sz="1800" dirty="0"/>
                  <a:t>   </a:t>
                </a:r>
              </a:p>
              <a:p>
                <a:pPr lvl="1"/>
                <a:endParaRPr lang="en-US" dirty="0"/>
              </a:p>
              <a:p>
                <a:pPr lvl="1"/>
                <a:r>
                  <a:rPr lang="en-US" sz="1600" dirty="0"/>
                  <a:t>the probability that </a:t>
                </a:r>
                <a14:m>
                  <m:oMath xmlns:m="http://schemas.openxmlformats.org/officeDocument/2006/math">
                    <m:sSub>
                      <m:sSubPr>
                        <m:ctrlPr>
                          <a:rPr lang="en-US" sz="1600" b="0" i="1" dirty="0" smtClean="0">
                            <a:latin typeface="Cambria Math" panose="02040503050406030204" pitchFamily="18" charset="0"/>
                          </a:rPr>
                        </m:ctrlPr>
                      </m:sSubPr>
                      <m:e>
                        <m:r>
                          <a:rPr lang="en-US" sz="1600" i="1" dirty="0" smtClean="0">
                            <a:latin typeface="Cambria Math" panose="02040503050406030204" pitchFamily="18" charset="0"/>
                          </a:rPr>
                          <m:t>𝑄</m:t>
                        </m:r>
                      </m:e>
                      <m:sub>
                        <m:r>
                          <a:rPr lang="en-US" sz="1600" i="1" dirty="0" smtClean="0">
                            <a:latin typeface="Cambria Math" panose="02040503050406030204" pitchFamily="18" charset="0"/>
                          </a:rPr>
                          <m:t>𝑠𝑖𝑛𝑘</m:t>
                        </m:r>
                      </m:sub>
                    </m:sSub>
                    <m:r>
                      <a:rPr lang="en-US" sz="1600" i="1" dirty="0" smtClean="0">
                        <a:latin typeface="Cambria Math" panose="02040503050406030204" pitchFamily="18" charset="0"/>
                      </a:rPr>
                      <m:t> </m:t>
                    </m:r>
                  </m:oMath>
                </a14:m>
                <a:r>
                  <a:rPr lang="en-US" sz="1600" dirty="0"/>
                  <a:t>contains </a:t>
                </a:r>
                <a14:m>
                  <m:oMath xmlns:m="http://schemas.openxmlformats.org/officeDocument/2006/math">
                    <m:r>
                      <a:rPr lang="en-US" sz="1600" i="1" dirty="0" smtClean="0">
                        <a:latin typeface="Cambria Math" panose="02040503050406030204" pitchFamily="18" charset="0"/>
                      </a:rPr>
                      <m:t>𝑘</m:t>
                    </m:r>
                  </m:oMath>
                </a14:m>
                <a:r>
                  <a:rPr lang="en-US" sz="1600" dirty="0"/>
                  <a:t> packets</a:t>
                </a:r>
              </a:p>
              <a:p>
                <a:pPr lvl="1"/>
                <a:endParaRPr lang="en-US" sz="1600" dirty="0"/>
              </a:p>
              <a:p>
                <a:pPr lvl="1"/>
                <a:r>
                  <a:rPr lang="en-US" sz="1600" dirty="0"/>
                  <a:t>probability  that </a:t>
                </a:r>
                <a14:m>
                  <m:oMath xmlns:m="http://schemas.openxmlformats.org/officeDocument/2006/math">
                    <m:sSub>
                      <m:sSubPr>
                        <m:ctrlPr>
                          <a:rPr lang="en-US" sz="1600" i="1" dirty="0" err="1" smtClean="0">
                            <a:latin typeface="Cambria Math" panose="02040503050406030204" pitchFamily="18" charset="0"/>
                          </a:rPr>
                        </m:ctrlPr>
                      </m:sSubPr>
                      <m:e>
                        <m:r>
                          <m:rPr>
                            <m:sty m:val="p"/>
                          </m:rPr>
                          <a:rPr lang="en-US" sz="1600" i="1" dirty="0" err="1" smtClean="0">
                            <a:latin typeface="Cambria Math" panose="02040503050406030204" pitchFamily="18" charset="0"/>
                          </a:rPr>
                          <m:t>Q</m:t>
                        </m:r>
                      </m:e>
                      <m:sub>
                        <m:r>
                          <a:rPr lang="en-US" sz="1600" i="1" dirty="0" err="1" smtClean="0">
                            <a:latin typeface="Cambria Math" panose="02040503050406030204" pitchFamily="18" charset="0"/>
                          </a:rPr>
                          <m:t>𝑠𝑖𝑛𝑘</m:t>
                        </m:r>
                      </m:sub>
                    </m:sSub>
                    <m:r>
                      <a:rPr lang="en-US" sz="1600" i="1" dirty="0" smtClean="0">
                        <a:latin typeface="Cambria Math" panose="02040503050406030204" pitchFamily="18" charset="0"/>
                      </a:rPr>
                      <m:t> </m:t>
                    </m:r>
                  </m:oMath>
                </a14:m>
                <a:r>
                  <a:rPr lang="en-US" sz="1600" dirty="0"/>
                  <a:t>is full (</a:t>
                </a:r>
                <a14:m>
                  <m:oMath xmlns:m="http://schemas.openxmlformats.org/officeDocument/2006/math">
                    <m:sSub>
                      <m:sSubPr>
                        <m:ctrlPr>
                          <a:rPr lang="en-IN" sz="1600" b="0" i="1" smtClean="0">
                            <a:latin typeface="Cambria Math" panose="02040503050406030204" pitchFamily="18" charset="0"/>
                          </a:rPr>
                        </m:ctrlPr>
                      </m:sSubPr>
                      <m:e>
                        <m:r>
                          <m:rPr>
                            <m:sty m:val="p"/>
                          </m:rPr>
                          <a:rPr lang="en-IN" sz="1600" b="0" i="1" smtClean="0">
                            <a:latin typeface="Cambria Math" panose="02040503050406030204" pitchFamily="18" charset="0"/>
                          </a:rPr>
                          <m:t>P</m:t>
                        </m:r>
                      </m:e>
                      <m:sub>
                        <m:r>
                          <a:rPr lang="en-IN" sz="1600" b="0" i="1" smtClean="0">
                            <a:latin typeface="Cambria Math" panose="02040503050406030204" pitchFamily="18" charset="0"/>
                          </a:rPr>
                          <m:t>𝑆𝑖𝑛𝑘</m:t>
                        </m:r>
                      </m:sub>
                    </m:sSub>
                  </m:oMath>
                </a14:m>
                <a:r>
                  <a:rPr lang="en-US" sz="1600" dirty="0"/>
                  <a:t>)</a:t>
                </a:r>
              </a:p>
              <a:p>
                <a:pPr lvl="1"/>
                <a:endParaRPr lang="en-US" sz="1600" dirty="0"/>
              </a:p>
              <a:p>
                <a:pPr lvl="1"/>
                <a:r>
                  <a:rPr lang="en-US" sz="1600" dirty="0"/>
                  <a:t>Update the service time  </a:t>
                </a:r>
                <a14:m>
                  <m:oMath xmlns:m="http://schemas.openxmlformats.org/officeDocument/2006/math">
                    <m:acc>
                      <m:accPr>
                        <m:chr m:val="̂"/>
                        <m:ctrlPr>
                          <a:rPr lang="en-US" sz="1600" i="1" smtClean="0">
                            <a:latin typeface="Cambria Math" panose="02040503050406030204" pitchFamily="18" charset="0"/>
                          </a:rPr>
                        </m:ctrlPr>
                      </m:accPr>
                      <m:e>
                        <m:r>
                          <a:rPr lang="en-IN" sz="1600" b="0" i="1" smtClean="0">
                            <a:latin typeface="Cambria Math" panose="02040503050406030204" pitchFamily="18" charset="0"/>
                          </a:rPr>
                          <m:t>𝑡</m:t>
                        </m:r>
                      </m:e>
                    </m:acc>
                    <m:r>
                      <a:rPr lang="en-IN" sz="1600" b="0" i="1" smtClean="0">
                        <a:latin typeface="Cambria Math" panose="02040503050406030204" pitchFamily="18" charset="0"/>
                      </a:rPr>
                      <m:t>= </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𝑡</m:t>
                        </m:r>
                      </m:num>
                      <m:den>
                        <m:r>
                          <a:rPr lang="en-IN" sz="1600" b="0" i="1" smtClean="0">
                            <a:latin typeface="Cambria Math" panose="02040503050406030204" pitchFamily="18" charset="0"/>
                          </a:rPr>
                          <m:t>1− </m:t>
                        </m:r>
                        <m:sSub>
                          <m:sSubPr>
                            <m:ctrlPr>
                              <a:rPr lang="en-IN" sz="1600" b="0" i="1" smtClean="0">
                                <a:latin typeface="Cambria Math" panose="02040503050406030204" pitchFamily="18" charset="0"/>
                              </a:rPr>
                            </m:ctrlPr>
                          </m:sSubPr>
                          <m:e>
                            <m:r>
                              <m:rPr>
                                <m:sty m:val="p"/>
                              </m:rPr>
                              <a:rPr lang="en-IN" sz="1600" b="0" i="1" smtClean="0">
                                <a:latin typeface="Cambria Math" panose="02040503050406030204" pitchFamily="18" charset="0"/>
                              </a:rPr>
                              <m:t>P</m:t>
                            </m:r>
                          </m:e>
                          <m:sub>
                            <m:r>
                              <a:rPr lang="en-IN" sz="1600" b="0" i="1" smtClean="0">
                                <a:latin typeface="Cambria Math" panose="02040503050406030204" pitchFamily="18" charset="0"/>
                              </a:rPr>
                              <m:t>𝑆𝑖𝑛𝑘</m:t>
                            </m:r>
                          </m:sub>
                        </m:sSub>
                      </m:den>
                    </m:f>
                  </m:oMath>
                </a14:m>
                <a:endParaRPr lang="en-US" sz="1600" dirty="0"/>
              </a:p>
              <a:p>
                <a:pPr lvl="1"/>
                <a:endParaRPr lang="en-US" sz="1600" dirty="0"/>
              </a:p>
              <a:p>
                <a:pPr lvl="1"/>
                <a:r>
                  <a:rPr lang="en-US" sz="1600" dirty="0"/>
                  <a:t>Update the </a:t>
                </a:r>
                <a:r>
                  <a:rPr lang="en-US" sz="1600" dirty="0" err="1"/>
                  <a:t>coeff_service_time</a:t>
                </a:r>
                <a:r>
                  <a:rPr lang="en-US" sz="1600" dirty="0"/>
                  <a:t>  </a:t>
                </a:r>
                <a14:m>
                  <m:oMath xmlns:m="http://schemas.openxmlformats.org/officeDocument/2006/math">
                    <m:sSubSup>
                      <m:sSubSupPr>
                        <m:ctrlPr>
                          <a:rPr lang="en-US" sz="1600" i="1" smtClean="0">
                            <a:latin typeface="Cambria Math" panose="02040503050406030204" pitchFamily="18" charset="0"/>
                          </a:rPr>
                        </m:ctrlPr>
                      </m:sSubSupPr>
                      <m:e>
                        <m:r>
                          <a:rPr lang="en-IN" sz="1600" b="0" i="1" smtClean="0">
                            <a:latin typeface="Cambria Math" panose="02040503050406030204" pitchFamily="18" charset="0"/>
                          </a:rPr>
                          <m:t>𝐶𝑠</m:t>
                        </m:r>
                      </m:e>
                      <m:sub>
                        <m:r>
                          <a:rPr lang="en-IN" sz="1600" b="0" i="1" smtClean="0">
                            <a:latin typeface="Cambria Math" panose="02040503050406030204" pitchFamily="18" charset="0"/>
                          </a:rPr>
                          <m:t>𝑆𝑖𝑛𝑘</m:t>
                        </m:r>
                      </m:sub>
                      <m:sup>
                        <m:r>
                          <a:rPr lang="en-IN" sz="1600" b="0" i="1" smtClean="0">
                            <a:latin typeface="Cambria Math" panose="02040503050406030204" pitchFamily="18" charset="0"/>
                          </a:rPr>
                          <m:t>2</m:t>
                        </m:r>
                      </m:sup>
                    </m:sSubSup>
                    <m:r>
                      <a:rPr lang="en-IN" sz="1600" b="0" i="1" smtClean="0">
                        <a:latin typeface="Cambria Math" panose="02040503050406030204" pitchFamily="18" charset="0"/>
                      </a:rPr>
                      <m:t>= </m:t>
                    </m:r>
                    <m:sSub>
                      <m:sSubPr>
                        <m:ctrlPr>
                          <a:rPr lang="en-IN" sz="1600" b="0" i="1" smtClean="0">
                            <a:latin typeface="Cambria Math" panose="02040503050406030204" pitchFamily="18" charset="0"/>
                          </a:rPr>
                        </m:ctrlPr>
                      </m:sSubPr>
                      <m:e>
                        <m:r>
                          <m:rPr>
                            <m:sty m:val="p"/>
                          </m:rPr>
                          <a:rPr lang="en-IN" sz="1600" b="0" i="1" smtClean="0">
                            <a:latin typeface="Cambria Math" panose="02040503050406030204" pitchFamily="18" charset="0"/>
                          </a:rPr>
                          <m:t>P</m:t>
                        </m:r>
                      </m:e>
                      <m:sub>
                        <m:r>
                          <a:rPr lang="en-IN" sz="1600" b="0" i="1" smtClean="0">
                            <a:latin typeface="Cambria Math" panose="02040503050406030204" pitchFamily="18" charset="0"/>
                          </a:rPr>
                          <m:t>𝑠𝑖𝑛𝑘</m:t>
                        </m:r>
                        <m:r>
                          <a:rPr lang="en-IN" sz="1600" b="0" i="1" smtClean="0">
                            <a:latin typeface="Cambria Math" panose="02040503050406030204" pitchFamily="18" charset="0"/>
                          </a:rPr>
                          <m:t> </m:t>
                        </m:r>
                      </m:sub>
                    </m:sSub>
                    <m:r>
                      <a:rPr lang="en-IN" sz="1600" b="0" i="1" smtClean="0">
                        <a:latin typeface="Cambria Math" panose="02040503050406030204" pitchFamily="18" charset="0"/>
                      </a:rPr>
                      <m:t>+</m:t>
                    </m:r>
                    <m:sSubSup>
                      <m:sSubSupPr>
                        <m:ctrlPr>
                          <a:rPr lang="en-US" sz="1600" i="1">
                            <a:latin typeface="Cambria Math" panose="02040503050406030204" pitchFamily="18" charset="0"/>
                          </a:rPr>
                        </m:ctrlPr>
                      </m:sSubSupPr>
                      <m:e>
                        <m:r>
                          <a:rPr lang="en-IN" sz="1600" i="1">
                            <a:latin typeface="Cambria Math" panose="02040503050406030204" pitchFamily="18" charset="0"/>
                          </a:rPr>
                          <m:t>𝐶𝑠</m:t>
                        </m:r>
                      </m:e>
                      <m:sub>
                        <m:r>
                          <a:rPr lang="en-IN" sz="1600" i="1">
                            <a:latin typeface="Cambria Math" panose="02040503050406030204" pitchFamily="18" charset="0"/>
                          </a:rPr>
                          <m:t>𝑆𝑖𝑛𝑘</m:t>
                        </m:r>
                      </m:sub>
                      <m:sup>
                        <m:r>
                          <a:rPr lang="en-IN" sz="1600" i="1">
                            <a:latin typeface="Cambria Math" panose="02040503050406030204" pitchFamily="18" charset="0"/>
                          </a:rPr>
                          <m:t>2</m:t>
                        </m:r>
                      </m:sup>
                    </m:sSubSup>
                  </m:oMath>
                </a14:m>
                <a:r>
                  <a:rPr lang="it-IT" sz="1600" dirty="0"/>
                  <a:t> * </a:t>
                </a:r>
                <a14:m>
                  <m:oMath xmlns:m="http://schemas.openxmlformats.org/officeDocument/2006/math">
                    <m:r>
                      <a:rPr lang="en-IN" sz="1600" b="0" i="1" smtClean="0">
                        <a:latin typeface="Cambria Math" panose="02040503050406030204" pitchFamily="18" charset="0"/>
                      </a:rPr>
                      <m:t>(1− </m:t>
                    </m:r>
                    <m:sSub>
                      <m:sSubPr>
                        <m:ctrlPr>
                          <a:rPr lang="en-IN" sz="1600" b="0" i="1" smtClean="0">
                            <a:latin typeface="Cambria Math" panose="02040503050406030204" pitchFamily="18" charset="0"/>
                          </a:rPr>
                        </m:ctrlPr>
                      </m:sSubPr>
                      <m:e>
                        <m:r>
                          <m:rPr>
                            <m:sty m:val="p"/>
                          </m:rPr>
                          <a:rPr lang="en-IN" sz="1600" b="0" i="1" smtClean="0">
                            <a:latin typeface="Cambria Math" panose="02040503050406030204" pitchFamily="18" charset="0"/>
                          </a:rPr>
                          <m:t>P</m:t>
                        </m:r>
                      </m:e>
                      <m:sub>
                        <m:r>
                          <a:rPr lang="en-IN" sz="1600" b="0" i="1" smtClean="0">
                            <a:latin typeface="Cambria Math" panose="02040503050406030204" pitchFamily="18" charset="0"/>
                          </a:rPr>
                          <m:t>𝑆𝑖𝑛𝑘</m:t>
                        </m:r>
                        <m:r>
                          <a:rPr lang="en-IN" sz="1600" b="0" i="1" smtClean="0">
                            <a:latin typeface="Cambria Math" panose="02040503050406030204" pitchFamily="18" charset="0"/>
                          </a:rPr>
                          <m:t> </m:t>
                        </m:r>
                      </m:sub>
                    </m:sSub>
                  </m:oMath>
                </a14:m>
                <a:r>
                  <a:rPr lang="it-IT" sz="1600" dirty="0"/>
                  <a:t>)</a:t>
                </a:r>
              </a:p>
              <a:p>
                <a:pPr lvl="1"/>
                <a:endParaRPr lang="en-IN" dirty="0"/>
              </a:p>
              <a:p>
                <a:r>
                  <a:rPr lang="en-IN" dirty="0"/>
                  <a:t> </a:t>
                </a:r>
                <a:r>
                  <a:rPr lang="en-IN" dirty="0" err="1"/>
                  <a:t>update_injection_process</a:t>
                </a:r>
                <a:r>
                  <a:rPr lang="en-IN" dirty="0"/>
                  <a:t>() – (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𝜆</m:t>
                        </m:r>
                      </m:e>
                      <m:sub>
                        <m:r>
                          <a:rPr lang="en-IN" b="0" i="1" smtClean="0">
                            <a:latin typeface="Cambria Math" panose="02040503050406030204" pitchFamily="18" charset="0"/>
                          </a:rPr>
                          <m:t>𝑎</m:t>
                        </m:r>
                      </m:sub>
                    </m:sSub>
                    <m:r>
                      <a:rPr lang="en-IN" b="0" i="1" smtClean="0">
                        <a:latin typeface="Cambria Math" panose="02040503050406030204" pitchFamily="18" charset="0"/>
                      </a:rPr>
                      <m:t> </m:t>
                    </m:r>
                    <m:r>
                      <a:rPr lang="en-IN" b="0" i="1" smtClean="0">
                        <a:latin typeface="Cambria Math" panose="02040503050406030204" pitchFamily="18" charset="0"/>
                        <a:ea typeface="Cambria Math" panose="02040503050406030204" pitchFamily="18" charset="0"/>
                      </a:rPr>
                      <m:t>→ </m:t>
                    </m:r>
                    <m:acc>
                      <m:accPr>
                        <m:chr m:val="̂"/>
                        <m:ctrlPr>
                          <a:rPr lang="en-IN" b="0" i="1" smtClean="0">
                            <a:latin typeface="Cambria Math" panose="02040503050406030204" pitchFamily="18" charset="0"/>
                            <a:ea typeface="Cambria Math" panose="02040503050406030204" pitchFamily="18" charset="0"/>
                          </a:rPr>
                        </m:ctrlPr>
                      </m:accPr>
                      <m:e>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𝜆</m:t>
                            </m:r>
                          </m:e>
                          <m:sub>
                            <m:r>
                              <a:rPr lang="en-IN" b="0" i="1" smtClean="0">
                                <a:latin typeface="Cambria Math" panose="02040503050406030204" pitchFamily="18" charset="0"/>
                                <a:ea typeface="Cambria Math" panose="02040503050406030204" pitchFamily="18" charset="0"/>
                              </a:rPr>
                              <m:t>𝑎</m:t>
                            </m:r>
                          </m:sub>
                        </m:sSub>
                      </m:e>
                    </m:acc>
                  </m:oMath>
                </a14:m>
                <a:r>
                  <a:rPr lang="en-IN" dirty="0"/>
                  <a:t>)</a:t>
                </a:r>
              </a:p>
              <a:p>
                <a:pPr lvl="1">
                  <a:lnSpc>
                    <a:spcPct val="160000"/>
                  </a:lnSpc>
                </a:pPr>
                <a:r>
                  <a:rPr lang="en-IN" sz="1700" dirty="0">
                    <a:latin typeface="+mj-lt"/>
                  </a:rPr>
                  <a:t>calculate the injection process of the queue based on new </a:t>
                </a:r>
                <a14:m>
                  <m:oMath xmlns:m="http://schemas.openxmlformats.org/officeDocument/2006/math">
                    <m:r>
                      <a:rPr lang="en-IN" sz="1700" b="0" i="0" smtClean="0">
                        <a:latin typeface="Cambria Math" panose="02040503050406030204" pitchFamily="18" charset="0"/>
                      </a:rPr>
                      <m:t>(</m:t>
                    </m:r>
                    <m:r>
                      <m:rPr>
                        <m:sty m:val="p"/>
                      </m:rPr>
                      <a:rPr lang="en-IN" sz="1700" b="0" i="0" smtClean="0">
                        <a:latin typeface="Cambria Math" panose="02040503050406030204" pitchFamily="18" charset="0"/>
                      </a:rPr>
                      <m:t>service</m:t>
                    </m:r>
                    <m:r>
                      <a:rPr lang="en-IN" sz="1700" b="0" i="0" smtClean="0">
                        <a:latin typeface="Cambria Math" panose="02040503050406030204" pitchFamily="18" charset="0"/>
                      </a:rPr>
                      <m:t>_</m:t>
                    </m:r>
                    <m:r>
                      <m:rPr>
                        <m:sty m:val="p"/>
                      </m:rPr>
                      <a:rPr lang="en-IN" sz="1700" b="0" i="0" smtClean="0">
                        <a:latin typeface="Cambria Math" panose="02040503050406030204" pitchFamily="18" charset="0"/>
                      </a:rPr>
                      <m:t>time</m:t>
                    </m:r>
                    <m:r>
                      <a:rPr lang="en-IN" sz="1700" b="0" i="0" smtClean="0">
                        <a:latin typeface="Cambria Math" panose="02040503050406030204" pitchFamily="18" charset="0"/>
                      </a:rPr>
                      <m:t>)</m:t>
                    </m:r>
                    <m:acc>
                      <m:accPr>
                        <m:chr m:val="̂"/>
                        <m:ctrlPr>
                          <a:rPr lang="en-IN" sz="1700" i="1" smtClean="0">
                            <a:latin typeface="Cambria Math" panose="02040503050406030204" pitchFamily="18" charset="0"/>
                          </a:rPr>
                        </m:ctrlPr>
                      </m:accPr>
                      <m:e>
                        <m:r>
                          <a:rPr lang="en-IN" sz="1700" b="0" i="1" smtClean="0">
                            <a:latin typeface="Cambria Math" panose="02040503050406030204" pitchFamily="18" charset="0"/>
                          </a:rPr>
                          <m:t>𝑡</m:t>
                        </m:r>
                      </m:e>
                    </m:acc>
                  </m:oMath>
                </a14:m>
                <a:r>
                  <a:rPr lang="en-IN" sz="1700" dirty="0">
                    <a:latin typeface="+mj-lt"/>
                  </a:rPr>
                  <a:t>  and </a:t>
                </a:r>
                <a:r>
                  <a:rPr lang="en-IN" sz="1700" dirty="0" err="1">
                    <a:latin typeface="+mj-lt"/>
                  </a:rPr>
                  <a:t>buffer_size</a:t>
                </a:r>
                <a:r>
                  <a:rPr lang="en-IN" sz="1700" dirty="0">
                    <a:latin typeface="+mj-lt"/>
                  </a:rPr>
                  <a:t> of the queue.</a:t>
                </a:r>
              </a:p>
              <a:p>
                <a:pPr lvl="1">
                  <a:lnSpc>
                    <a:spcPct val="160000"/>
                  </a:lnSpc>
                </a:pPr>
                <a:r>
                  <a:rPr lang="en-IN" sz="1700" dirty="0">
                    <a:latin typeface="+mj-lt"/>
                  </a:rPr>
                  <a:t>Update the queue’s </a:t>
                </a:r>
                <a:r>
                  <a:rPr lang="en-IN" sz="1700" dirty="0" err="1">
                    <a:latin typeface="+mj-lt"/>
                  </a:rPr>
                  <a:t>injection_rate</a:t>
                </a:r>
                <a:r>
                  <a:rPr lang="en-IN" sz="1700" dirty="0">
                    <a:latin typeface="+mj-lt"/>
                  </a:rPr>
                  <a:t> and </a:t>
                </a:r>
                <a:r>
                  <a:rPr lang="en-IN" sz="1700" dirty="0" err="1">
                    <a:latin typeface="+mj-lt"/>
                  </a:rPr>
                  <a:t>coeff_inter_arrival_time</a:t>
                </a:r>
                <a:r>
                  <a:rPr lang="en-IN" sz="1700" dirty="0">
                    <a:latin typeface="+mj-lt"/>
                  </a:rPr>
                  <a:t>.</a:t>
                </a:r>
              </a:p>
              <a:p>
                <a:pPr lvl="1">
                  <a:lnSpc>
                    <a:spcPct val="160000"/>
                  </a:lnSpc>
                </a:pPr>
                <a:r>
                  <a:rPr lang="en-IN" sz="1700" dirty="0">
                    <a:latin typeface="+mj-lt"/>
                  </a:rPr>
                  <a:t>Updates the corresponding Node’s </a:t>
                </a:r>
                <a:r>
                  <a:rPr lang="en-IN" sz="1700" dirty="0" err="1">
                    <a:latin typeface="+mj-lt"/>
                  </a:rPr>
                  <a:t>injection_rate</a:t>
                </a:r>
                <a:r>
                  <a:rPr lang="en-IN" sz="1700" dirty="0">
                    <a:latin typeface="+mj-lt"/>
                  </a:rPr>
                  <a:t> and </a:t>
                </a:r>
                <a:r>
                  <a:rPr lang="en-IN" sz="1700" dirty="0" err="1">
                    <a:latin typeface="+mj-lt"/>
                  </a:rPr>
                  <a:t>coeff_inter_arrival_time</a:t>
                </a:r>
                <a:r>
                  <a:rPr lang="en-IN" sz="1700" dirty="0">
                    <a:latin typeface="+mj-lt"/>
                  </a:rPr>
                  <a:t>.</a:t>
                </a:r>
              </a:p>
              <a:p>
                <a:pPr lvl="1"/>
                <a:endParaRPr lang="en-IN" dirty="0"/>
              </a:p>
            </p:txBody>
          </p:sp>
        </mc:Choice>
        <mc:Fallback xmlns="">
          <p:sp>
            <p:nvSpPr>
              <p:cNvPr id="3" name="Content Placeholder 2">
                <a:extLst>
                  <a:ext uri="{FF2B5EF4-FFF2-40B4-BE49-F238E27FC236}">
                    <a16:creationId xmlns:a16="http://schemas.microsoft.com/office/drawing/2014/main" id="{D27E5506-3092-285F-3E84-1FF05EE45722}"/>
                  </a:ext>
                </a:extLst>
              </p:cNvPr>
              <p:cNvSpPr>
                <a:spLocks noGrp="1" noRot="1" noChangeAspect="1" noMove="1" noResize="1" noEditPoints="1" noAdjustHandles="1" noChangeArrowheads="1" noChangeShapeType="1" noTextEdit="1"/>
              </p:cNvSpPr>
              <p:nvPr>
                <p:ph idx="1"/>
              </p:nvPr>
            </p:nvSpPr>
            <p:spPr>
              <a:xfrm>
                <a:off x="373626" y="954593"/>
                <a:ext cx="11179277" cy="5222370"/>
              </a:xfrm>
              <a:blipFill>
                <a:blip r:embed="rId2"/>
                <a:stretch>
                  <a:fillRect l="-818"/>
                </a:stretch>
              </a:blipFill>
            </p:spPr>
            <p:txBody>
              <a:bodyPr/>
              <a:lstStyle/>
              <a:p>
                <a:r>
                  <a:rPr lang="en-IN">
                    <a:noFill/>
                  </a:rPr>
                  <a:t> </a:t>
                </a:r>
              </a:p>
            </p:txBody>
          </p:sp>
        </mc:Fallback>
      </mc:AlternateContent>
      <p:cxnSp>
        <p:nvCxnSpPr>
          <p:cNvPr id="5" name="Straight Arrow Connector 4">
            <a:extLst>
              <a:ext uri="{FF2B5EF4-FFF2-40B4-BE49-F238E27FC236}">
                <a16:creationId xmlns:a16="http://schemas.microsoft.com/office/drawing/2014/main" id="{989319ED-227C-D9D5-BE98-E04DF0CA0B91}"/>
              </a:ext>
            </a:extLst>
          </p:cNvPr>
          <p:cNvCxnSpPr/>
          <p:nvPr/>
        </p:nvCxnSpPr>
        <p:spPr>
          <a:xfrm>
            <a:off x="5063613" y="2182763"/>
            <a:ext cx="45228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2DF7A14-BD43-6894-1522-66A44244F156}"/>
                  </a:ext>
                </a:extLst>
              </p:cNvPr>
              <p:cNvSpPr txBox="1"/>
              <p:nvPr/>
            </p:nvSpPr>
            <p:spPr>
              <a:xfrm>
                <a:off x="5515897" y="1961536"/>
                <a:ext cx="6302477" cy="6383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1600" i="1" dirty="0" smtClean="0">
                              <a:latin typeface="Cambria Math" panose="02040503050406030204" pitchFamily="18" charset="0"/>
                            </a:rPr>
                          </m:ctrlPr>
                        </m:fPr>
                        <m:num>
                          <m:sSub>
                            <m:sSubPr>
                              <m:ctrlPr>
                                <a:rPr lang="en-IN" sz="1600" i="1" dirty="0">
                                  <a:latin typeface="Cambria Math" panose="02040503050406030204" pitchFamily="18" charset="0"/>
                                </a:rPr>
                              </m:ctrlPr>
                            </m:sSubPr>
                            <m:e>
                              <m:r>
                                <a:rPr lang="en-IN" sz="1600" i="1" dirty="0">
                                  <a:latin typeface="Cambria Math" panose="02040503050406030204" pitchFamily="18" charset="0"/>
                                </a:rPr>
                                <m:t>𝜌</m:t>
                              </m:r>
                            </m:e>
                            <m:sub>
                              <m:r>
                                <a:rPr lang="en-IN" sz="1600" i="1" dirty="0">
                                  <a:latin typeface="Cambria Math" panose="02040503050406030204" pitchFamily="18" charset="0"/>
                                </a:rPr>
                                <m:t>𝑆𝑖𝑛𝑘</m:t>
                              </m:r>
                            </m:sub>
                          </m:sSub>
                          <m:r>
                            <a:rPr lang="en-IN" sz="1600" i="1" dirty="0">
                              <a:latin typeface="Cambria Math" panose="02040503050406030204" pitchFamily="18" charset="0"/>
                            </a:rPr>
                            <m:t>∗(</m:t>
                          </m:r>
                          <m:sSub>
                            <m:sSubPr>
                              <m:ctrlPr>
                                <a:rPr lang="en-IN" sz="1600" i="1" dirty="0">
                                  <a:latin typeface="Cambria Math" panose="02040503050406030204" pitchFamily="18" charset="0"/>
                                </a:rPr>
                              </m:ctrlPr>
                            </m:sSubPr>
                            <m:e>
                              <m:r>
                                <a:rPr lang="en-IN" sz="1600" i="1" dirty="0">
                                  <a:latin typeface="Cambria Math" panose="02040503050406030204" pitchFamily="18" charset="0"/>
                                </a:rPr>
                                <m:t>𝜌</m:t>
                              </m:r>
                            </m:e>
                            <m:sub>
                              <m:r>
                                <a:rPr lang="en-IN" sz="1600" i="1" dirty="0">
                                  <a:latin typeface="Cambria Math" panose="02040503050406030204" pitchFamily="18" charset="0"/>
                                </a:rPr>
                                <m:t>𝑆𝑖𝑛𝑘</m:t>
                              </m:r>
                            </m:sub>
                          </m:sSub>
                          <m:r>
                            <a:rPr lang="en-IN" sz="1600" i="1" dirty="0">
                              <a:latin typeface="Cambria Math" panose="02040503050406030204" pitchFamily="18" charset="0"/>
                            </a:rPr>
                            <m:t> − 1 + </m:t>
                          </m:r>
                          <m:sSubSup>
                            <m:sSubSupPr>
                              <m:ctrlPr>
                                <a:rPr lang="en-IN" sz="1600" i="1" dirty="0">
                                  <a:latin typeface="Cambria Math" panose="02040503050406030204" pitchFamily="18" charset="0"/>
                                </a:rPr>
                              </m:ctrlPr>
                            </m:sSubSupPr>
                            <m:e>
                              <m:r>
                                <a:rPr lang="en-IN" sz="1600" i="1" dirty="0">
                                  <a:latin typeface="Cambria Math" panose="02040503050406030204" pitchFamily="18" charset="0"/>
                                </a:rPr>
                                <m:t>𝐶𝑎</m:t>
                              </m:r>
                            </m:e>
                            <m:sub>
                              <m:r>
                                <a:rPr lang="en-IN" sz="1600" i="1" dirty="0">
                                  <a:latin typeface="Cambria Math" panose="02040503050406030204" pitchFamily="18" charset="0"/>
                                </a:rPr>
                                <m:t>𝑆𝑖𝑛𝑘</m:t>
                              </m:r>
                            </m:sub>
                            <m:sup>
                              <m:r>
                                <a:rPr lang="en-IN" sz="1600" i="1" dirty="0">
                                  <a:latin typeface="Cambria Math" panose="02040503050406030204" pitchFamily="18" charset="0"/>
                                </a:rPr>
                                <m:t>2</m:t>
                              </m:r>
                            </m:sup>
                          </m:sSubSup>
                          <m:r>
                            <a:rPr lang="en-IN" sz="1600" i="1" dirty="0">
                              <a:latin typeface="Cambria Math" panose="02040503050406030204" pitchFamily="18" charset="0"/>
                            </a:rPr>
                            <m:t> + </m:t>
                          </m:r>
                          <m:sSub>
                            <m:sSubPr>
                              <m:ctrlPr>
                                <a:rPr lang="en-IN" sz="1600" i="1" dirty="0">
                                  <a:latin typeface="Cambria Math" panose="02040503050406030204" pitchFamily="18" charset="0"/>
                                </a:rPr>
                              </m:ctrlPr>
                            </m:sSubPr>
                            <m:e>
                              <m:r>
                                <a:rPr lang="en-IN" sz="1600" i="1" dirty="0">
                                  <a:latin typeface="Cambria Math" panose="02040503050406030204" pitchFamily="18" charset="0"/>
                                </a:rPr>
                                <m:t>𝜌</m:t>
                              </m:r>
                            </m:e>
                            <m:sub>
                              <m:r>
                                <a:rPr lang="en-IN" sz="1600" i="1" dirty="0">
                                  <a:latin typeface="Cambria Math" panose="02040503050406030204" pitchFamily="18" charset="0"/>
                                </a:rPr>
                                <m:t>𝑆𝑖𝑛𝑘</m:t>
                              </m:r>
                            </m:sub>
                          </m:sSub>
                          <m:r>
                            <a:rPr lang="en-IN" sz="1600" i="1" dirty="0">
                              <a:latin typeface="Cambria Math" panose="02040503050406030204" pitchFamily="18" charset="0"/>
                            </a:rPr>
                            <m:t>∗</m:t>
                          </m:r>
                          <m:sSubSup>
                            <m:sSubSupPr>
                              <m:ctrlPr>
                                <a:rPr lang="en-IN" sz="1600" i="1" dirty="0">
                                  <a:latin typeface="Cambria Math" panose="02040503050406030204" pitchFamily="18" charset="0"/>
                                </a:rPr>
                              </m:ctrlPr>
                            </m:sSubSupPr>
                            <m:e>
                              <m:r>
                                <a:rPr lang="en-IN" sz="1600" i="1" dirty="0">
                                  <a:latin typeface="Cambria Math" panose="02040503050406030204" pitchFamily="18" charset="0"/>
                                </a:rPr>
                                <m:t>𝐶𝑎</m:t>
                              </m:r>
                            </m:e>
                            <m:sub>
                              <m:r>
                                <a:rPr lang="en-IN" sz="1600" i="1" dirty="0">
                                  <a:latin typeface="Cambria Math" panose="02040503050406030204" pitchFamily="18" charset="0"/>
                                </a:rPr>
                                <m:t>𝑆𝑖𝑛𝑘</m:t>
                              </m:r>
                            </m:sub>
                            <m:sup>
                              <m:r>
                                <a:rPr lang="en-IN" sz="1600" i="1" dirty="0">
                                  <a:latin typeface="Cambria Math" panose="02040503050406030204" pitchFamily="18" charset="0"/>
                                </a:rPr>
                                <m:t>2</m:t>
                              </m:r>
                            </m:sup>
                          </m:sSubSup>
                          <m:r>
                            <a:rPr lang="en-IN" sz="1600" b="0" i="1" dirty="0" smtClean="0">
                              <a:latin typeface="Cambria Math" panose="02040503050406030204" pitchFamily="18" charset="0"/>
                            </a:rPr>
                            <m:t>)</m:t>
                          </m:r>
                        </m:num>
                        <m:den>
                          <m:r>
                            <a:rPr lang="en-IN" sz="1600" i="1" dirty="0">
                              <a:latin typeface="Cambria Math" panose="02040503050406030204" pitchFamily="18" charset="0"/>
                            </a:rPr>
                            <m:t>2−2∗</m:t>
                          </m:r>
                          <m:r>
                            <a:rPr lang="en-IN" sz="1600" i="1" dirty="0" err="1">
                              <a:latin typeface="Cambria Math" panose="02040503050406030204" pitchFamily="18" charset="0"/>
                            </a:rPr>
                            <m:t>𝑟h𝑜</m:t>
                          </m:r>
                          <m:r>
                            <a:rPr lang="en-IN" sz="1600" i="1" dirty="0" err="1">
                              <a:latin typeface="Cambria Math" panose="02040503050406030204" pitchFamily="18" charset="0"/>
                            </a:rPr>
                            <m:t>_</m:t>
                          </m:r>
                          <m:r>
                            <a:rPr lang="en-IN" sz="1600" i="1" dirty="0" err="1">
                              <a:latin typeface="Cambria Math" panose="02040503050406030204" pitchFamily="18" charset="0"/>
                            </a:rPr>
                            <m:t>𝑠𝑖𝑛𝑘</m:t>
                          </m:r>
                          <m:r>
                            <a:rPr lang="en-IN" sz="1600" i="1" dirty="0">
                              <a:latin typeface="Cambria Math" panose="02040503050406030204" pitchFamily="18" charset="0"/>
                            </a:rPr>
                            <m:t>)</m:t>
                          </m:r>
                        </m:den>
                      </m:f>
                      <m:r>
                        <a:rPr lang="en-IN" sz="1600" i="1" dirty="0" smtClean="0">
                          <a:latin typeface="Cambria Math" panose="02040503050406030204" pitchFamily="18" charset="0"/>
                        </a:rPr>
                        <m:t>+</m:t>
                      </m:r>
                      <m:r>
                        <a:rPr lang="en-IN" sz="1600" i="1" dirty="0" err="1" smtClean="0">
                          <a:latin typeface="Cambria Math" panose="02040503050406030204" pitchFamily="18" charset="0"/>
                        </a:rPr>
                        <m:t>𝑟h𝑜</m:t>
                      </m:r>
                      <m:r>
                        <a:rPr lang="en-IN" sz="1600" i="1" dirty="0" err="1" smtClean="0">
                          <a:latin typeface="Cambria Math" panose="02040503050406030204" pitchFamily="18" charset="0"/>
                        </a:rPr>
                        <m:t>_</m:t>
                      </m:r>
                      <m:r>
                        <a:rPr lang="en-IN" sz="1600" i="1" dirty="0" err="1" smtClean="0">
                          <a:latin typeface="Cambria Math" panose="02040503050406030204" pitchFamily="18" charset="0"/>
                        </a:rPr>
                        <m:t>𝑠𝑖𝑛𝑘</m:t>
                      </m:r>
                      <m:r>
                        <a:rPr lang="en-IN" sz="1600" i="1" dirty="0" smtClean="0">
                          <a:latin typeface="Cambria Math" panose="02040503050406030204" pitchFamily="18" charset="0"/>
                        </a:rPr>
                        <m:t>;</m:t>
                      </m:r>
                    </m:oMath>
                  </m:oMathPara>
                </a14:m>
                <a:endParaRPr lang="en-IN" sz="1600" dirty="0"/>
              </a:p>
            </p:txBody>
          </p:sp>
        </mc:Choice>
        <mc:Fallback xmlns="">
          <p:sp>
            <p:nvSpPr>
              <p:cNvPr id="7" name="TextBox 6">
                <a:extLst>
                  <a:ext uri="{FF2B5EF4-FFF2-40B4-BE49-F238E27FC236}">
                    <a16:creationId xmlns:a16="http://schemas.microsoft.com/office/drawing/2014/main" id="{E2DF7A14-BD43-6894-1522-66A44244F156}"/>
                  </a:ext>
                </a:extLst>
              </p:cNvPr>
              <p:cNvSpPr txBox="1">
                <a:spLocks noRot="1" noChangeAspect="1" noMove="1" noResize="1" noEditPoints="1" noAdjustHandles="1" noChangeArrowheads="1" noChangeShapeType="1" noTextEdit="1"/>
              </p:cNvSpPr>
              <p:nvPr/>
            </p:nvSpPr>
            <p:spPr>
              <a:xfrm>
                <a:off x="5515897" y="1961536"/>
                <a:ext cx="6302477" cy="638316"/>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57347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3362-83EC-0B5C-5271-25F5E11E2494}"/>
              </a:ext>
            </a:extLst>
          </p:cNvPr>
          <p:cNvSpPr>
            <a:spLocks noGrp="1"/>
          </p:cNvSpPr>
          <p:nvPr>
            <p:ph type="title"/>
          </p:nvPr>
        </p:nvSpPr>
        <p:spPr>
          <a:xfrm>
            <a:off x="838200" y="365125"/>
            <a:ext cx="10515600" cy="485267"/>
          </a:xfrm>
          <a:solidFill>
            <a:schemeClr val="tx1"/>
          </a:solidFill>
        </p:spPr>
        <p:txBody>
          <a:bodyPr>
            <a:noAutofit/>
          </a:bodyPr>
          <a:lstStyle/>
          <a:p>
            <a:pPr algn="ctr"/>
            <a:r>
              <a:rPr lang="en-US" sz="3200" dirty="0">
                <a:solidFill>
                  <a:srgbClr val="FFC000"/>
                </a:solidFill>
              </a:rPr>
              <a:t>Modifying  Service  Process of the Queues with </a:t>
            </a:r>
            <a:r>
              <a:rPr lang="en-US" sz="3200" b="1" dirty="0">
                <a:solidFill>
                  <a:srgbClr val="FFC000"/>
                </a:solidFill>
              </a:rPr>
              <a:t>RR arbiter</a:t>
            </a:r>
          </a:p>
        </p:txBody>
      </p:sp>
      <p:pic>
        <p:nvPicPr>
          <p:cNvPr id="5" name="Content Placeholder 4">
            <a:extLst>
              <a:ext uri="{FF2B5EF4-FFF2-40B4-BE49-F238E27FC236}">
                <a16:creationId xmlns:a16="http://schemas.microsoft.com/office/drawing/2014/main" id="{4DF715EA-8C71-E4EE-7D9C-1D8CF13EA41A}"/>
              </a:ext>
            </a:extLst>
          </p:cNvPr>
          <p:cNvPicPr>
            <a:picLocks noGrp="1" noChangeAspect="1"/>
          </p:cNvPicPr>
          <p:nvPr>
            <p:ph idx="1"/>
          </p:nvPr>
        </p:nvPicPr>
        <p:blipFill>
          <a:blip r:embed="rId2"/>
          <a:srcRect r="4753"/>
          <a:stretch/>
        </p:blipFill>
        <p:spPr>
          <a:xfrm>
            <a:off x="1194816" y="2649552"/>
            <a:ext cx="10015728" cy="3226680"/>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6EC597B-9D06-27A3-E6F5-25343E725533}"/>
                  </a:ext>
                </a:extLst>
              </p:cNvPr>
              <p:cNvSpPr txBox="1"/>
              <p:nvPr/>
            </p:nvSpPr>
            <p:spPr>
              <a:xfrm>
                <a:off x="1472184" y="1499616"/>
                <a:ext cx="10238232" cy="1095493"/>
              </a:xfrm>
              <a:prstGeom prst="rect">
                <a:avLst/>
              </a:prstGeom>
              <a:noFill/>
            </p:spPr>
            <p:txBody>
              <a:bodyPr wrap="square" rtlCol="0">
                <a:spAutoFit/>
              </a:bodyPr>
              <a:lstStyle/>
              <a:p>
                <a:pPr marL="285750" indent="-285750">
                  <a:buFont typeface="Arial" panose="020B0604020202020204" pitchFamily="34" charset="0"/>
                  <a:buChar char="•"/>
                </a:pPr>
                <a:r>
                  <a:rPr lang="en-US" dirty="0"/>
                  <a:t>Modified service process of the queues with RR(</a:t>
                </a:r>
                <a:r>
                  <a:rPr lang="en-US" dirty="0" err="1"/>
                  <a:t>RoundRobin</a:t>
                </a:r>
                <a:r>
                  <a:rPr lang="en-US" dirty="0"/>
                  <a:t>) arbiter :</a:t>
                </a:r>
              </a:p>
              <a:p>
                <a:pPr marL="742950" lvl="1" indent="-285750">
                  <a:buFont typeface="Arial" panose="020B0604020202020204" pitchFamily="34" charset="0"/>
                  <a:buChar char="•"/>
                </a:pP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𝑙</m:t>
                            </m:r>
                          </m:sub>
                        </m:sSub>
                      </m:e>
                    </m:acc>
                    <m:r>
                      <a:rPr lang="en-US" b="0" i="1" smtClean="0">
                        <a:latin typeface="Cambria Math" panose="02040503050406030204" pitchFamily="18" charset="0"/>
                      </a:rPr>
                      <m:t>=</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𝑅𝑅</m:t>
                            </m:r>
                          </m:sub>
                        </m:sSub>
                      </m:e>
                    </m:acc>
                  </m:oMath>
                </a14:m>
                <a:r>
                  <a:rPr lang="en-US" dirty="0"/>
                  <a:t> </a:t>
                </a:r>
                <a14:m>
                  <m:oMath xmlns:m="http://schemas.openxmlformats.org/officeDocument/2006/math">
                    <m:r>
                      <a:rPr lang="en-US" b="0" i="1" dirty="0" smtClean="0">
                        <a:latin typeface="Cambria Math" panose="02040503050406030204" pitchFamily="18" charset="0"/>
                      </a:rPr>
                      <m:t>+</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min</m:t>
                        </m:r>
                      </m:fName>
                      <m:e>
                        <m:r>
                          <a:rPr lang="en-US" b="0" i="1" dirty="0" smtClean="0">
                            <a:latin typeface="Cambria Math" panose="02040503050406030204" pitchFamily="18" charset="0"/>
                          </a:rPr>
                          <m:t>(1, 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𝜆</m:t>
                            </m:r>
                          </m:e>
                          <m:sub>
                            <m:r>
                              <a:rPr lang="en-US" b="0" i="1" dirty="0" smtClean="0">
                                <a:latin typeface="Cambria Math" panose="02040503050406030204" pitchFamily="18" charset="0"/>
                              </a:rPr>
                              <m:t>𝑙</m:t>
                            </m:r>
                          </m:sub>
                        </m:sSub>
                      </m:e>
                    </m:func>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𝑙</m:t>
                            </m:r>
                          </m:sub>
                        </m:sSub>
                      </m:e>
                    </m:acc>
                  </m:oMath>
                </a14:m>
                <a:r>
                  <a:rPr lang="en-US" dirty="0"/>
                  <a:t> )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min</m:t>
                        </m:r>
                      </m:fName>
                      <m:e>
                        <m:r>
                          <a:rPr lang="en-US" b="0" i="1" dirty="0" smtClean="0">
                            <a:latin typeface="Cambria Math" panose="02040503050406030204" pitchFamily="18" charset="0"/>
                          </a:rPr>
                          <m:t>(1, </m:t>
                        </m:r>
                        <m:nary>
                          <m:naryPr>
                            <m:chr m:val="∑"/>
                            <m:ctrlPr>
                              <a:rPr lang="en-US" b="0" i="1" dirty="0" smtClean="0">
                                <a:latin typeface="Cambria Math" panose="02040503050406030204" pitchFamily="18" charset="0"/>
                              </a:rPr>
                            </m:ctrlPr>
                          </m:naryPr>
                          <m:sub>
                            <m:eqArr>
                              <m:eqArrPr>
                                <m:ctrlPr>
                                  <a:rPr lang="en-US" b="0" i="1" dirty="0" smtClean="0">
                                    <a:latin typeface="Cambria Math" panose="02040503050406030204" pitchFamily="18" charset="0"/>
                                  </a:rPr>
                                </m:ctrlPr>
                              </m:eqArrPr>
                              <m:e>
                                <m:r>
                                  <m:rPr>
                                    <m:brk m:alnAt="23"/>
                                  </m:rPr>
                                  <a:rPr lang="en-US" b="0" i="1" dirty="0" smtClean="0">
                                    <a:latin typeface="Cambria Math" panose="02040503050406030204" pitchFamily="18" charset="0"/>
                                  </a:rPr>
                                  <m:t>𝑚</m:t>
                                </m:r>
                                <m:r>
                                  <a:rPr lang="en-US" b="0" i="1" dirty="0" smtClean="0">
                                    <a:latin typeface="Cambria Math" panose="02040503050406030204" pitchFamily="18" charset="0"/>
                                  </a:rPr>
                                  <m:t>=1</m:t>
                                </m:r>
                              </m:e>
                              <m:e>
                                <m:r>
                                  <a:rPr lang="en-US" b="0" i="1" dirty="0" smtClean="0">
                                    <a:latin typeface="Cambria Math" panose="02040503050406030204" pitchFamily="18" charset="0"/>
                                  </a:rPr>
                                  <m:t>𝑚</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𝑙</m:t>
                                </m:r>
                              </m:e>
                            </m:eqArr>
                          </m:sub>
                          <m:sup>
                            <m:r>
                              <a:rPr lang="en-US" b="0" i="1" dirty="0" smtClean="0">
                                <a:latin typeface="Cambria Math" panose="02040503050406030204" pitchFamily="18" charset="0"/>
                              </a:rPr>
                              <m:t>𝑀</m:t>
                            </m:r>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𝜆</m:t>
                                </m:r>
                              </m:e>
                              <m:sub>
                                <m:r>
                                  <a:rPr lang="en-US" b="0" i="1" dirty="0" smtClean="0">
                                    <a:latin typeface="Cambria Math" panose="02040503050406030204" pitchFamily="18" charset="0"/>
                                  </a:rPr>
                                  <m:t>𝑚</m:t>
                                </m:r>
                              </m:sub>
                            </m:sSub>
                          </m:e>
                        </m:nary>
                      </m:e>
                    </m:func>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𝑙</m:t>
                            </m:r>
                          </m:sub>
                        </m:sSub>
                      </m:e>
                    </m:acc>
                  </m:oMath>
                </a14:m>
                <a:r>
                  <a:rPr lang="en-US" dirty="0"/>
                  <a:t> ) </a:t>
                </a:r>
              </a:p>
              <a:p>
                <a:r>
                  <a:rPr lang="en-US" dirty="0"/>
                  <a:t>	</a:t>
                </a:r>
              </a:p>
            </p:txBody>
          </p:sp>
        </mc:Choice>
        <mc:Fallback xmlns="">
          <p:sp>
            <p:nvSpPr>
              <p:cNvPr id="6" name="TextBox 5">
                <a:extLst>
                  <a:ext uri="{FF2B5EF4-FFF2-40B4-BE49-F238E27FC236}">
                    <a16:creationId xmlns:a16="http://schemas.microsoft.com/office/drawing/2014/main" id="{06EC597B-9D06-27A3-E6F5-25343E725533}"/>
                  </a:ext>
                </a:extLst>
              </p:cNvPr>
              <p:cNvSpPr txBox="1">
                <a:spLocks noRot="1" noChangeAspect="1" noMove="1" noResize="1" noEditPoints="1" noAdjustHandles="1" noChangeArrowheads="1" noChangeShapeType="1" noTextEdit="1"/>
              </p:cNvSpPr>
              <p:nvPr/>
            </p:nvSpPr>
            <p:spPr>
              <a:xfrm>
                <a:off x="1472184" y="1499616"/>
                <a:ext cx="10238232" cy="1095493"/>
              </a:xfrm>
              <a:prstGeom prst="rect">
                <a:avLst/>
              </a:prstGeom>
              <a:blipFill>
                <a:blip r:embed="rId3"/>
                <a:stretch>
                  <a:fillRect l="-417" t="-13333" b="-23333"/>
                </a:stretch>
              </a:blipFill>
            </p:spPr>
            <p:txBody>
              <a:bodyPr/>
              <a:lstStyle/>
              <a:p>
                <a:r>
                  <a:rPr lang="en-US">
                    <a:noFill/>
                  </a:rPr>
                  <a:t> </a:t>
                </a:r>
              </a:p>
            </p:txBody>
          </p:sp>
        </mc:Fallback>
      </mc:AlternateContent>
    </p:spTree>
    <p:extLst>
      <p:ext uri="{BB962C8B-B14F-4D97-AF65-F5344CB8AC3E}">
        <p14:creationId xmlns:p14="http://schemas.microsoft.com/office/powerpoint/2010/main" val="3590977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5C5832-BA3A-9084-CCF8-9FC5B67E51E9}"/>
                  </a:ext>
                </a:extLst>
              </p:cNvPr>
              <p:cNvSpPr>
                <a:spLocks noGrp="1"/>
              </p:cNvSpPr>
              <p:nvPr>
                <p:ph idx="1"/>
              </p:nvPr>
            </p:nvSpPr>
            <p:spPr>
              <a:xfrm>
                <a:off x="530352" y="1069848"/>
                <a:ext cx="5565648" cy="5559552"/>
              </a:xfrm>
            </p:spPr>
            <p:txBody>
              <a:bodyPr>
                <a:normAutofit/>
              </a:bodyPr>
              <a:lstStyle/>
              <a:p>
                <a:r>
                  <a:rPr lang="en-US" sz="1400" dirty="0"/>
                  <a:t>the probability that a low priority class flit is delayed due to high priority class flits is:</a:t>
                </a:r>
              </a:p>
              <a:p>
                <a:pPr lvl="1"/>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𝑃</m:t>
                        </m:r>
                      </m:e>
                      <m:sub>
                        <m:r>
                          <a:rPr lang="en-US" sz="1600" b="0" i="1" smtClean="0">
                            <a:latin typeface="Cambria Math" panose="02040503050406030204" pitchFamily="18" charset="0"/>
                          </a:rPr>
                          <m:t>𝑛</m:t>
                        </m:r>
                      </m:sub>
                    </m:sSub>
                  </m:oMath>
                </a14:m>
                <a:r>
                  <a:rPr lang="en-US" sz="1600" dirty="0"/>
                  <a:t> = </a:t>
                </a:r>
                <a14:m>
                  <m:oMath xmlns:m="http://schemas.openxmlformats.org/officeDocument/2006/math">
                    <m:nary>
                      <m:naryPr>
                        <m:chr m:val="∑"/>
                        <m:ctrlPr>
                          <a:rPr lang="en-US" sz="160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=0</m:t>
                        </m:r>
                      </m:sub>
                      <m:sup>
                        <m:r>
                          <a:rPr lang="en-US" sz="1600" b="0" i="1" smtClean="0">
                            <a:latin typeface="Cambria Math" panose="02040503050406030204" pitchFamily="18" charset="0"/>
                          </a:rPr>
                          <m:t>𝑖</m:t>
                        </m:r>
                        <m:r>
                          <a:rPr lang="en-US" sz="1600" b="0" i="1" smtClean="0">
                            <a:latin typeface="Cambria Math" panose="02040503050406030204" pitchFamily="18" charset="0"/>
                          </a:rPr>
                          <m:t>&lt;</m:t>
                        </m:r>
                        <m:r>
                          <a:rPr lang="en-US" sz="1600" b="0" i="1" smtClean="0">
                            <a:latin typeface="Cambria Math" panose="02040503050406030204" pitchFamily="18" charset="0"/>
                          </a:rPr>
                          <m:t>𝑛</m:t>
                        </m:r>
                      </m:sup>
                      <m:e>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𝜌</m:t>
                            </m:r>
                          </m:e>
                          <m:sub>
                            <m:r>
                              <a:rPr lang="en-US" sz="1600" b="0" i="1" smtClean="0">
                                <a:latin typeface="Cambria Math" panose="02040503050406030204" pitchFamily="18" charset="0"/>
                              </a:rPr>
                              <m:t>𝑖</m:t>
                            </m:r>
                          </m:sub>
                        </m:sSub>
                      </m:e>
                    </m:nary>
                  </m:oMath>
                </a14:m>
                <a:r>
                  <a:rPr lang="en-US" sz="1600" dirty="0"/>
                  <a:t> </a:t>
                </a:r>
                <a14:m>
                  <m:oMath xmlns:m="http://schemas.openxmlformats.org/officeDocument/2006/math">
                    <m:r>
                      <a:rPr lang="en-US" sz="1600" b="0" i="1" dirty="0" smtClean="0">
                        <a:latin typeface="Cambria Math" panose="02040503050406030204" pitchFamily="18" charset="0"/>
                      </a:rPr>
                      <m:t>+</m:t>
                    </m:r>
                    <m:d>
                      <m:dPr>
                        <m:ctrlPr>
                          <a:rPr lang="en-US" sz="1600" b="0" i="1" dirty="0" smtClean="0">
                            <a:latin typeface="Cambria Math" panose="02040503050406030204" pitchFamily="18" charset="0"/>
                          </a:rPr>
                        </m:ctrlPr>
                      </m:dPr>
                      <m:e>
                        <m:nary>
                          <m:naryPr>
                            <m:chr m:val="∑"/>
                            <m:ctrlPr>
                              <a:rPr lang="en-US" sz="160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=0</m:t>
                            </m:r>
                          </m:sub>
                          <m:sup>
                            <m:r>
                              <a:rPr lang="en-US" sz="1600" b="0" i="1" smtClean="0">
                                <a:latin typeface="Cambria Math" panose="02040503050406030204" pitchFamily="18" charset="0"/>
                              </a:rPr>
                              <m:t>𝑖</m:t>
                            </m:r>
                            <m:r>
                              <a:rPr lang="en-US" sz="1600" b="0" i="1" smtClean="0">
                                <a:latin typeface="Cambria Math" panose="02040503050406030204" pitchFamily="18" charset="0"/>
                              </a:rPr>
                              <m:t>&lt;</m:t>
                            </m:r>
                            <m:r>
                              <a:rPr lang="en-US" sz="1600" b="0" i="1" smtClean="0">
                                <a:latin typeface="Cambria Math" panose="02040503050406030204" pitchFamily="18" charset="0"/>
                              </a:rPr>
                              <m:t>𝑛</m:t>
                            </m:r>
                          </m:sup>
                          <m:e>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𝜆</m:t>
                                </m:r>
                              </m:e>
                              <m:sub>
                                <m:r>
                                  <a:rPr lang="en-US" sz="1600" b="0" i="1" smtClean="0">
                                    <a:latin typeface="Cambria Math" panose="02040503050406030204" pitchFamily="18" charset="0"/>
                                  </a:rPr>
                                  <m:t>𝑛</m:t>
                                </m:r>
                              </m:sub>
                            </m:sSub>
                          </m:e>
                        </m:nary>
                      </m:e>
                    </m:d>
                  </m:oMath>
                </a14:m>
                <a:r>
                  <a:rPr lang="en-US" sz="1600" dirty="0"/>
                  <a:t> </a:t>
                </a:r>
                <a14:m>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𝑛</m:t>
                        </m:r>
                      </m:sub>
                    </m:sSub>
                  </m:oMath>
                </a14:m>
                <a:endParaRPr lang="en-US" sz="1600" dirty="0"/>
              </a:p>
              <a:p>
                <a:pPr lvl="1"/>
                <a:endParaRPr lang="en-US" sz="1600" dirty="0"/>
              </a:p>
              <a:p>
                <a:pPr lvl="1"/>
                <a:endParaRPr lang="en-US" sz="1600" dirty="0"/>
              </a:p>
              <a:p>
                <a:pPr lvl="1"/>
                <a:endParaRPr lang="en-US" sz="1600" dirty="0"/>
              </a:p>
              <a:p>
                <a:r>
                  <a:rPr lang="en-US" sz="1400" dirty="0"/>
                  <a:t>Each time low priority class  flit is blocked by the high priority class flits, the extra delay will be service time of high priority class. Since each flit can be blocked multiple consecutive times, the additional busy period of serving low priority class </a:t>
                </a:r>
                <a14:m>
                  <m:oMath xmlns:m="http://schemas.openxmlformats.org/officeDocument/2006/math">
                    <m:r>
                      <a:rPr lang="en-US" sz="1400" i="1" dirty="0" smtClean="0">
                        <a:latin typeface="Cambria Math" panose="02040503050406030204" pitchFamily="18" charset="0"/>
                      </a:rPr>
                      <m:t>(</m:t>
                    </m:r>
                    <m:r>
                      <m:rPr>
                        <m:sty m:val="p"/>
                      </m:rPr>
                      <a:rPr lang="en-US" sz="1400" i="0" dirty="0" err="1" smtClean="0">
                        <a:latin typeface="Cambria Math" panose="02040503050406030204" pitchFamily="18" charset="0"/>
                      </a:rPr>
                      <m:t>Δ</m:t>
                    </m:r>
                    <m:sSub>
                      <m:sSubPr>
                        <m:ctrlPr>
                          <a:rPr lang="en-US" sz="1400" i="1" dirty="0" smtClean="0">
                            <a:latin typeface="Cambria Math" panose="02040503050406030204" pitchFamily="18" charset="0"/>
                          </a:rPr>
                        </m:ctrlPr>
                      </m:sSubPr>
                      <m:e>
                        <m:r>
                          <a:rPr lang="en-US" sz="1400" b="0" i="1" dirty="0" smtClean="0">
                            <a:latin typeface="Cambria Math" panose="02040503050406030204" pitchFamily="18" charset="0"/>
                          </a:rPr>
                          <m:t>𝑇</m:t>
                        </m:r>
                      </m:e>
                      <m:sub>
                        <m:r>
                          <a:rPr lang="en-US" sz="1400" b="0" i="1" dirty="0" smtClean="0">
                            <a:latin typeface="Cambria Math" panose="02040503050406030204" pitchFamily="18" charset="0"/>
                          </a:rPr>
                          <m:t>𝑛</m:t>
                        </m:r>
                      </m:sub>
                    </m:sSub>
                    <m:r>
                      <a:rPr lang="en-US" sz="1400" i="1" dirty="0" smtClean="0">
                        <a:latin typeface="Cambria Math" panose="02040503050406030204" pitchFamily="18" charset="0"/>
                      </a:rPr>
                      <m:t>) </m:t>
                    </m:r>
                  </m:oMath>
                </a14:m>
                <a:r>
                  <a:rPr lang="en-US" sz="1400" dirty="0"/>
                  <a:t>is expressed as:</a:t>
                </a:r>
              </a:p>
              <a:p>
                <a:pPr lvl="1"/>
                <a14:m>
                  <m:oMath xmlns:m="http://schemas.openxmlformats.org/officeDocument/2006/math">
                    <m:sSub>
                      <m:sSubPr>
                        <m:ctrlPr>
                          <a:rPr lang="en-US" sz="1400" i="1" smtClean="0">
                            <a:latin typeface="Cambria Math" panose="02040503050406030204" pitchFamily="18" charset="0"/>
                          </a:rPr>
                        </m:ctrlPr>
                      </m:sSubPr>
                      <m:e>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𝑇</m:t>
                        </m:r>
                      </m:e>
                      <m:sub>
                        <m:r>
                          <a:rPr lang="en-US" sz="1400" b="0" i="1" smtClean="0">
                            <a:latin typeface="Cambria Math" panose="02040503050406030204" pitchFamily="18" charset="0"/>
                          </a:rPr>
                          <m:t>𝑛</m:t>
                        </m:r>
                      </m:sub>
                    </m:sSub>
                  </m:oMath>
                </a14:m>
                <a:r>
                  <a:rPr lang="en-US" sz="1400" dirty="0"/>
                  <a:t> </a:t>
                </a:r>
                <a14:m>
                  <m:oMath xmlns:m="http://schemas.openxmlformats.org/officeDocument/2006/math">
                    <m:r>
                      <a:rPr lang="en-US" sz="1400" b="0" i="1" dirty="0" smtClean="0">
                        <a:latin typeface="Cambria Math" panose="02040503050406030204" pitchFamily="18" charset="0"/>
                      </a:rPr>
                      <m:t>= </m:t>
                    </m:r>
                    <m:d>
                      <m:dPr>
                        <m:ctrlPr>
                          <a:rPr lang="en-US" sz="1400" b="0" i="1" smtClean="0">
                            <a:latin typeface="Cambria Math" panose="02040503050406030204" pitchFamily="18" charset="0"/>
                          </a:rPr>
                        </m:ctrlPr>
                      </m:dPr>
                      <m:e>
                        <m:nary>
                          <m:naryPr>
                            <m:chr m:val="∑"/>
                            <m:ctrlPr>
                              <a:rPr lang="en-US" sz="1400" i="1" smtClean="0">
                                <a:latin typeface="Cambria Math" panose="02040503050406030204" pitchFamily="18" charset="0"/>
                              </a:rPr>
                            </m:ctrlPr>
                          </m:naryPr>
                          <m:sub>
                            <m:r>
                              <m:rPr>
                                <m:brk m:alnAt="23"/>
                              </m:rPr>
                              <a:rPr lang="en-US" sz="1400" b="0" i="1" smtClean="0">
                                <a:latin typeface="Cambria Math" panose="02040503050406030204" pitchFamily="18" charset="0"/>
                              </a:rPr>
                              <m:t>𝑖</m:t>
                            </m:r>
                            <m:r>
                              <a:rPr lang="en-US" sz="1400" b="0" i="1" smtClean="0">
                                <a:latin typeface="Cambria Math" panose="02040503050406030204" pitchFamily="18" charset="0"/>
                              </a:rPr>
                              <m:t>=0</m:t>
                            </m:r>
                          </m:sub>
                          <m:sup>
                            <m:r>
                              <a:rPr lang="en-US" sz="1400" b="0" i="1" smtClean="0">
                                <a:latin typeface="Cambria Math" panose="02040503050406030204" pitchFamily="18" charset="0"/>
                              </a:rPr>
                              <m:t>𝑖</m:t>
                            </m:r>
                            <m:r>
                              <a:rPr lang="en-US" sz="1400" b="0" i="1" smtClean="0">
                                <a:latin typeface="Cambria Math" panose="02040503050406030204" pitchFamily="18" charset="0"/>
                              </a:rPr>
                              <m:t>&lt;</m:t>
                            </m:r>
                            <m:r>
                              <a:rPr lang="en-US" sz="1400" b="0" i="1" smtClean="0">
                                <a:latin typeface="Cambria Math" panose="02040503050406030204" pitchFamily="18" charset="0"/>
                              </a:rPr>
                              <m:t>𝑛</m:t>
                            </m:r>
                          </m:sup>
                          <m:e>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𝑇</m:t>
                                </m:r>
                              </m:e>
                              <m:sub>
                                <m:r>
                                  <a:rPr lang="en-US" sz="1400" b="0" i="1" smtClean="0">
                                    <a:latin typeface="Cambria Math" panose="02040503050406030204" pitchFamily="18" charset="0"/>
                                  </a:rPr>
                                  <m:t>𝑖</m:t>
                                </m:r>
                              </m:sub>
                            </m:sSub>
                          </m:e>
                        </m:nary>
                      </m:e>
                    </m:d>
                  </m:oMath>
                </a14:m>
                <a:r>
                  <a:rPr lang="en-US" sz="1400" dirty="0"/>
                  <a:t> </a:t>
                </a:r>
                <a14:m>
                  <m:oMath xmlns:m="http://schemas.openxmlformats.org/officeDocument/2006/math">
                    <m:r>
                      <a:rPr lang="en-US" sz="1400" i="1" dirty="0" smtClean="0">
                        <a:latin typeface="Cambria Math" panose="02040503050406030204" pitchFamily="18" charset="0"/>
                        <a:ea typeface="Cambria Math" panose="02040503050406030204" pitchFamily="18" charset="0"/>
                      </a:rPr>
                      <m:t>×</m:t>
                    </m:r>
                    <m:r>
                      <a:rPr lang="en-US" sz="1400" b="0" i="1" dirty="0" smtClean="0">
                        <a:latin typeface="Cambria Math" panose="02040503050406030204" pitchFamily="18" charset="0"/>
                        <a:ea typeface="Cambria Math" panose="02040503050406030204" pitchFamily="18" charset="0"/>
                      </a:rPr>
                      <m:t> </m:t>
                    </m:r>
                    <m:f>
                      <m:fPr>
                        <m:ctrlPr>
                          <a:rPr lang="en-US" sz="1400" b="0" i="1" dirty="0" smtClean="0">
                            <a:latin typeface="Cambria Math" panose="02040503050406030204" pitchFamily="18" charset="0"/>
                            <a:ea typeface="Cambria Math" panose="02040503050406030204" pitchFamily="18" charset="0"/>
                          </a:rPr>
                        </m:ctrlPr>
                      </m:fPr>
                      <m:num>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𝑃</m:t>
                            </m:r>
                          </m:e>
                          <m:sub>
                            <m:r>
                              <a:rPr lang="en-US" sz="1400" b="0" i="1" dirty="0" smtClean="0">
                                <a:latin typeface="Cambria Math" panose="02040503050406030204" pitchFamily="18" charset="0"/>
                                <a:ea typeface="Cambria Math" panose="02040503050406030204" pitchFamily="18" charset="0"/>
                              </a:rPr>
                              <m:t>𝑛</m:t>
                            </m:r>
                          </m:sub>
                        </m:sSub>
                      </m:num>
                      <m:den>
                        <m:r>
                          <a:rPr lang="en-US" sz="1400" b="0" i="1" dirty="0" smtClean="0">
                            <a:latin typeface="Cambria Math" panose="02040503050406030204" pitchFamily="18" charset="0"/>
                            <a:ea typeface="Cambria Math" panose="02040503050406030204" pitchFamily="18" charset="0"/>
                          </a:rPr>
                          <m:t>1 − </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𝑃</m:t>
                            </m:r>
                          </m:e>
                          <m:sub>
                            <m:r>
                              <a:rPr lang="en-US" sz="1400" b="0" i="1" dirty="0" smtClean="0">
                                <a:latin typeface="Cambria Math" panose="02040503050406030204" pitchFamily="18" charset="0"/>
                                <a:ea typeface="Cambria Math" panose="02040503050406030204" pitchFamily="18" charset="0"/>
                              </a:rPr>
                              <m:t>𝑛</m:t>
                            </m:r>
                          </m:sub>
                        </m:sSub>
                      </m:den>
                    </m:f>
                  </m:oMath>
                </a14:m>
                <a:endParaRPr lang="en-US" sz="1400" dirty="0"/>
              </a:p>
              <a:p>
                <a:r>
                  <a:rPr lang="en-US" sz="1400" dirty="0"/>
                  <a:t>Hence, the modified service time : </a:t>
                </a:r>
              </a:p>
              <a:p>
                <a:pPr lvl="1"/>
                <a14:m>
                  <m:oMath xmlns:m="http://schemas.openxmlformats.org/officeDocument/2006/math">
                    <m:acc>
                      <m:accPr>
                        <m:chr m:val="̂"/>
                        <m:ctrlPr>
                          <a:rPr lang="en-US" sz="1400" i="1" smtClean="0">
                            <a:latin typeface="Cambria Math" panose="02040503050406030204" pitchFamily="18" charset="0"/>
                          </a:rPr>
                        </m:ctrlPr>
                      </m:accPr>
                      <m:e>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𝑇</m:t>
                            </m:r>
                          </m:e>
                          <m:sub>
                            <m:r>
                              <a:rPr lang="en-US" sz="1400" b="0" i="1" smtClean="0">
                                <a:latin typeface="Cambria Math" panose="02040503050406030204" pitchFamily="18" charset="0"/>
                              </a:rPr>
                              <m:t>𝑛</m:t>
                            </m:r>
                          </m:sub>
                        </m:sSub>
                      </m:e>
                    </m:acc>
                  </m:oMath>
                </a14:m>
                <a:r>
                  <a:rPr lang="en-US" sz="1400" dirty="0"/>
                  <a:t> </a:t>
                </a:r>
                <a14:m>
                  <m:oMath xmlns:m="http://schemas.openxmlformats.org/officeDocument/2006/math">
                    <m:r>
                      <a:rPr lang="en-US" sz="1400" b="0" i="1" dirty="0" smtClean="0">
                        <a:latin typeface="Cambria Math" panose="02040503050406030204" pitchFamily="18" charset="0"/>
                      </a:rPr>
                      <m:t>= </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𝑇</m:t>
                        </m:r>
                      </m:e>
                      <m:sub>
                        <m:r>
                          <a:rPr lang="en-US" sz="1400" b="0" i="1" dirty="0" smtClean="0">
                            <a:latin typeface="Cambria Math" panose="02040503050406030204" pitchFamily="18" charset="0"/>
                          </a:rPr>
                          <m:t>𝑛</m:t>
                        </m:r>
                      </m:sub>
                    </m:sSub>
                    <m:r>
                      <a:rPr lang="en-US" sz="1400" b="0" i="1" dirty="0"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𝑇</m:t>
                        </m:r>
                      </m:e>
                      <m:sub>
                        <m:r>
                          <a:rPr lang="en-US" sz="1400" b="0" i="1" smtClean="0">
                            <a:latin typeface="Cambria Math" panose="02040503050406030204" pitchFamily="18" charset="0"/>
                          </a:rPr>
                          <m:t>𝑛</m:t>
                        </m:r>
                      </m:sub>
                    </m:sSub>
                  </m:oMath>
                </a14:m>
                <a:endParaRPr lang="en-US" sz="1400" dirty="0"/>
              </a:p>
              <a:p>
                <a:r>
                  <a:rPr lang="en-US" sz="1400" dirty="0"/>
                  <a:t>Modified utilization and residual time :</a:t>
                </a:r>
              </a:p>
              <a:p>
                <a:pPr lvl="1"/>
                <a14:m>
                  <m:oMath xmlns:m="http://schemas.openxmlformats.org/officeDocument/2006/math">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𝜌</m:t>
                        </m:r>
                      </m:e>
                      <m:sub>
                        <m:r>
                          <a:rPr lang="en-US" sz="1400" b="0" i="1" smtClean="0">
                            <a:latin typeface="Cambria Math" panose="02040503050406030204" pitchFamily="18" charset="0"/>
                          </a:rPr>
                          <m:t>𝑛</m:t>
                        </m:r>
                      </m:sub>
                      <m:sup>
                        <m:r>
                          <a:rPr lang="en-US" sz="1400" b="0" i="1" smtClean="0">
                            <a:latin typeface="Cambria Math" panose="02040503050406030204" pitchFamily="18" charset="0"/>
                          </a:rPr>
                          <m:t>∗</m:t>
                        </m:r>
                      </m:sup>
                    </m:sSubSup>
                  </m:oMath>
                </a14:m>
                <a:r>
                  <a:rPr lang="en-US" sz="1400" dirty="0"/>
                  <a:t> </a:t>
                </a:r>
                <a14:m>
                  <m:oMath xmlns:m="http://schemas.openxmlformats.org/officeDocument/2006/math">
                    <m:r>
                      <a:rPr lang="en-US" sz="1400" b="0" i="1" dirty="0" smtClean="0">
                        <a:latin typeface="Cambria Math" panose="02040503050406030204" pitchFamily="18" charset="0"/>
                      </a:rPr>
                      <m:t>= </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𝜆</m:t>
                        </m:r>
                      </m:e>
                      <m:sub>
                        <m:r>
                          <a:rPr lang="en-US" sz="1400" b="0" i="1" dirty="0" smtClean="0">
                            <a:latin typeface="Cambria Math" panose="02040503050406030204" pitchFamily="18" charset="0"/>
                          </a:rPr>
                          <m:t>𝑛</m:t>
                        </m:r>
                      </m:sub>
                    </m:sSub>
                    <m:r>
                      <a:rPr lang="en-US" sz="1400" b="0" i="1" dirty="0" smtClean="0">
                        <a:latin typeface="Cambria Math" panose="02040503050406030204" pitchFamily="18" charset="0"/>
                      </a:rPr>
                      <m:t> </m:t>
                    </m:r>
                    <m:r>
                      <a:rPr lang="en-US" sz="1400" b="0" i="1" dirty="0" smtClean="0">
                        <a:latin typeface="Cambria Math" panose="02040503050406030204" pitchFamily="18" charset="0"/>
                        <a:ea typeface="Cambria Math" panose="02040503050406030204" pitchFamily="18" charset="0"/>
                      </a:rPr>
                      <m:t>× </m:t>
                    </m:r>
                    <m:acc>
                      <m:accPr>
                        <m:chr m:val="̂"/>
                        <m:ctrlPr>
                          <a:rPr lang="en-US" sz="1400" i="1" smtClean="0">
                            <a:latin typeface="Cambria Math" panose="02040503050406030204" pitchFamily="18" charset="0"/>
                          </a:rPr>
                        </m:ctrlPr>
                      </m:accPr>
                      <m:e>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𝑇</m:t>
                            </m:r>
                          </m:e>
                          <m:sub>
                            <m:r>
                              <a:rPr lang="en-US" sz="1400" b="0" i="1" smtClean="0">
                                <a:latin typeface="Cambria Math" panose="02040503050406030204" pitchFamily="18" charset="0"/>
                              </a:rPr>
                              <m:t>𝑛</m:t>
                            </m:r>
                          </m:sub>
                        </m:sSub>
                      </m:e>
                    </m:acc>
                  </m:oMath>
                </a14:m>
                <a:endParaRPr lang="en-US" sz="1400" dirty="0"/>
              </a:p>
              <a:p>
                <a:pPr lvl="1"/>
                <a14:m>
                  <m:oMath xmlns:m="http://schemas.openxmlformats.org/officeDocument/2006/math">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𝑅</m:t>
                        </m:r>
                      </m:e>
                      <m:sub>
                        <m:r>
                          <a:rPr lang="en-US" sz="1400" b="0" i="1" smtClean="0">
                            <a:latin typeface="Cambria Math" panose="02040503050406030204" pitchFamily="18" charset="0"/>
                          </a:rPr>
                          <m:t>𝑛</m:t>
                        </m:r>
                      </m:sub>
                      <m:sup>
                        <m:r>
                          <a:rPr lang="en-US" sz="1400" b="0" i="1" smtClean="0">
                            <a:latin typeface="Cambria Math" panose="02040503050406030204" pitchFamily="18" charset="0"/>
                          </a:rPr>
                          <m:t>∗</m:t>
                        </m:r>
                      </m:sup>
                    </m:sSubSup>
                    <m:r>
                      <a:rPr lang="en-US" sz="1400" b="0" i="1" smtClean="0">
                        <a:latin typeface="Cambria Math" panose="02040503050406030204" pitchFamily="18" charset="0"/>
                      </a:rPr>
                      <m:t>=0.5 </m:t>
                    </m:r>
                    <m:r>
                      <a:rPr lang="en-US" sz="1400" b="0" i="1" smtClean="0">
                        <a:latin typeface="Cambria Math" panose="02040503050406030204" pitchFamily="18" charset="0"/>
                        <a:ea typeface="Cambria Math" panose="02040503050406030204" pitchFamily="18" charset="0"/>
                      </a:rPr>
                      <m:t>× </m:t>
                    </m:r>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𝜌</m:t>
                        </m:r>
                      </m:e>
                      <m:sub>
                        <m:r>
                          <a:rPr lang="en-US" sz="1400" b="0" i="1" smtClean="0">
                            <a:latin typeface="Cambria Math" panose="02040503050406030204" pitchFamily="18" charset="0"/>
                          </a:rPr>
                          <m:t>𝑛</m:t>
                        </m:r>
                      </m:sub>
                      <m:sup>
                        <m:r>
                          <a:rPr lang="en-US" sz="1400" b="0" i="1" smtClean="0">
                            <a:latin typeface="Cambria Math" panose="02040503050406030204" pitchFamily="18" charset="0"/>
                          </a:rPr>
                          <m:t>∗</m:t>
                        </m:r>
                      </m:sup>
                    </m:sSubSup>
                  </m:oMath>
                </a14:m>
                <a:r>
                  <a:rPr lang="en-US" sz="1400" dirty="0"/>
                  <a:t>  </a:t>
                </a:r>
                <a14:m>
                  <m:oMath xmlns:m="http://schemas.openxmlformats.org/officeDocument/2006/math">
                    <m:r>
                      <a:rPr lang="en-US" sz="1400" i="1" dirty="0" smtClean="0">
                        <a:latin typeface="Cambria Math" panose="02040503050406030204" pitchFamily="18" charset="0"/>
                        <a:ea typeface="Cambria Math" panose="02040503050406030204" pitchFamily="18" charset="0"/>
                      </a:rPr>
                      <m:t>×</m:t>
                    </m:r>
                    <m:r>
                      <a:rPr lang="en-US" sz="1400" b="0" i="1" dirty="0" smtClean="0">
                        <a:latin typeface="Cambria Math" panose="02040503050406030204" pitchFamily="18" charset="0"/>
                        <a:ea typeface="Cambria Math" panose="02040503050406030204" pitchFamily="18" charset="0"/>
                      </a:rPr>
                      <m:t> </m:t>
                    </m:r>
                    <m:d>
                      <m:dPr>
                        <m:ctrlPr>
                          <a:rPr lang="en-US" sz="1400" b="0" i="1" dirty="0" smtClean="0">
                            <a:latin typeface="Cambria Math" panose="02040503050406030204" pitchFamily="18" charset="0"/>
                            <a:ea typeface="Cambria Math" panose="02040503050406030204" pitchFamily="18" charset="0"/>
                          </a:rPr>
                        </m:ctrlPr>
                      </m:dPr>
                      <m:e>
                        <m:acc>
                          <m:accPr>
                            <m:chr m:val="̂"/>
                            <m:ctrlPr>
                              <a:rPr lang="en-US" sz="1400" i="1" smtClean="0">
                                <a:latin typeface="Cambria Math" panose="02040503050406030204" pitchFamily="18" charset="0"/>
                              </a:rPr>
                            </m:ctrlPr>
                          </m:accPr>
                          <m:e>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𝑇</m:t>
                                </m:r>
                              </m:e>
                              <m:sub>
                                <m:r>
                                  <a:rPr lang="en-US" sz="1400" b="0" i="1" smtClean="0">
                                    <a:latin typeface="Cambria Math" panose="02040503050406030204" pitchFamily="18" charset="0"/>
                                  </a:rPr>
                                  <m:t>𝑛</m:t>
                                </m:r>
                              </m:sub>
                            </m:sSub>
                          </m:e>
                        </m:acc>
                        <m:r>
                          <a:rPr lang="en-US" sz="1400" b="0" i="1" smtClean="0">
                            <a:latin typeface="Cambria Math" panose="02040503050406030204" pitchFamily="18" charset="0"/>
                          </a:rPr>
                          <m:t> −1</m:t>
                        </m:r>
                      </m:e>
                    </m:d>
                  </m:oMath>
                </a14:m>
                <a:endParaRPr lang="en-US" sz="1400" dirty="0"/>
              </a:p>
              <a:p>
                <a:r>
                  <a:rPr lang="en-US" sz="1400" dirty="0"/>
                  <a:t>Modified waiting time : </a:t>
                </a:r>
              </a:p>
              <a:p>
                <a:pPr lvl="1"/>
                <a14:m>
                  <m:oMath xmlns:m="http://schemas.openxmlformats.org/officeDocument/2006/math">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𝑊</m:t>
                        </m:r>
                      </m:e>
                      <m:sub>
                        <m:r>
                          <a:rPr lang="en-US" sz="1400" b="0" i="1" smtClean="0">
                            <a:latin typeface="Cambria Math" panose="02040503050406030204" pitchFamily="18" charset="0"/>
                          </a:rPr>
                          <m:t>𝑛</m:t>
                        </m:r>
                      </m:sub>
                      <m:sup>
                        <m:r>
                          <a:rPr lang="en-US" sz="1400" b="0" i="1" smtClean="0">
                            <a:latin typeface="Cambria Math" panose="02040503050406030204" pitchFamily="18" charset="0"/>
                          </a:rPr>
                          <m:t>∗ </m:t>
                        </m:r>
                      </m:sup>
                    </m:sSubSup>
                  </m:oMath>
                </a14:m>
                <a:r>
                  <a:rPr lang="en-US" sz="1400" dirty="0"/>
                  <a:t> </a:t>
                </a:r>
                <a14:m>
                  <m:oMath xmlns:m="http://schemas.openxmlformats.org/officeDocument/2006/math">
                    <m:r>
                      <a:rPr lang="en-US" sz="1400" b="0" i="1" dirty="0" smtClean="0">
                        <a:latin typeface="Cambria Math" panose="02040503050406030204" pitchFamily="18" charset="0"/>
                      </a:rPr>
                      <m:t>=</m:t>
                    </m:r>
                    <m:f>
                      <m:fPr>
                        <m:ctrlPr>
                          <a:rPr lang="en-US" sz="1400" b="0" i="1" dirty="0" smtClean="0">
                            <a:latin typeface="Cambria Math" panose="02040503050406030204" pitchFamily="18" charset="0"/>
                          </a:rPr>
                        </m:ctrlPr>
                      </m:fPr>
                      <m:num>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𝑅</m:t>
                            </m:r>
                          </m:e>
                          <m:sub>
                            <m:r>
                              <a:rPr lang="en-US" sz="1400" b="0" i="1" smtClean="0">
                                <a:latin typeface="Cambria Math" panose="02040503050406030204" pitchFamily="18" charset="0"/>
                              </a:rPr>
                              <m:t>𝑛</m:t>
                            </m:r>
                          </m:sub>
                          <m:sup>
                            <m:r>
                              <a:rPr lang="en-US" sz="1400" b="0" i="1" smtClean="0">
                                <a:latin typeface="Cambria Math" panose="02040503050406030204" pitchFamily="18" charset="0"/>
                              </a:rPr>
                              <m:t>∗</m:t>
                            </m:r>
                          </m:sup>
                        </m:sSubSup>
                      </m:num>
                      <m:den>
                        <m:r>
                          <a:rPr lang="en-US" sz="1400" b="0" i="1" dirty="0" smtClean="0">
                            <a:latin typeface="Cambria Math" panose="02040503050406030204" pitchFamily="18" charset="0"/>
                          </a:rPr>
                          <m:t>1−</m:t>
                        </m:r>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𝜌</m:t>
                            </m:r>
                          </m:e>
                          <m:sub>
                            <m:r>
                              <a:rPr lang="en-US" sz="1400" b="0" i="1" smtClean="0">
                                <a:latin typeface="Cambria Math" panose="02040503050406030204" pitchFamily="18" charset="0"/>
                              </a:rPr>
                              <m:t>𝑛</m:t>
                            </m:r>
                          </m:sub>
                          <m:sup>
                            <m:r>
                              <a:rPr lang="en-US" sz="1400" b="0" i="1" smtClean="0">
                                <a:latin typeface="Cambria Math" panose="02040503050406030204" pitchFamily="18" charset="0"/>
                              </a:rPr>
                              <m:t>∗</m:t>
                            </m:r>
                          </m:sup>
                        </m:sSubSup>
                      </m:den>
                    </m:f>
                  </m:oMath>
                </a14:m>
                <a:r>
                  <a:rPr lang="en-US" sz="1400" dirty="0"/>
                  <a:t> </a:t>
                </a:r>
                <a14:m>
                  <m:oMath xmlns:m="http://schemas.openxmlformats.org/officeDocument/2006/math">
                    <m:r>
                      <a:rPr lang="en-US" sz="1400" b="0" i="1" dirty="0"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𝑇</m:t>
                        </m:r>
                      </m:e>
                      <m:sub>
                        <m:r>
                          <a:rPr lang="en-US" sz="1400" b="0" i="1" smtClean="0">
                            <a:latin typeface="Cambria Math" panose="02040503050406030204" pitchFamily="18" charset="0"/>
                          </a:rPr>
                          <m:t>𝑛</m:t>
                        </m:r>
                      </m:sub>
                    </m:sSub>
                  </m:oMath>
                </a14:m>
                <a:r>
                  <a:rPr lang="en-US" sz="1400" dirty="0"/>
                  <a:t> </a:t>
                </a:r>
              </a:p>
              <a:p>
                <a:endParaRPr lang="en-US" sz="2000" dirty="0"/>
              </a:p>
            </p:txBody>
          </p:sp>
        </mc:Choice>
        <mc:Fallback xmlns="">
          <p:sp>
            <p:nvSpPr>
              <p:cNvPr id="3" name="Content Placeholder 2">
                <a:extLst>
                  <a:ext uri="{FF2B5EF4-FFF2-40B4-BE49-F238E27FC236}">
                    <a16:creationId xmlns:a16="http://schemas.microsoft.com/office/drawing/2014/main" id="{2F5C5832-BA3A-9084-CCF8-9FC5B67E51E9}"/>
                  </a:ext>
                </a:extLst>
              </p:cNvPr>
              <p:cNvSpPr>
                <a:spLocks noGrp="1" noRot="1" noChangeAspect="1" noMove="1" noResize="1" noEditPoints="1" noAdjustHandles="1" noChangeArrowheads="1" noChangeShapeType="1" noTextEdit="1"/>
              </p:cNvSpPr>
              <p:nvPr>
                <p:ph idx="1"/>
              </p:nvPr>
            </p:nvSpPr>
            <p:spPr>
              <a:xfrm>
                <a:off x="530352" y="1069848"/>
                <a:ext cx="5565648" cy="5559552"/>
              </a:xfrm>
              <a:blipFill>
                <a:blip r:embed="rId2"/>
                <a:stretch>
                  <a:fillRect l="-110" t="-548"/>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473EDB86-E0C7-E53D-F1FF-45090408221A}"/>
              </a:ext>
            </a:extLst>
          </p:cNvPr>
          <p:cNvSpPr>
            <a:spLocks noGrp="1"/>
          </p:cNvSpPr>
          <p:nvPr>
            <p:ph type="title"/>
          </p:nvPr>
        </p:nvSpPr>
        <p:spPr>
          <a:xfrm>
            <a:off x="373036" y="228600"/>
            <a:ext cx="11237976" cy="585788"/>
          </a:xfrm>
          <a:solidFill>
            <a:schemeClr val="tx1"/>
          </a:solidFill>
        </p:spPr>
        <p:txBody>
          <a:bodyPr>
            <a:noAutofit/>
          </a:bodyPr>
          <a:lstStyle/>
          <a:p>
            <a:pPr algn="ctr"/>
            <a:r>
              <a:rPr lang="en-US" sz="3200" dirty="0">
                <a:solidFill>
                  <a:srgbClr val="FFC000"/>
                </a:solidFill>
              </a:rPr>
              <a:t>Modifying  Service  Process of the Queues with </a:t>
            </a:r>
            <a:r>
              <a:rPr lang="en-US" sz="3200" b="1" dirty="0">
                <a:solidFill>
                  <a:srgbClr val="FFC000"/>
                </a:solidFill>
              </a:rPr>
              <a:t>PR arbiter</a:t>
            </a:r>
          </a:p>
        </p:txBody>
      </p:sp>
      <p:pic>
        <p:nvPicPr>
          <p:cNvPr id="6" name="Picture 5">
            <a:extLst>
              <a:ext uri="{FF2B5EF4-FFF2-40B4-BE49-F238E27FC236}">
                <a16:creationId xmlns:a16="http://schemas.microsoft.com/office/drawing/2014/main" id="{CE33E3F9-3102-81A3-0C31-D148ED8AFCCD}"/>
              </a:ext>
            </a:extLst>
          </p:cNvPr>
          <p:cNvPicPr>
            <a:picLocks noChangeAspect="1"/>
          </p:cNvPicPr>
          <p:nvPr/>
        </p:nvPicPr>
        <p:blipFill>
          <a:blip r:embed="rId3"/>
          <a:stretch>
            <a:fillRect/>
          </a:stretch>
        </p:blipFill>
        <p:spPr>
          <a:xfrm>
            <a:off x="6499311" y="1069848"/>
            <a:ext cx="5111701" cy="5385816"/>
          </a:xfrm>
          <a:prstGeom prst="rect">
            <a:avLst/>
          </a:prstGeom>
        </p:spPr>
      </p:pic>
      <p:cxnSp>
        <p:nvCxnSpPr>
          <p:cNvPr id="8" name="Straight Arrow Connector 7">
            <a:extLst>
              <a:ext uri="{FF2B5EF4-FFF2-40B4-BE49-F238E27FC236}">
                <a16:creationId xmlns:a16="http://schemas.microsoft.com/office/drawing/2014/main" id="{00D0ACAB-190C-0EAC-6431-BAA733D67746}"/>
              </a:ext>
            </a:extLst>
          </p:cNvPr>
          <p:cNvCxnSpPr>
            <a:cxnSpLocks/>
          </p:cNvCxnSpPr>
          <p:nvPr/>
        </p:nvCxnSpPr>
        <p:spPr>
          <a:xfrm flipV="1">
            <a:off x="1636776" y="1899919"/>
            <a:ext cx="557784" cy="3698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33ADD97-938F-47C9-4CE5-051BCD6B6CEA}"/>
                  </a:ext>
                </a:extLst>
              </p:cNvPr>
              <p:cNvSpPr txBox="1"/>
              <p:nvPr/>
            </p:nvSpPr>
            <p:spPr>
              <a:xfrm>
                <a:off x="1101852" y="2389373"/>
                <a:ext cx="2365248" cy="276999"/>
              </a:xfrm>
              <a:prstGeom prst="rect">
                <a:avLst/>
              </a:prstGeom>
              <a:noFill/>
            </p:spPr>
            <p:txBody>
              <a:bodyPr wrap="square" rtlCol="0">
                <a:spAutoFit/>
              </a:bodyPr>
              <a:lstStyle/>
              <a:p>
                <a14:m>
                  <m:oMath xmlns:m="http://schemas.openxmlformats.org/officeDocument/2006/math">
                    <m:sSub>
                      <m:sSubPr>
                        <m:ctrlPr>
                          <a:rPr lang="en-US" sz="1200" i="1" smtClean="0">
                            <a:solidFill>
                              <a:srgbClr val="00B050"/>
                            </a:solidFill>
                            <a:latin typeface="Cambria Math" panose="02040503050406030204" pitchFamily="18" charset="0"/>
                          </a:rPr>
                        </m:ctrlPr>
                      </m:sSubPr>
                      <m:e>
                        <m:r>
                          <a:rPr lang="en-US" sz="1200" b="0" i="1" smtClean="0">
                            <a:solidFill>
                              <a:srgbClr val="00B050"/>
                            </a:solidFill>
                            <a:latin typeface="Cambria Math" panose="02040503050406030204" pitchFamily="18" charset="0"/>
                          </a:rPr>
                          <m:t>𝜌</m:t>
                        </m:r>
                      </m:e>
                      <m:sub>
                        <m:r>
                          <a:rPr lang="en-US" sz="1200" b="0" i="1" smtClean="0">
                            <a:solidFill>
                              <a:srgbClr val="00B050"/>
                            </a:solidFill>
                            <a:latin typeface="Cambria Math" panose="02040503050406030204" pitchFamily="18" charset="0"/>
                          </a:rPr>
                          <m:t>𝑛</m:t>
                        </m:r>
                      </m:sub>
                    </m:sSub>
                  </m:oMath>
                </a14:m>
                <a:r>
                  <a:rPr lang="en-US" sz="1200" dirty="0">
                    <a:solidFill>
                      <a:srgbClr val="00B050"/>
                    </a:solidFill>
                  </a:rPr>
                  <a:t> </a:t>
                </a:r>
                <a14:m>
                  <m:oMath xmlns:m="http://schemas.openxmlformats.org/officeDocument/2006/math">
                    <m:r>
                      <a:rPr lang="en-US" sz="1200" b="0" i="1" dirty="0" smtClean="0">
                        <a:solidFill>
                          <a:srgbClr val="00B050"/>
                        </a:solidFill>
                        <a:latin typeface="Cambria Math" panose="02040503050406030204" pitchFamily="18" charset="0"/>
                      </a:rPr>
                      <m:t>= </m:t>
                    </m:r>
                    <m:sSub>
                      <m:sSubPr>
                        <m:ctrlPr>
                          <a:rPr lang="en-US" sz="1200" b="0" i="1" dirty="0" smtClean="0">
                            <a:solidFill>
                              <a:srgbClr val="00B050"/>
                            </a:solidFill>
                            <a:latin typeface="Cambria Math" panose="02040503050406030204" pitchFamily="18" charset="0"/>
                          </a:rPr>
                        </m:ctrlPr>
                      </m:sSubPr>
                      <m:e>
                        <m:r>
                          <a:rPr lang="en-US" sz="1200" b="0" i="1" dirty="0" smtClean="0">
                            <a:solidFill>
                              <a:srgbClr val="00B050"/>
                            </a:solidFill>
                            <a:latin typeface="Cambria Math" panose="02040503050406030204" pitchFamily="18" charset="0"/>
                          </a:rPr>
                          <m:t>𝜆</m:t>
                        </m:r>
                      </m:e>
                      <m:sub>
                        <m:r>
                          <a:rPr lang="en-US" sz="1200" b="0" i="1" dirty="0" smtClean="0">
                            <a:solidFill>
                              <a:srgbClr val="00B050"/>
                            </a:solidFill>
                            <a:latin typeface="Cambria Math" panose="02040503050406030204" pitchFamily="18" charset="0"/>
                          </a:rPr>
                          <m:t>𝑛</m:t>
                        </m:r>
                      </m:sub>
                    </m:sSub>
                  </m:oMath>
                </a14:m>
                <a:r>
                  <a:rPr lang="en-US" sz="1200" dirty="0">
                    <a:solidFill>
                      <a:srgbClr val="00B050"/>
                    </a:solidFill>
                  </a:rPr>
                  <a:t> </a:t>
                </a:r>
                <a14:m>
                  <m:oMath xmlns:m="http://schemas.openxmlformats.org/officeDocument/2006/math">
                    <m:r>
                      <a:rPr lang="en-US" sz="1200" i="1" dirty="0" smtClean="0">
                        <a:solidFill>
                          <a:srgbClr val="00B050"/>
                        </a:solidFill>
                        <a:latin typeface="Cambria Math" panose="02040503050406030204" pitchFamily="18" charset="0"/>
                        <a:ea typeface="Cambria Math" panose="02040503050406030204" pitchFamily="18" charset="0"/>
                      </a:rPr>
                      <m:t>×</m:t>
                    </m:r>
                    <m:r>
                      <a:rPr lang="en-US" sz="1200" b="0" i="1" dirty="0" smtClean="0">
                        <a:solidFill>
                          <a:srgbClr val="00B050"/>
                        </a:solidFill>
                        <a:latin typeface="Cambria Math" panose="02040503050406030204" pitchFamily="18" charset="0"/>
                        <a:ea typeface="Cambria Math" panose="02040503050406030204" pitchFamily="18" charset="0"/>
                      </a:rPr>
                      <m:t>𝑡</m:t>
                    </m:r>
                  </m:oMath>
                </a14:m>
                <a:endParaRPr lang="en-US" sz="1200" dirty="0"/>
              </a:p>
            </p:txBody>
          </p:sp>
        </mc:Choice>
        <mc:Fallback xmlns="">
          <p:sp>
            <p:nvSpPr>
              <p:cNvPr id="11" name="TextBox 10">
                <a:extLst>
                  <a:ext uri="{FF2B5EF4-FFF2-40B4-BE49-F238E27FC236}">
                    <a16:creationId xmlns:a16="http://schemas.microsoft.com/office/drawing/2014/main" id="{433ADD97-938F-47C9-4CE5-051BCD6B6CEA}"/>
                  </a:ext>
                </a:extLst>
              </p:cNvPr>
              <p:cNvSpPr txBox="1">
                <a:spLocks noRot="1" noChangeAspect="1" noMove="1" noResize="1" noEditPoints="1" noAdjustHandles="1" noChangeArrowheads="1" noChangeShapeType="1" noTextEdit="1"/>
              </p:cNvSpPr>
              <p:nvPr/>
            </p:nvSpPr>
            <p:spPr>
              <a:xfrm>
                <a:off x="1101852" y="2389373"/>
                <a:ext cx="2365248"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3094CB9-0465-6FF9-4CDD-9335DC1149C4}"/>
                  </a:ext>
                </a:extLst>
              </p:cNvPr>
              <p:cNvSpPr txBox="1"/>
              <p:nvPr/>
            </p:nvSpPr>
            <p:spPr>
              <a:xfrm>
                <a:off x="2804058" y="2408938"/>
                <a:ext cx="3364992" cy="353110"/>
              </a:xfrm>
              <a:prstGeom prst="rect">
                <a:avLst/>
              </a:prstGeom>
              <a:noFill/>
            </p:spPr>
            <p:txBody>
              <a:bodyPr wrap="square">
                <a:spAutoFit/>
              </a:bodyPr>
              <a:lstStyle/>
              <a:p>
                <a14:m>
                  <m:oMath xmlns:m="http://schemas.openxmlformats.org/officeDocument/2006/math">
                    <m:sSub>
                      <m:sSubPr>
                        <m:ctrlPr>
                          <a:rPr lang="en-US" sz="1200" i="1" smtClean="0">
                            <a:solidFill>
                              <a:srgbClr val="00B050"/>
                            </a:solidFill>
                            <a:latin typeface="Cambria Math" panose="02040503050406030204" pitchFamily="18" charset="0"/>
                          </a:rPr>
                        </m:ctrlPr>
                      </m:sSubPr>
                      <m:e>
                        <m:r>
                          <a:rPr lang="en-US" sz="1200" b="0" i="1" smtClean="0">
                            <a:solidFill>
                              <a:srgbClr val="00B050"/>
                            </a:solidFill>
                            <a:latin typeface="Cambria Math" panose="02040503050406030204" pitchFamily="18" charset="0"/>
                          </a:rPr>
                          <m:t>𝑅</m:t>
                        </m:r>
                      </m:e>
                      <m:sub>
                        <m:r>
                          <a:rPr lang="en-US" sz="1200" b="0" i="1" smtClean="0">
                            <a:solidFill>
                              <a:srgbClr val="00B050"/>
                            </a:solidFill>
                            <a:latin typeface="Cambria Math" panose="02040503050406030204" pitchFamily="18" charset="0"/>
                          </a:rPr>
                          <m:t>𝑛</m:t>
                        </m:r>
                      </m:sub>
                    </m:sSub>
                    <m:r>
                      <a:rPr lang="en-US" sz="1200" b="0" i="1" smtClean="0">
                        <a:solidFill>
                          <a:srgbClr val="00B050"/>
                        </a:solidFill>
                        <a:latin typeface="Cambria Math" panose="02040503050406030204" pitchFamily="18" charset="0"/>
                      </a:rPr>
                      <m:t>=</m:t>
                    </m:r>
                    <m:nary>
                      <m:naryPr>
                        <m:chr m:val="∑"/>
                        <m:ctrlPr>
                          <a:rPr lang="en-US" sz="1200" i="1" smtClean="0">
                            <a:solidFill>
                              <a:srgbClr val="00B050"/>
                            </a:solidFill>
                            <a:latin typeface="Cambria Math" panose="02040503050406030204" pitchFamily="18" charset="0"/>
                          </a:rPr>
                        </m:ctrlPr>
                      </m:naryPr>
                      <m:sub>
                        <m:r>
                          <m:rPr>
                            <m:brk m:alnAt="23"/>
                          </m:rPr>
                          <a:rPr lang="en-US" sz="1200" b="0" i="1" smtClean="0">
                            <a:solidFill>
                              <a:srgbClr val="00B050"/>
                            </a:solidFill>
                            <a:latin typeface="Cambria Math" panose="02040503050406030204" pitchFamily="18" charset="0"/>
                          </a:rPr>
                          <m:t>𝑖</m:t>
                        </m:r>
                        <m:r>
                          <a:rPr lang="en-US" sz="1200" b="0" i="1" smtClean="0">
                            <a:solidFill>
                              <a:srgbClr val="00B050"/>
                            </a:solidFill>
                            <a:latin typeface="Cambria Math" panose="02040503050406030204" pitchFamily="18" charset="0"/>
                          </a:rPr>
                          <m:t>=1</m:t>
                        </m:r>
                      </m:sub>
                      <m:sup>
                        <m:r>
                          <a:rPr lang="en-US" sz="1200" b="0" i="1" smtClean="0">
                            <a:solidFill>
                              <a:srgbClr val="00B050"/>
                            </a:solidFill>
                            <a:latin typeface="Cambria Math" panose="02040503050406030204" pitchFamily="18" charset="0"/>
                          </a:rPr>
                          <m:t>𝑛</m:t>
                        </m:r>
                        <m:r>
                          <a:rPr lang="en-US" sz="1200" b="0" i="1" smtClean="0">
                            <a:solidFill>
                              <a:srgbClr val="00B050"/>
                            </a:solidFill>
                            <a:latin typeface="Cambria Math" panose="02040503050406030204" pitchFamily="18" charset="0"/>
                          </a:rPr>
                          <m:t>−1</m:t>
                        </m:r>
                      </m:sup>
                      <m:e>
                        <m:f>
                          <m:fPr>
                            <m:ctrlPr>
                              <a:rPr lang="en-US" sz="1200" i="1" smtClean="0">
                                <a:solidFill>
                                  <a:srgbClr val="00B050"/>
                                </a:solidFill>
                                <a:latin typeface="Cambria Math" panose="02040503050406030204" pitchFamily="18" charset="0"/>
                              </a:rPr>
                            </m:ctrlPr>
                          </m:fPr>
                          <m:num>
                            <m:r>
                              <a:rPr lang="en-US" sz="1200" b="0" i="1" smtClean="0">
                                <a:solidFill>
                                  <a:srgbClr val="00B050"/>
                                </a:solidFill>
                                <a:latin typeface="Cambria Math" panose="02040503050406030204" pitchFamily="18" charset="0"/>
                              </a:rPr>
                              <m:t>1</m:t>
                            </m:r>
                          </m:num>
                          <m:den>
                            <m:r>
                              <a:rPr lang="en-US" sz="1200" b="0" i="1" smtClean="0">
                                <a:solidFill>
                                  <a:srgbClr val="00B050"/>
                                </a:solidFill>
                                <a:latin typeface="Cambria Math" panose="02040503050406030204" pitchFamily="18" charset="0"/>
                              </a:rPr>
                              <m:t>2</m:t>
                            </m:r>
                          </m:den>
                        </m:f>
                      </m:e>
                    </m:nary>
                  </m:oMath>
                </a14:m>
                <a:r>
                  <a:rPr lang="en-US" sz="1200" dirty="0">
                    <a:solidFill>
                      <a:srgbClr val="00B050"/>
                    </a:solidFill>
                  </a:rPr>
                  <a:t> </a:t>
                </a:r>
                <a14:m>
                  <m:oMath xmlns:m="http://schemas.openxmlformats.org/officeDocument/2006/math">
                    <m:r>
                      <a:rPr lang="en-US" sz="1200" b="0" i="1" dirty="0" smtClean="0">
                        <a:solidFill>
                          <a:srgbClr val="00B050"/>
                        </a:solidFill>
                        <a:latin typeface="Cambria Math" panose="02040503050406030204" pitchFamily="18" charset="0"/>
                      </a:rPr>
                      <m:t>∗ </m:t>
                    </m:r>
                    <m:sSub>
                      <m:sSubPr>
                        <m:ctrlPr>
                          <a:rPr lang="en-US" sz="1200" b="0" i="1" dirty="0" smtClean="0">
                            <a:solidFill>
                              <a:srgbClr val="00B050"/>
                            </a:solidFill>
                            <a:latin typeface="Cambria Math" panose="02040503050406030204" pitchFamily="18" charset="0"/>
                          </a:rPr>
                        </m:ctrlPr>
                      </m:sSubPr>
                      <m:e>
                        <m:r>
                          <a:rPr lang="en-US" sz="1200" b="0" i="1" dirty="0" smtClean="0">
                            <a:solidFill>
                              <a:srgbClr val="00B050"/>
                            </a:solidFill>
                            <a:latin typeface="Cambria Math" panose="02040503050406030204" pitchFamily="18" charset="0"/>
                          </a:rPr>
                          <m:t>𝜌</m:t>
                        </m:r>
                      </m:e>
                      <m:sub>
                        <m:r>
                          <a:rPr lang="en-US" sz="1200" b="0" i="1" dirty="0" smtClean="0">
                            <a:solidFill>
                              <a:srgbClr val="00B050"/>
                            </a:solidFill>
                            <a:latin typeface="Cambria Math" panose="02040503050406030204" pitchFamily="18" charset="0"/>
                          </a:rPr>
                          <m:t>𝑖</m:t>
                        </m:r>
                      </m:sub>
                    </m:sSub>
                    <m:r>
                      <a:rPr lang="en-US" sz="1200" b="0" i="1" dirty="0" smtClean="0">
                        <a:solidFill>
                          <a:srgbClr val="00B050"/>
                        </a:solidFill>
                        <a:latin typeface="Cambria Math" panose="02040503050406030204" pitchFamily="18" charset="0"/>
                      </a:rPr>
                      <m:t> ∗(</m:t>
                    </m:r>
                    <m:r>
                      <a:rPr lang="en-US" sz="1200" b="0" i="1" dirty="0" smtClean="0">
                        <a:solidFill>
                          <a:srgbClr val="00B050"/>
                        </a:solidFill>
                        <a:latin typeface="Cambria Math" panose="02040503050406030204" pitchFamily="18" charset="0"/>
                      </a:rPr>
                      <m:t>𝑇</m:t>
                    </m:r>
                    <m:r>
                      <a:rPr lang="en-US" sz="1200" b="0" i="1" dirty="0" smtClean="0">
                        <a:solidFill>
                          <a:srgbClr val="00B050"/>
                        </a:solidFill>
                        <a:latin typeface="Cambria Math" panose="02040503050406030204" pitchFamily="18" charset="0"/>
                      </a:rPr>
                      <m:t>+1)</m:t>
                    </m:r>
                  </m:oMath>
                </a14:m>
                <a:r>
                  <a:rPr lang="en-US" sz="1200" dirty="0">
                    <a:solidFill>
                      <a:srgbClr val="00B050"/>
                    </a:solidFill>
                  </a:rPr>
                  <a:t> </a:t>
                </a:r>
                <a14:m>
                  <m:oMath xmlns:m="http://schemas.openxmlformats.org/officeDocument/2006/math">
                    <m:r>
                      <a:rPr lang="en-US" sz="1200" b="0" i="1" dirty="0" smtClean="0">
                        <a:solidFill>
                          <a:srgbClr val="00B050"/>
                        </a:solidFill>
                        <a:latin typeface="Cambria Math" panose="02040503050406030204" pitchFamily="18" charset="0"/>
                      </a:rPr>
                      <m:t>+</m:t>
                    </m:r>
                    <m:f>
                      <m:fPr>
                        <m:ctrlPr>
                          <a:rPr lang="en-US" sz="1200" b="0" i="1" dirty="0" smtClean="0">
                            <a:solidFill>
                              <a:srgbClr val="00B050"/>
                            </a:solidFill>
                            <a:latin typeface="Cambria Math" panose="02040503050406030204" pitchFamily="18" charset="0"/>
                            <a:ea typeface="+mn-lt"/>
                            <a:cs typeface="+mn-lt"/>
                          </a:rPr>
                        </m:ctrlPr>
                      </m:fPr>
                      <m:num>
                        <m:r>
                          <a:rPr lang="en-US" sz="1200" b="0" i="1" dirty="0" smtClean="0">
                            <a:solidFill>
                              <a:srgbClr val="00B050"/>
                            </a:solidFill>
                            <a:latin typeface="Cambria Math" panose="02040503050406030204" pitchFamily="18" charset="0"/>
                            <a:ea typeface="+mn-lt"/>
                            <a:cs typeface="+mn-lt"/>
                          </a:rPr>
                          <m:t>1</m:t>
                        </m:r>
                      </m:num>
                      <m:den>
                        <m:r>
                          <a:rPr lang="en-US" sz="1200" b="0" i="1" dirty="0" smtClean="0">
                            <a:solidFill>
                              <a:srgbClr val="00B050"/>
                            </a:solidFill>
                            <a:latin typeface="Cambria Math" panose="02040503050406030204" pitchFamily="18" charset="0"/>
                            <a:ea typeface="+mn-lt"/>
                            <a:cs typeface="+mn-lt"/>
                          </a:rPr>
                          <m:t>2</m:t>
                        </m:r>
                      </m:den>
                    </m:f>
                    <m:r>
                      <a:rPr lang="en-US" sz="1200" b="0" i="1" dirty="0" smtClean="0">
                        <a:solidFill>
                          <a:srgbClr val="00B050"/>
                        </a:solidFill>
                        <a:latin typeface="Cambria Math" panose="02040503050406030204" pitchFamily="18" charset="0"/>
                        <a:ea typeface="+mn-lt"/>
                        <a:cs typeface="+mn-lt"/>
                      </a:rPr>
                      <m:t> ∗ </m:t>
                    </m:r>
                    <m:sSub>
                      <m:sSubPr>
                        <m:ctrlPr>
                          <a:rPr lang="en-US" sz="1200" b="0" i="1" dirty="0" smtClean="0">
                            <a:solidFill>
                              <a:srgbClr val="00B050"/>
                            </a:solidFill>
                            <a:latin typeface="Cambria Math" panose="02040503050406030204" pitchFamily="18" charset="0"/>
                            <a:ea typeface="+mn-lt"/>
                            <a:cs typeface="+mn-lt"/>
                          </a:rPr>
                        </m:ctrlPr>
                      </m:sSubPr>
                      <m:e>
                        <m:r>
                          <a:rPr lang="en-US" sz="1200" b="0" i="1" dirty="0" smtClean="0">
                            <a:solidFill>
                              <a:srgbClr val="00B050"/>
                            </a:solidFill>
                            <a:latin typeface="Cambria Math" panose="02040503050406030204" pitchFamily="18" charset="0"/>
                            <a:ea typeface="+mn-lt"/>
                            <a:cs typeface="+mn-lt"/>
                          </a:rPr>
                          <m:t>𝜌</m:t>
                        </m:r>
                      </m:e>
                      <m:sub>
                        <m:r>
                          <a:rPr lang="en-US" sz="1200" b="0" i="1" dirty="0" smtClean="0">
                            <a:solidFill>
                              <a:srgbClr val="00B050"/>
                            </a:solidFill>
                            <a:latin typeface="Cambria Math" panose="02040503050406030204" pitchFamily="18" charset="0"/>
                            <a:ea typeface="+mn-lt"/>
                            <a:cs typeface="+mn-lt"/>
                          </a:rPr>
                          <m:t>𝑛</m:t>
                        </m:r>
                      </m:sub>
                    </m:sSub>
                    <m:r>
                      <a:rPr lang="en-US" sz="1200" b="0" i="1" dirty="0" smtClean="0">
                        <a:solidFill>
                          <a:srgbClr val="00B050"/>
                        </a:solidFill>
                        <a:latin typeface="Cambria Math" panose="02040503050406030204" pitchFamily="18" charset="0"/>
                        <a:ea typeface="+mn-lt"/>
                        <a:cs typeface="+mn-lt"/>
                      </a:rPr>
                      <m:t> ∗</m:t>
                    </m:r>
                    <m:d>
                      <m:dPr>
                        <m:ctrlPr>
                          <a:rPr lang="en-US" sz="1200" b="0" i="1" dirty="0" smtClean="0">
                            <a:solidFill>
                              <a:srgbClr val="00B050"/>
                            </a:solidFill>
                            <a:latin typeface="Cambria Math" panose="02040503050406030204" pitchFamily="18" charset="0"/>
                            <a:ea typeface="+mn-lt"/>
                            <a:cs typeface="+mn-lt"/>
                          </a:rPr>
                        </m:ctrlPr>
                      </m:dPr>
                      <m:e>
                        <m:r>
                          <a:rPr lang="en-US" sz="1200" b="0" i="1" dirty="0" smtClean="0">
                            <a:solidFill>
                              <a:srgbClr val="00B050"/>
                            </a:solidFill>
                            <a:latin typeface="Cambria Math" panose="02040503050406030204" pitchFamily="18" charset="0"/>
                            <a:ea typeface="+mn-lt"/>
                            <a:cs typeface="+mn-lt"/>
                          </a:rPr>
                          <m:t>𝑇</m:t>
                        </m:r>
                        <m:r>
                          <a:rPr lang="en-US" sz="1200" b="0" i="1" dirty="0" smtClean="0">
                            <a:solidFill>
                              <a:srgbClr val="00B050"/>
                            </a:solidFill>
                            <a:latin typeface="Cambria Math" panose="02040503050406030204" pitchFamily="18" charset="0"/>
                            <a:ea typeface="+mn-lt"/>
                            <a:cs typeface="+mn-lt"/>
                          </a:rPr>
                          <m:t>−1</m:t>
                        </m:r>
                      </m:e>
                    </m:d>
                  </m:oMath>
                </a14:m>
                <a:endParaRPr lang="en-US" sz="1200" dirty="0"/>
              </a:p>
            </p:txBody>
          </p:sp>
        </mc:Choice>
        <mc:Fallback xmlns="">
          <p:sp>
            <p:nvSpPr>
              <p:cNvPr id="13" name="TextBox 12">
                <a:extLst>
                  <a:ext uri="{FF2B5EF4-FFF2-40B4-BE49-F238E27FC236}">
                    <a16:creationId xmlns:a16="http://schemas.microsoft.com/office/drawing/2014/main" id="{D3094CB9-0465-6FF9-4CDD-9335DC1149C4}"/>
                  </a:ext>
                </a:extLst>
              </p:cNvPr>
              <p:cNvSpPr txBox="1">
                <a:spLocks noRot="1" noChangeAspect="1" noMove="1" noResize="1" noEditPoints="1" noAdjustHandles="1" noChangeArrowheads="1" noChangeShapeType="1" noTextEdit="1"/>
              </p:cNvSpPr>
              <p:nvPr/>
            </p:nvSpPr>
            <p:spPr>
              <a:xfrm>
                <a:off x="2804058" y="2408938"/>
                <a:ext cx="3364992" cy="353110"/>
              </a:xfrm>
              <a:prstGeom prst="rect">
                <a:avLst/>
              </a:prstGeom>
              <a:blipFill>
                <a:blip r:embed="rId5"/>
                <a:stretch>
                  <a:fillRect t="-65517" b="-113793"/>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A20F8D8E-B502-108D-A131-6D17C216EBD3}"/>
              </a:ext>
            </a:extLst>
          </p:cNvPr>
          <p:cNvCxnSpPr>
            <a:cxnSpLocks/>
          </p:cNvCxnSpPr>
          <p:nvPr/>
        </p:nvCxnSpPr>
        <p:spPr>
          <a:xfrm flipH="1" flipV="1">
            <a:off x="3480816" y="1873764"/>
            <a:ext cx="478536" cy="4305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168240ED-EB5B-1785-BA78-F431EB70C0C6}"/>
              </a:ext>
            </a:extLst>
          </p:cNvPr>
          <p:cNvPicPr>
            <a:picLocks noChangeAspect="1"/>
          </p:cNvPicPr>
          <p:nvPr/>
        </p:nvPicPr>
        <p:blipFill>
          <a:blip r:embed="rId6"/>
          <a:stretch>
            <a:fillRect/>
          </a:stretch>
        </p:blipFill>
        <p:spPr>
          <a:xfrm>
            <a:off x="3880284" y="3849624"/>
            <a:ext cx="2417371" cy="1938528"/>
          </a:xfrm>
          <a:prstGeom prst="rect">
            <a:avLst/>
          </a:prstGeom>
        </p:spPr>
      </p:pic>
    </p:spTree>
    <p:extLst>
      <p:ext uri="{BB962C8B-B14F-4D97-AF65-F5344CB8AC3E}">
        <p14:creationId xmlns:p14="http://schemas.microsoft.com/office/powerpoint/2010/main" val="1033972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EEE98-36C2-1A25-C9C3-76EF1EF6E4BA}"/>
              </a:ext>
            </a:extLst>
          </p:cNvPr>
          <p:cNvSpPr>
            <a:spLocks noGrp="1"/>
          </p:cNvSpPr>
          <p:nvPr>
            <p:ph type="title"/>
          </p:nvPr>
        </p:nvSpPr>
        <p:spPr>
          <a:xfrm>
            <a:off x="838200" y="365126"/>
            <a:ext cx="10515600" cy="667262"/>
          </a:xfrm>
          <a:solidFill>
            <a:schemeClr val="tx1"/>
          </a:solidFill>
        </p:spPr>
        <p:txBody>
          <a:bodyPr>
            <a:normAutofit fontScale="90000"/>
          </a:bodyPr>
          <a:lstStyle/>
          <a:p>
            <a:r>
              <a:rPr lang="en-IN" dirty="0">
                <a:solidFill>
                  <a:srgbClr val="FFC000"/>
                </a:solidFill>
              </a:rPr>
              <a:t>Continue…</a:t>
            </a:r>
          </a:p>
        </p:txBody>
      </p:sp>
      <p:pic>
        <p:nvPicPr>
          <p:cNvPr id="5" name="Content Placeholder 4">
            <a:extLst>
              <a:ext uri="{FF2B5EF4-FFF2-40B4-BE49-F238E27FC236}">
                <a16:creationId xmlns:a16="http://schemas.microsoft.com/office/drawing/2014/main" id="{9AD9B8A4-A82B-0C2E-6A16-59FDF0992FC2}"/>
              </a:ext>
            </a:extLst>
          </p:cNvPr>
          <p:cNvPicPr>
            <a:picLocks noGrp="1" noChangeAspect="1"/>
          </p:cNvPicPr>
          <p:nvPr>
            <p:ph idx="1"/>
          </p:nvPr>
        </p:nvPicPr>
        <p:blipFill>
          <a:blip r:embed="rId2"/>
          <a:stretch>
            <a:fillRect/>
          </a:stretch>
        </p:blipFill>
        <p:spPr>
          <a:xfrm>
            <a:off x="2574211" y="4025278"/>
            <a:ext cx="1384002" cy="2346946"/>
          </a:xfrm>
        </p:spPr>
      </p:pic>
      <p:pic>
        <p:nvPicPr>
          <p:cNvPr id="7" name="Picture 6">
            <a:extLst>
              <a:ext uri="{FF2B5EF4-FFF2-40B4-BE49-F238E27FC236}">
                <a16:creationId xmlns:a16="http://schemas.microsoft.com/office/drawing/2014/main" id="{AA07F05A-F889-470E-8593-6B19900CF6EB}"/>
              </a:ext>
            </a:extLst>
          </p:cNvPr>
          <p:cNvPicPr>
            <a:picLocks noChangeAspect="1"/>
          </p:cNvPicPr>
          <p:nvPr/>
        </p:nvPicPr>
        <p:blipFill>
          <a:blip r:embed="rId3"/>
          <a:stretch>
            <a:fillRect/>
          </a:stretch>
        </p:blipFill>
        <p:spPr>
          <a:xfrm>
            <a:off x="834850" y="4025277"/>
            <a:ext cx="1587655" cy="2346947"/>
          </a:xfrm>
          <a:prstGeom prst="rect">
            <a:avLst/>
          </a:prstGeom>
        </p:spPr>
      </p:pic>
      <p:pic>
        <p:nvPicPr>
          <p:cNvPr id="8" name="Picture 7">
            <a:extLst>
              <a:ext uri="{FF2B5EF4-FFF2-40B4-BE49-F238E27FC236}">
                <a16:creationId xmlns:a16="http://schemas.microsoft.com/office/drawing/2014/main" id="{A034BC01-B055-212F-8179-7050205A28B7}"/>
              </a:ext>
            </a:extLst>
          </p:cNvPr>
          <p:cNvPicPr>
            <a:picLocks noChangeAspect="1"/>
          </p:cNvPicPr>
          <p:nvPr/>
        </p:nvPicPr>
        <p:blipFill>
          <a:blip r:embed="rId4"/>
          <a:stretch>
            <a:fillRect/>
          </a:stretch>
        </p:blipFill>
        <p:spPr>
          <a:xfrm>
            <a:off x="2422506" y="1112991"/>
            <a:ext cx="7635782" cy="2912287"/>
          </a:xfrm>
          <a:prstGeom prst="rect">
            <a:avLst/>
          </a:prstGeom>
        </p:spPr>
      </p:pic>
      <p:sp>
        <p:nvSpPr>
          <p:cNvPr id="10" name="TextBox 9">
            <a:extLst>
              <a:ext uri="{FF2B5EF4-FFF2-40B4-BE49-F238E27FC236}">
                <a16:creationId xmlns:a16="http://schemas.microsoft.com/office/drawing/2014/main" id="{E39A7683-3395-CD00-13D1-41CB10646ED3}"/>
              </a:ext>
            </a:extLst>
          </p:cNvPr>
          <p:cNvSpPr txBox="1"/>
          <p:nvPr/>
        </p:nvSpPr>
        <p:spPr>
          <a:xfrm>
            <a:off x="834851" y="3726426"/>
            <a:ext cx="1409822" cy="369332"/>
          </a:xfrm>
          <a:prstGeom prst="rect">
            <a:avLst/>
          </a:prstGeom>
          <a:noFill/>
        </p:spPr>
        <p:txBody>
          <a:bodyPr wrap="square" rtlCol="0">
            <a:spAutoFit/>
          </a:bodyPr>
          <a:lstStyle/>
          <a:p>
            <a:r>
              <a:rPr lang="en-IN" dirty="0">
                <a:solidFill>
                  <a:schemeClr val="accent2"/>
                </a:solidFill>
              </a:rPr>
              <a:t>Statistics.txt</a:t>
            </a:r>
          </a:p>
        </p:txBody>
      </p:sp>
      <p:sp>
        <p:nvSpPr>
          <p:cNvPr id="11" name="TextBox 10">
            <a:extLst>
              <a:ext uri="{FF2B5EF4-FFF2-40B4-BE49-F238E27FC236}">
                <a16:creationId xmlns:a16="http://schemas.microsoft.com/office/drawing/2014/main" id="{6D365F70-1FC3-1A3F-12EB-4D9AF1495FD0}"/>
              </a:ext>
            </a:extLst>
          </p:cNvPr>
          <p:cNvSpPr txBox="1"/>
          <p:nvPr/>
        </p:nvSpPr>
        <p:spPr>
          <a:xfrm>
            <a:off x="2618456" y="3722629"/>
            <a:ext cx="1384002" cy="369332"/>
          </a:xfrm>
          <a:prstGeom prst="rect">
            <a:avLst/>
          </a:prstGeom>
          <a:noFill/>
        </p:spPr>
        <p:txBody>
          <a:bodyPr wrap="square" rtlCol="0">
            <a:spAutoFit/>
          </a:bodyPr>
          <a:lstStyle/>
          <a:p>
            <a:r>
              <a:rPr lang="en-IN" dirty="0">
                <a:solidFill>
                  <a:schemeClr val="accent2"/>
                </a:solidFill>
              </a:rPr>
              <a:t>Network.txt</a:t>
            </a:r>
          </a:p>
        </p:txBody>
      </p:sp>
      <p:pic>
        <p:nvPicPr>
          <p:cNvPr id="12" name="Picture 11">
            <a:extLst>
              <a:ext uri="{FF2B5EF4-FFF2-40B4-BE49-F238E27FC236}">
                <a16:creationId xmlns:a16="http://schemas.microsoft.com/office/drawing/2014/main" id="{C2AB9078-636B-91A9-0757-61299D5AB1CF}"/>
              </a:ext>
            </a:extLst>
          </p:cNvPr>
          <p:cNvPicPr>
            <a:picLocks noChangeAspect="1"/>
          </p:cNvPicPr>
          <p:nvPr/>
        </p:nvPicPr>
        <p:blipFill>
          <a:blip r:embed="rId5"/>
          <a:stretch>
            <a:fillRect/>
          </a:stretch>
        </p:blipFill>
        <p:spPr>
          <a:xfrm>
            <a:off x="8233789" y="5116304"/>
            <a:ext cx="3513124" cy="1257409"/>
          </a:xfrm>
          <a:prstGeom prst="rect">
            <a:avLst/>
          </a:prstGeom>
        </p:spPr>
      </p:pic>
      <p:pic>
        <p:nvPicPr>
          <p:cNvPr id="16" name="Picture 15">
            <a:extLst>
              <a:ext uri="{FF2B5EF4-FFF2-40B4-BE49-F238E27FC236}">
                <a16:creationId xmlns:a16="http://schemas.microsoft.com/office/drawing/2014/main" id="{C287C5BE-8846-29BB-17D2-66E57B1CD482}"/>
              </a:ext>
            </a:extLst>
          </p:cNvPr>
          <p:cNvPicPr>
            <a:picLocks noChangeAspect="1"/>
          </p:cNvPicPr>
          <p:nvPr/>
        </p:nvPicPr>
        <p:blipFill>
          <a:blip r:embed="rId6"/>
          <a:stretch>
            <a:fillRect/>
          </a:stretch>
        </p:blipFill>
        <p:spPr>
          <a:xfrm>
            <a:off x="4619625" y="5516506"/>
            <a:ext cx="3210027" cy="685859"/>
          </a:xfrm>
          <a:prstGeom prst="rect">
            <a:avLst/>
          </a:prstGeom>
        </p:spPr>
      </p:pic>
      <p:pic>
        <p:nvPicPr>
          <p:cNvPr id="18" name="Picture 17">
            <a:extLst>
              <a:ext uri="{FF2B5EF4-FFF2-40B4-BE49-F238E27FC236}">
                <a16:creationId xmlns:a16="http://schemas.microsoft.com/office/drawing/2014/main" id="{2C4CE88E-A33D-4FB7-7A86-A3B3986377FE}"/>
              </a:ext>
            </a:extLst>
          </p:cNvPr>
          <p:cNvPicPr>
            <a:picLocks noChangeAspect="1"/>
          </p:cNvPicPr>
          <p:nvPr/>
        </p:nvPicPr>
        <p:blipFill>
          <a:blip r:embed="rId7"/>
          <a:stretch>
            <a:fillRect/>
          </a:stretch>
        </p:blipFill>
        <p:spPr>
          <a:xfrm>
            <a:off x="4689592" y="4432875"/>
            <a:ext cx="3101609" cy="510584"/>
          </a:xfrm>
          <a:prstGeom prst="rect">
            <a:avLst/>
          </a:prstGeom>
        </p:spPr>
      </p:pic>
      <p:sp>
        <p:nvSpPr>
          <p:cNvPr id="19" name="TextBox 18">
            <a:extLst>
              <a:ext uri="{FF2B5EF4-FFF2-40B4-BE49-F238E27FC236}">
                <a16:creationId xmlns:a16="http://schemas.microsoft.com/office/drawing/2014/main" id="{EFCE36CE-85CC-2BE0-714C-BFB1796E8B95}"/>
              </a:ext>
            </a:extLst>
          </p:cNvPr>
          <p:cNvSpPr txBox="1"/>
          <p:nvPr/>
        </p:nvSpPr>
        <p:spPr>
          <a:xfrm>
            <a:off x="4619625" y="4105881"/>
            <a:ext cx="3210027" cy="307777"/>
          </a:xfrm>
          <a:prstGeom prst="rect">
            <a:avLst/>
          </a:prstGeom>
          <a:noFill/>
        </p:spPr>
        <p:txBody>
          <a:bodyPr wrap="square" rtlCol="0">
            <a:spAutoFit/>
          </a:bodyPr>
          <a:lstStyle/>
          <a:p>
            <a:r>
              <a:rPr lang="en-IN" sz="1400" dirty="0">
                <a:solidFill>
                  <a:schemeClr val="accent2"/>
                </a:solidFill>
              </a:rPr>
              <a:t>Arbiter is </a:t>
            </a:r>
            <a:r>
              <a:rPr lang="en-IN" sz="1400" dirty="0" err="1">
                <a:solidFill>
                  <a:schemeClr val="accent2"/>
                </a:solidFill>
              </a:rPr>
              <a:t>Connnected</a:t>
            </a:r>
            <a:r>
              <a:rPr lang="en-IN" sz="1400" dirty="0">
                <a:solidFill>
                  <a:schemeClr val="accent2"/>
                </a:solidFill>
              </a:rPr>
              <a:t> to which nodes</a:t>
            </a:r>
          </a:p>
        </p:txBody>
      </p:sp>
      <p:sp>
        <p:nvSpPr>
          <p:cNvPr id="20" name="TextBox 19">
            <a:extLst>
              <a:ext uri="{FF2B5EF4-FFF2-40B4-BE49-F238E27FC236}">
                <a16:creationId xmlns:a16="http://schemas.microsoft.com/office/drawing/2014/main" id="{0BF9A7B8-C313-4629-3DBA-7094A9BCB6B5}"/>
              </a:ext>
            </a:extLst>
          </p:cNvPr>
          <p:cNvSpPr txBox="1"/>
          <p:nvPr/>
        </p:nvSpPr>
        <p:spPr>
          <a:xfrm>
            <a:off x="8233789" y="4737085"/>
            <a:ext cx="4667953" cy="307777"/>
          </a:xfrm>
          <a:prstGeom prst="rect">
            <a:avLst/>
          </a:prstGeom>
          <a:noFill/>
        </p:spPr>
        <p:txBody>
          <a:bodyPr wrap="square" rtlCol="0">
            <a:spAutoFit/>
          </a:bodyPr>
          <a:lstStyle/>
          <a:p>
            <a:r>
              <a:rPr lang="en-IN" sz="1400" b="1" dirty="0">
                <a:solidFill>
                  <a:schemeClr val="accent2">
                    <a:lumMod val="75000"/>
                  </a:schemeClr>
                </a:solidFill>
              </a:rPr>
              <a:t>Waiting Time After Handling Finite Buffer</a:t>
            </a:r>
          </a:p>
        </p:txBody>
      </p:sp>
      <p:sp>
        <p:nvSpPr>
          <p:cNvPr id="21" name="TextBox 20">
            <a:extLst>
              <a:ext uri="{FF2B5EF4-FFF2-40B4-BE49-F238E27FC236}">
                <a16:creationId xmlns:a16="http://schemas.microsoft.com/office/drawing/2014/main" id="{7AB23D53-5557-7252-E947-DCF1D0141B19}"/>
              </a:ext>
            </a:extLst>
          </p:cNvPr>
          <p:cNvSpPr txBox="1"/>
          <p:nvPr/>
        </p:nvSpPr>
        <p:spPr>
          <a:xfrm>
            <a:off x="4389379" y="5195878"/>
            <a:ext cx="3513124" cy="307777"/>
          </a:xfrm>
          <a:prstGeom prst="rect">
            <a:avLst/>
          </a:prstGeom>
          <a:noFill/>
        </p:spPr>
        <p:txBody>
          <a:bodyPr wrap="square" rtlCol="0">
            <a:spAutoFit/>
          </a:bodyPr>
          <a:lstStyle/>
          <a:p>
            <a:r>
              <a:rPr lang="en-IN" sz="1400" dirty="0">
                <a:solidFill>
                  <a:schemeClr val="accent2"/>
                </a:solidFill>
              </a:rPr>
              <a:t>Injector is iterated through which Queues</a:t>
            </a:r>
          </a:p>
        </p:txBody>
      </p:sp>
    </p:spTree>
    <p:extLst>
      <p:ext uri="{BB962C8B-B14F-4D97-AF65-F5344CB8AC3E}">
        <p14:creationId xmlns:p14="http://schemas.microsoft.com/office/powerpoint/2010/main" val="2308126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BACA7-DBDD-27C8-D1A2-71BB1CEFD175}"/>
              </a:ext>
            </a:extLst>
          </p:cNvPr>
          <p:cNvSpPr>
            <a:spLocks noGrp="1"/>
          </p:cNvSpPr>
          <p:nvPr>
            <p:ph type="title"/>
          </p:nvPr>
        </p:nvSpPr>
        <p:spPr/>
        <p:txBody>
          <a:bodyPr/>
          <a:lstStyle/>
          <a:p>
            <a:r>
              <a:rPr lang="en-US" dirty="0">
                <a:ea typeface="+mj-lt"/>
                <a:cs typeface="+mj-lt"/>
              </a:rPr>
              <a:t>Next Steps</a:t>
            </a:r>
            <a:endParaRPr lang="en-US" dirty="0"/>
          </a:p>
        </p:txBody>
      </p:sp>
      <p:sp>
        <p:nvSpPr>
          <p:cNvPr id="3" name="Content Placeholder 2">
            <a:extLst>
              <a:ext uri="{FF2B5EF4-FFF2-40B4-BE49-F238E27FC236}">
                <a16:creationId xmlns:a16="http://schemas.microsoft.com/office/drawing/2014/main" id="{264DC21E-F405-207B-EECE-A6000D991827}"/>
              </a:ext>
            </a:extLst>
          </p:cNvPr>
          <p:cNvSpPr>
            <a:spLocks noGrp="1"/>
          </p:cNvSpPr>
          <p:nvPr>
            <p:ph idx="1"/>
          </p:nvPr>
        </p:nvSpPr>
        <p:spPr/>
        <p:txBody>
          <a:bodyPr vert="horz" lIns="91440" tIns="45720" rIns="91440" bIns="45720" rtlCol="0" anchor="t">
            <a:normAutofit/>
          </a:bodyPr>
          <a:lstStyle/>
          <a:p>
            <a:pPr marL="0" indent="0">
              <a:buNone/>
            </a:pPr>
            <a:endParaRPr lang="en-US" dirty="0">
              <a:latin typeface="Aptos Display"/>
              <a:ea typeface="+mn-lt"/>
              <a:cs typeface="+mn-lt"/>
            </a:endParaRPr>
          </a:p>
          <a:p>
            <a:r>
              <a:rPr lang="en-US" dirty="0">
                <a:latin typeface="Aptos"/>
                <a:ea typeface="+mn-lt"/>
                <a:cs typeface="+mn-lt"/>
              </a:rPr>
              <a:t>Equation verification and refinement</a:t>
            </a:r>
            <a:r>
              <a:rPr lang="en-US" dirty="0">
                <a:ea typeface="+mn-lt"/>
                <a:cs typeface="+mn-lt"/>
              </a:rPr>
              <a:t>: </a:t>
            </a:r>
            <a:endParaRPr lang="en-US" dirty="0"/>
          </a:p>
          <a:p>
            <a:pPr lvl="1">
              <a:buFont typeface="Courier New" panose="020B0604020202020204" pitchFamily="34" charset="0"/>
              <a:buChar char="o"/>
            </a:pPr>
            <a:endParaRPr lang="en-US" dirty="0">
              <a:latin typeface="Aptos Display"/>
              <a:ea typeface="+mn-lt"/>
              <a:cs typeface="+mn-lt"/>
            </a:endParaRPr>
          </a:p>
          <a:p>
            <a:pPr lvl="1">
              <a:buFont typeface="Courier New" panose="020B0604020202020204" pitchFamily="34" charset="0"/>
              <a:buChar char="o"/>
            </a:pPr>
            <a:r>
              <a:rPr lang="en-US" dirty="0">
                <a:latin typeface="Aptos Display"/>
                <a:ea typeface="+mn-lt"/>
                <a:cs typeface="+mn-lt"/>
              </a:rPr>
              <a:t>Checking and adjusting equations to ensure accuracy</a:t>
            </a:r>
            <a:endParaRPr lang="en-US" dirty="0">
              <a:latin typeface="Aptos Display"/>
            </a:endParaRPr>
          </a:p>
        </p:txBody>
      </p:sp>
    </p:spTree>
    <p:extLst>
      <p:ext uri="{BB962C8B-B14F-4D97-AF65-F5344CB8AC3E}">
        <p14:creationId xmlns:p14="http://schemas.microsoft.com/office/powerpoint/2010/main" val="60734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C1542-1929-9AB9-4919-064F76720443}"/>
              </a:ext>
            </a:extLst>
          </p:cNvPr>
          <p:cNvSpPr>
            <a:spLocks noGrp="1"/>
          </p:cNvSpPr>
          <p:nvPr>
            <p:ph type="title"/>
          </p:nvPr>
        </p:nvSpPr>
        <p:spPr>
          <a:xfrm>
            <a:off x="317645" y="166015"/>
            <a:ext cx="11633273" cy="743299"/>
          </a:xfrm>
          <a:solidFill>
            <a:schemeClr val="tx1"/>
          </a:solidFill>
        </p:spPr>
        <p:txBody>
          <a:bodyPr>
            <a:normAutofit/>
          </a:bodyPr>
          <a:lstStyle/>
          <a:p>
            <a:r>
              <a:rPr lang="en-US" sz="3200" dirty="0">
                <a:solidFill>
                  <a:srgbClr val="FFC000"/>
                </a:solidFill>
              </a:rPr>
              <a:t>Our Goal</a:t>
            </a:r>
          </a:p>
        </p:txBody>
      </p:sp>
      <p:pic>
        <p:nvPicPr>
          <p:cNvPr id="5" name="Content Placeholder 4">
            <a:extLst>
              <a:ext uri="{FF2B5EF4-FFF2-40B4-BE49-F238E27FC236}">
                <a16:creationId xmlns:a16="http://schemas.microsoft.com/office/drawing/2014/main" id="{B5CA4EE6-A4BC-61BC-D686-34F5788EB1C6}"/>
              </a:ext>
            </a:extLst>
          </p:cNvPr>
          <p:cNvPicPr>
            <a:picLocks noGrp="1" noChangeAspect="1"/>
          </p:cNvPicPr>
          <p:nvPr>
            <p:ph idx="1"/>
          </p:nvPr>
        </p:nvPicPr>
        <p:blipFill>
          <a:blip r:embed="rId2"/>
          <a:stretch>
            <a:fillRect/>
          </a:stretch>
        </p:blipFill>
        <p:spPr>
          <a:xfrm>
            <a:off x="346399" y="1852130"/>
            <a:ext cx="4332481" cy="2057400"/>
          </a:xfrm>
        </p:spPr>
      </p:pic>
      <p:pic>
        <p:nvPicPr>
          <p:cNvPr id="7" name="Picture 6">
            <a:extLst>
              <a:ext uri="{FF2B5EF4-FFF2-40B4-BE49-F238E27FC236}">
                <a16:creationId xmlns:a16="http://schemas.microsoft.com/office/drawing/2014/main" id="{CF3B75FC-E428-9A5D-7899-C715D122A663}"/>
              </a:ext>
            </a:extLst>
          </p:cNvPr>
          <p:cNvPicPr>
            <a:picLocks noChangeAspect="1"/>
          </p:cNvPicPr>
          <p:nvPr/>
        </p:nvPicPr>
        <p:blipFill>
          <a:blip r:embed="rId3"/>
          <a:srcRect r="4165"/>
          <a:stretch/>
        </p:blipFill>
        <p:spPr>
          <a:xfrm>
            <a:off x="5111294" y="1522760"/>
            <a:ext cx="3525711" cy="2688972"/>
          </a:xfrm>
          <a:prstGeom prst="rect">
            <a:avLst/>
          </a:prstGeom>
        </p:spPr>
      </p:pic>
      <p:sp>
        <p:nvSpPr>
          <p:cNvPr id="9" name="TextBox 8">
            <a:extLst>
              <a:ext uri="{FF2B5EF4-FFF2-40B4-BE49-F238E27FC236}">
                <a16:creationId xmlns:a16="http://schemas.microsoft.com/office/drawing/2014/main" id="{166AB2E9-D9A5-740A-5853-379C7ADB7057}"/>
              </a:ext>
            </a:extLst>
          </p:cNvPr>
          <p:cNvSpPr txBox="1"/>
          <p:nvPr/>
        </p:nvSpPr>
        <p:spPr>
          <a:xfrm>
            <a:off x="539496" y="4736592"/>
            <a:ext cx="3337560" cy="369332"/>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chemeClr val="tx1">
                    <a:lumMod val="95000"/>
                    <a:lumOff val="5000"/>
                  </a:schemeClr>
                </a:solidFill>
              </a:rPr>
              <a:t>Plan:</a:t>
            </a:r>
          </a:p>
        </p:txBody>
      </p:sp>
      <p:sp>
        <p:nvSpPr>
          <p:cNvPr id="11" name="TextBox 10">
            <a:extLst>
              <a:ext uri="{FF2B5EF4-FFF2-40B4-BE49-F238E27FC236}">
                <a16:creationId xmlns:a16="http://schemas.microsoft.com/office/drawing/2014/main" id="{2C99C7D8-03D8-9F05-885B-19E8CFDB657D}"/>
              </a:ext>
            </a:extLst>
          </p:cNvPr>
          <p:cNvSpPr txBox="1"/>
          <p:nvPr/>
        </p:nvSpPr>
        <p:spPr>
          <a:xfrm>
            <a:off x="630936" y="5285232"/>
            <a:ext cx="11204832" cy="369332"/>
          </a:xfrm>
          <a:prstGeom prst="rect">
            <a:avLst/>
          </a:prstGeom>
          <a:noFill/>
        </p:spPr>
        <p:txBody>
          <a:bodyPr wrap="square" rtlCol="0">
            <a:spAutoFit/>
          </a:bodyPr>
          <a:lstStyle/>
          <a:p>
            <a:pPr marL="285750" indent="-285750">
              <a:buFont typeface="Arial" panose="020B0604020202020204" pitchFamily="34" charset="0"/>
              <a:buChar char="•"/>
            </a:pPr>
            <a:r>
              <a:rPr lang="en-US" dirty="0"/>
              <a:t>Integrating DoT language and </a:t>
            </a:r>
            <a:r>
              <a:rPr lang="en-US" dirty="0" err="1"/>
              <a:t>Graphviz</a:t>
            </a:r>
            <a:r>
              <a:rPr lang="en-US" dirty="0"/>
              <a:t>  with our analytical model</a:t>
            </a:r>
          </a:p>
        </p:txBody>
      </p:sp>
      <p:sp>
        <p:nvSpPr>
          <p:cNvPr id="31" name="Rectangle 30">
            <a:extLst>
              <a:ext uri="{FF2B5EF4-FFF2-40B4-BE49-F238E27FC236}">
                <a16:creationId xmlns:a16="http://schemas.microsoft.com/office/drawing/2014/main" id="{F44D9154-3F47-A363-64CF-AAD08F6C065D}"/>
              </a:ext>
            </a:extLst>
          </p:cNvPr>
          <p:cNvSpPr/>
          <p:nvPr/>
        </p:nvSpPr>
        <p:spPr>
          <a:xfrm>
            <a:off x="8909408" y="1639795"/>
            <a:ext cx="2945596" cy="26548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7EFA199-C017-DC6C-3630-C2C9025B6A18}"/>
              </a:ext>
            </a:extLst>
          </p:cNvPr>
          <p:cNvSpPr/>
          <p:nvPr/>
        </p:nvSpPr>
        <p:spPr>
          <a:xfrm>
            <a:off x="333562" y="1712367"/>
            <a:ext cx="4344988" cy="2374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 shot of a computer&#10;&#10;AI-generated content may be incorrect.">
            <a:extLst>
              <a:ext uri="{FF2B5EF4-FFF2-40B4-BE49-F238E27FC236}">
                <a16:creationId xmlns:a16="http://schemas.microsoft.com/office/drawing/2014/main" id="{E3E3BE71-B707-BF10-104E-5932C819167D}"/>
              </a:ext>
            </a:extLst>
          </p:cNvPr>
          <p:cNvPicPr>
            <a:picLocks noChangeAspect="1"/>
          </p:cNvPicPr>
          <p:nvPr/>
        </p:nvPicPr>
        <p:blipFill>
          <a:blip r:embed="rId4"/>
          <a:srcRect t="768" r="11340" b="-1923"/>
          <a:stretch/>
        </p:blipFill>
        <p:spPr>
          <a:xfrm>
            <a:off x="8899026" y="2065871"/>
            <a:ext cx="2945413" cy="1912980"/>
          </a:xfrm>
          <a:prstGeom prst="rect">
            <a:avLst/>
          </a:prstGeom>
        </p:spPr>
      </p:pic>
      <p:sp>
        <p:nvSpPr>
          <p:cNvPr id="6" name="TextBox 5">
            <a:extLst>
              <a:ext uri="{FF2B5EF4-FFF2-40B4-BE49-F238E27FC236}">
                <a16:creationId xmlns:a16="http://schemas.microsoft.com/office/drawing/2014/main" id="{049269D3-10A3-FA47-2CCE-4699BFA0F232}"/>
              </a:ext>
            </a:extLst>
          </p:cNvPr>
          <p:cNvSpPr txBox="1"/>
          <p:nvPr/>
        </p:nvSpPr>
        <p:spPr>
          <a:xfrm>
            <a:off x="9772968" y="1652035"/>
            <a:ext cx="17042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Output</a:t>
            </a:r>
          </a:p>
        </p:txBody>
      </p:sp>
      <p:sp>
        <p:nvSpPr>
          <p:cNvPr id="8" name="Arrow: Right 7">
            <a:extLst>
              <a:ext uri="{FF2B5EF4-FFF2-40B4-BE49-F238E27FC236}">
                <a16:creationId xmlns:a16="http://schemas.microsoft.com/office/drawing/2014/main" id="{183380CB-E8FB-6100-02AD-C261D36A6CEE}"/>
              </a:ext>
            </a:extLst>
          </p:cNvPr>
          <p:cNvSpPr/>
          <p:nvPr/>
        </p:nvSpPr>
        <p:spPr>
          <a:xfrm>
            <a:off x="4813027" y="2690161"/>
            <a:ext cx="222139" cy="2961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6D88907D-A5A3-429D-4FD5-2E9E8B008823}"/>
              </a:ext>
            </a:extLst>
          </p:cNvPr>
          <p:cNvSpPr/>
          <p:nvPr/>
        </p:nvSpPr>
        <p:spPr>
          <a:xfrm>
            <a:off x="8683502" y="2665970"/>
            <a:ext cx="222139" cy="2961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2516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A552C38875BF54E8BECD10629132D8D" ma:contentTypeVersion="6" ma:contentTypeDescription="Create a new document." ma:contentTypeScope="" ma:versionID="2117dcca7870b83d47d794a40c6ad2fb">
  <xsd:schema xmlns:xsd="http://www.w3.org/2001/XMLSchema" xmlns:xs="http://www.w3.org/2001/XMLSchema" xmlns:p="http://schemas.microsoft.com/office/2006/metadata/properties" xmlns:ns3="cf6b262d-64b1-48de-8710-0fc3c93bfca9" targetNamespace="http://schemas.microsoft.com/office/2006/metadata/properties" ma:root="true" ma:fieldsID="add902ff20dc9683d596800b2ea73817" ns3:_="">
    <xsd:import namespace="cf6b262d-64b1-48de-8710-0fc3c93bfca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6b262d-64b1-48de-8710-0fc3c93bfca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f6b262d-64b1-48de-8710-0fc3c93bfca9" xsi:nil="true"/>
  </documentManagement>
</p:properties>
</file>

<file path=customXml/itemProps1.xml><?xml version="1.0" encoding="utf-8"?>
<ds:datastoreItem xmlns:ds="http://schemas.openxmlformats.org/officeDocument/2006/customXml" ds:itemID="{89439FB0-263F-4967-8BE5-B3C8B137CF8E}">
  <ds:schemaRefs>
    <ds:schemaRef ds:uri="http://schemas.microsoft.com/sharepoint/v3/contenttype/forms"/>
  </ds:schemaRefs>
</ds:datastoreItem>
</file>

<file path=customXml/itemProps2.xml><?xml version="1.0" encoding="utf-8"?>
<ds:datastoreItem xmlns:ds="http://schemas.openxmlformats.org/officeDocument/2006/customXml" ds:itemID="{64F6C0B5-FB80-4390-A236-591391D7C2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6b262d-64b1-48de-8710-0fc3c93bfc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182C0F5-33FB-466F-AD8A-529346B93F21}">
  <ds:schemaRefs>
    <ds:schemaRef ds:uri="http://www.w3.org/XML/1998/namespace"/>
    <ds:schemaRef ds:uri="http://schemas.microsoft.com/office/infopath/2007/PartnerControls"/>
    <ds:schemaRef ds:uri="http://purl.org/dc/dcmitype/"/>
    <ds:schemaRef ds:uri="cf6b262d-64b1-48de-8710-0fc3c93bfca9"/>
    <ds:schemaRef ds:uri="http://purl.org/dc/terms/"/>
    <ds:schemaRef ds:uri="http://purl.org/dc/elements/1.1/"/>
    <ds:schemaRef ds:uri="http://schemas.openxmlformats.org/package/2006/metadata/core-properties"/>
    <ds:schemaRef ds:uri="http://schemas.microsoft.com/office/2006/metadata/properties"/>
    <ds:schemaRef ds:uri="http://schemas.microsoft.com/office/2006/documentManagement/types"/>
  </ds:schemaRefs>
</ds:datastoreItem>
</file>

<file path=docMetadata/LabelInfo.xml><?xml version="1.0" encoding="utf-8"?>
<clbl:labelList xmlns:clbl="http://schemas.microsoft.com/office/2020/mipLabelMetadata">
  <clbl:label id="{6f15cd97-f6a7-41e3-b2c5-ad4193976476}" enabled="0" method="" siteId="{6f15cd97-f6a7-41e3-b2c5-ad4193976476}" removed="1"/>
</clbl:labelList>
</file>

<file path=docProps/app.xml><?xml version="1.0" encoding="utf-8"?>
<Properties xmlns="http://schemas.openxmlformats.org/officeDocument/2006/extended-properties" xmlns:vt="http://schemas.openxmlformats.org/officeDocument/2006/docPropsVTypes">
  <TotalTime>437</TotalTime>
  <Words>589</Words>
  <Application>Microsoft Office PowerPoint</Application>
  <PresentationFormat>Widescreen</PresentationFormat>
  <Paragraphs>118</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Aptos Display</vt:lpstr>
      <vt:lpstr>Arial</vt:lpstr>
      <vt:lpstr>Calibri</vt:lpstr>
      <vt:lpstr>Cambria Math</vt:lpstr>
      <vt:lpstr>Consolas</vt:lpstr>
      <vt:lpstr>Courier New</vt:lpstr>
      <vt:lpstr>Wingdings</vt:lpstr>
      <vt:lpstr>Office Theme</vt:lpstr>
      <vt:lpstr>PowerPoint Presentation</vt:lpstr>
      <vt:lpstr>Agenda</vt:lpstr>
      <vt:lpstr>Updates to Class Queue</vt:lpstr>
      <vt:lpstr>Updates</vt:lpstr>
      <vt:lpstr>Agenda</vt:lpstr>
      <vt:lpstr>PowerPoint Presentation</vt:lpstr>
      <vt:lpstr>New added Functions()</vt:lpstr>
      <vt:lpstr>Modifying  Service  Process of the Queues with RR arbiter</vt:lpstr>
      <vt:lpstr>Modifying  Service  Process of the Queues with PR arbiter</vt:lpstr>
      <vt:lpstr>Continue…</vt:lpstr>
      <vt:lpstr>Next Steps</vt:lpstr>
      <vt:lpstr>Our Goal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Anuparna Ganguly</dc:creator>
  <cp:lastModifiedBy>Anuparna Ganguly</cp:lastModifiedBy>
  <cp:revision>50</cp:revision>
  <dcterms:created xsi:type="dcterms:W3CDTF">2025-03-03T06:10:10Z</dcterms:created>
  <dcterms:modified xsi:type="dcterms:W3CDTF">2025-06-11T10:48:58Z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0x0101009A552C38875BF54E8BECD10629132D8D</vt:lpwstr>
  </property>
</Properties>
</file>