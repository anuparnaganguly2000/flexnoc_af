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57" r:id="rId5"/>
    <p:sldId id="264" r:id="rId6"/>
    <p:sldId id="259" r:id="rId7"/>
    <p:sldId id="260" r:id="rId8"/>
    <p:sldId id="261" r:id="rId9"/>
    <p:sldId id="262" r:id="rId10"/>
    <p:sldId id="263" r:id="rId11"/>
    <p:sldId id="275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3C9F931-95AA-42E8-8A82-73E41F0A2FB0}" v="250" dt="2025-03-31T10:18:29.35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presProps" Target="pres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microsoft.com/office/2015/10/relationships/revisionInfo" Target="revisionInfo.xml"/><Relationship Id="rId2" Type="http://schemas.openxmlformats.org/officeDocument/2006/relationships/customXml" Target="../customXml/item2.xml"/><Relationship Id="rId16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theme" Target="theme/theme1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899F87-DA09-0E0A-FFE2-1F1C45A33ED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9EB27D0-B75D-3384-F38E-2C1CBD966C1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9AEE2C8-70FC-C139-9CFB-128A99295F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698B2B-2C29-4FD9-9FCD-C0BF8E76BD3C}" type="datetimeFigureOut">
              <a:rPr lang="en-IN" smtClean="0"/>
              <a:t>11-06-2025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9E47ED0-1250-B24F-B931-743E4F677E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D8DAFE-996C-FD17-12FE-753321853C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47F143-14E5-40B9-AD02-F198851F8AB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3377849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47404B-DC25-3F88-25BB-08D26C0F6B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41D2BE-3380-F750-38BD-2F67FC7DCA9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58D1F3-019D-D004-17D4-855CBE1435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698B2B-2C29-4FD9-9FCD-C0BF8E76BD3C}" type="datetimeFigureOut">
              <a:rPr lang="en-IN" smtClean="0"/>
              <a:t>11-06-2025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B7C7A9D-B48F-3A98-DC28-C3AA014082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6D70EC3-2AB2-5708-A815-8AD797B2BC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47F143-14E5-40B9-AD02-F198851F8AB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112108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5C98CC-D708-19F1-B7BF-6E2E165229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1448A4F-A59C-E898-B500-A6A7C1E2FD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E37EF20-5BCF-7FFE-BFAF-20EE5947E6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698B2B-2C29-4FD9-9FCD-C0BF8E76BD3C}" type="datetimeFigureOut">
              <a:rPr lang="en-IN" smtClean="0"/>
              <a:t>11-06-2025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5CDA3C-D98E-D0D6-EDA6-D735CB4AB7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1471841-9D89-A1D8-556F-C2A6FCC132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47F143-14E5-40B9-AD02-F198851F8AB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147583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8CABFD-98FF-C75E-6A05-4DD90C2229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D3C318-AA19-EBDE-DEEE-6349EE36935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74147ED-443A-9BD4-3BD1-B5E6E920809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9E5D191-A57C-CA11-0EE6-1B0C413FC1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698B2B-2C29-4FD9-9FCD-C0BF8E76BD3C}" type="datetimeFigureOut">
              <a:rPr lang="en-IN" smtClean="0"/>
              <a:t>11-06-2025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093A7A3-CCD5-6E44-148F-71A0F84EC4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B489259-EB73-A1F0-88DC-FC9AA878B2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47F143-14E5-40B9-AD02-F198851F8AB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710499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BDBAA7-3D8E-E140-98C0-1805F7F877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382EE2B-A9CE-23AA-CF74-ABD5962E45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906D819-E8F3-5FCC-BBC6-6EF684728E6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A33A737-137B-F647-DE3A-CFC96CDAA74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C5E045B-D242-33AE-C96D-7C049B1541B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48501BA-F608-6026-085A-368FDD6A01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698B2B-2C29-4FD9-9FCD-C0BF8E76BD3C}" type="datetimeFigureOut">
              <a:rPr lang="en-IN" smtClean="0"/>
              <a:t>11-06-2025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670A8B4-AD00-B732-63F7-DDCCBC88A1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07EC894-1C70-CFF3-F802-A2444CC638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47F143-14E5-40B9-AD02-F198851F8AB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572482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FB46F8-5531-76A4-BB3F-C16101A6C0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445F13A-1152-E943-E9FC-F37A32C3F2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698B2B-2C29-4FD9-9FCD-C0BF8E76BD3C}" type="datetimeFigureOut">
              <a:rPr lang="en-IN" smtClean="0"/>
              <a:t>11-06-2025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CB372F6-3D96-D310-77E8-E9179F5784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B8994A1-B096-9995-67FD-0A40CC0AA5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47F143-14E5-40B9-AD02-F198851F8AB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892890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93AE44E-D7FD-15BB-AB60-DF389E0698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698B2B-2C29-4FD9-9FCD-C0BF8E76BD3C}" type="datetimeFigureOut">
              <a:rPr lang="en-IN" smtClean="0"/>
              <a:t>11-06-2025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1832BFF-0F34-6BC6-3470-D4475BDB0A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B38534B-B7F4-DFA4-9943-37859247AB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47F143-14E5-40B9-AD02-F198851F8AB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467691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2F94AC-22CE-0503-A567-A79D516EF8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0EB782-2829-DFC4-F486-00BA1AFA41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61A2097-2C5D-B55B-A938-7B6F4DBAB41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DF95B59-D331-8BCE-FA7F-DF539A8585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698B2B-2C29-4FD9-9FCD-C0BF8E76BD3C}" type="datetimeFigureOut">
              <a:rPr lang="en-IN" smtClean="0"/>
              <a:t>11-06-2025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764AB33-A854-C41D-68A4-EAB7541676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48A6284-F538-59D0-2D8B-8B6F634E0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47F143-14E5-40B9-AD02-F198851F8AB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989277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F9333E-5F04-CE86-1902-570BB3723E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87C46A4-83E0-7189-2297-7E5506C60D5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6010BFF-A895-ED39-8E4F-90EED310EBF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59E476E-85DA-D78F-FB6A-B2EF4AC39A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698B2B-2C29-4FD9-9FCD-C0BF8E76BD3C}" type="datetimeFigureOut">
              <a:rPr lang="en-IN" smtClean="0"/>
              <a:t>11-06-2025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F2974E5-A16E-0E34-3571-300A8E8FFA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C69733B-8FA8-3952-D576-BDA1F15448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47F143-14E5-40B9-AD02-F198851F8AB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730643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06271A-6E39-E39F-AD67-22EDB990CE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B5F85DA-E6F6-12B8-08AA-BCB28BC47ED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DFFA7BA-48AC-EFB4-0F45-016106BFD4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698B2B-2C29-4FD9-9FCD-C0BF8E76BD3C}" type="datetimeFigureOut">
              <a:rPr lang="en-IN" smtClean="0"/>
              <a:t>11-06-2025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261959-5342-60CA-4F36-C359DB376F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E70030E-E725-F636-1206-76BBBE1DDE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47F143-14E5-40B9-AD02-F198851F8AB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60754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BD5EFC1-415F-04EB-0714-00DAFCDB257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B66B56A-4DBD-0666-1AD2-BAF92910111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D04051E-8208-6612-9A6C-99095A3EA9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698B2B-2C29-4FD9-9FCD-C0BF8E76BD3C}" type="datetimeFigureOut">
              <a:rPr lang="en-IN" smtClean="0"/>
              <a:t>11-06-2025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6B02C8-C1D8-CB45-4CA4-2556DD5020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DD158E-3EC6-C471-3163-24DDA1983A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47F143-14E5-40B9-AD02-F198851F8AB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740254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A7AB27D-2E99-C223-28E3-D1E0040385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7F6F3CF-84F7-FF46-7ADB-0E25619BFAA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5F74E5-916D-147F-09FB-CB545F7FEE3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E698B2B-2C29-4FD9-9FCD-C0BF8E76BD3C}" type="datetimeFigureOut">
              <a:rPr lang="en-IN" smtClean="0"/>
              <a:t>11-06-2025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6E545E-5B56-FCA6-E8B7-2542E556742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DEAA3D-491A-15A3-5908-B91882D943B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047F143-14E5-40B9-AD02-F198851F8AB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025176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10000"/>
            <a:lumOff val="9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TextBox 143">
            <a:extLst>
              <a:ext uri="{FF2B5EF4-FFF2-40B4-BE49-F238E27FC236}">
                <a16:creationId xmlns:a16="http://schemas.microsoft.com/office/drawing/2014/main" id="{77F2B5A2-5988-EDD9-C889-B563E085F8BF}"/>
              </a:ext>
            </a:extLst>
          </p:cNvPr>
          <p:cNvSpPr txBox="1"/>
          <p:nvPr/>
        </p:nvSpPr>
        <p:spPr>
          <a:xfrm>
            <a:off x="798487" y="2715910"/>
            <a:ext cx="10265714" cy="132343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4000" dirty="0"/>
              <a:t>NoC Performance Analysis Tool with Hybrid Arbitration</a:t>
            </a:r>
          </a:p>
        </p:txBody>
      </p:sp>
    </p:spTree>
    <p:extLst>
      <p:ext uri="{BB962C8B-B14F-4D97-AF65-F5344CB8AC3E}">
        <p14:creationId xmlns:p14="http://schemas.microsoft.com/office/powerpoint/2010/main" val="16921375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91F32F-7AFB-94E3-BE91-13FC374FB7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81037"/>
            <a:ext cx="10515600" cy="588604"/>
          </a:xfrm>
        </p:spPr>
        <p:txBody>
          <a:bodyPr>
            <a:normAutofit fontScale="90000"/>
          </a:bodyPr>
          <a:lstStyle/>
          <a:p>
            <a:r>
              <a:rPr lang="en-IN" dirty="0"/>
              <a:t>Agenda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7DD861-895D-1D0F-FBB9-A15253A91D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Overview of .Dot file changes</a:t>
            </a:r>
          </a:p>
          <a:p>
            <a:r>
              <a:rPr lang="en-IN" dirty="0"/>
              <a:t>Handling after saturation cases</a:t>
            </a:r>
          </a:p>
          <a:p>
            <a:r>
              <a:rPr lang="en-IN" dirty="0"/>
              <a:t>Next steps &amp; discussion</a:t>
            </a:r>
          </a:p>
        </p:txBody>
      </p:sp>
    </p:spTree>
    <p:extLst>
      <p:ext uri="{BB962C8B-B14F-4D97-AF65-F5344CB8AC3E}">
        <p14:creationId xmlns:p14="http://schemas.microsoft.com/office/powerpoint/2010/main" val="289536641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21DC17-DAC9-4BE3-8E75-DB35A70ABD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639520"/>
            <a:ext cx="3429000" cy="1719072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54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Changes in .Dot File</a:t>
            </a:r>
          </a:p>
        </p:txBody>
      </p:sp>
      <p:pic>
        <p:nvPicPr>
          <p:cNvPr id="5" name="Content Placeholder 4" descr="A screen shot of a computer screen&#10;&#10;AI-generated content may be incorrect.">
            <a:extLst>
              <a:ext uri="{FF2B5EF4-FFF2-40B4-BE49-F238E27FC236}">
                <a16:creationId xmlns:a16="http://schemas.microsoft.com/office/drawing/2014/main" id="{CDDF278A-4D55-5E68-0B4D-A00CB8A1BF4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654296" y="1262958"/>
            <a:ext cx="6903720" cy="4332084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9A2A28E9-BDF2-8156-605B-EED7AD94E53B}"/>
              </a:ext>
            </a:extLst>
          </p:cNvPr>
          <p:cNvSpPr txBox="1"/>
          <p:nvPr/>
        </p:nvSpPr>
        <p:spPr>
          <a:xfrm>
            <a:off x="630936" y="2807208"/>
            <a:ext cx="3429000" cy="341071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700" b="1"/>
              <a:t>Fn</a:t>
            </a:r>
            <a:r>
              <a:rPr lang="en-US" sz="1700"/>
              <a:t> [label="rate = ?, coeff_interarrival_time = ?“ ]</a:t>
            </a: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700" b="1"/>
              <a:t>Qn</a:t>
            </a:r>
            <a:r>
              <a:rPr lang="en-US" sz="1700"/>
              <a:t> [label="buffer_size = ?, mode = ?“]</a:t>
            </a: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700" b="1"/>
              <a:t>RRn</a:t>
            </a:r>
            <a:r>
              <a:rPr lang="en-US" sz="1700"/>
              <a:t> [label="zero_load_latency = ?“]</a:t>
            </a: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700" b="1"/>
              <a:t>PRn</a:t>
            </a:r>
            <a:r>
              <a:rPr lang="en-US" sz="1700"/>
              <a:t> [label="zero_load_latency = ?“]</a:t>
            </a: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700" b="1"/>
              <a:t>SRn</a:t>
            </a:r>
            <a:r>
              <a:rPr lang="en-US" sz="1700"/>
              <a:t> [label="Service_time = 1.0, coeff_service_time = 0.0"</a:t>
            </a: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700" b="1"/>
              <a:t>Sink</a:t>
            </a:r>
            <a:r>
              <a:rPr lang="en-US" sz="1700"/>
              <a:t> [label="Sink“]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1700"/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1700"/>
          </a:p>
        </p:txBody>
      </p:sp>
    </p:spTree>
    <p:extLst>
      <p:ext uri="{BB962C8B-B14F-4D97-AF65-F5344CB8AC3E}">
        <p14:creationId xmlns:p14="http://schemas.microsoft.com/office/powerpoint/2010/main" val="1199732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B975B0-0F0C-921A-395A-F2E74B31BB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1479" y="225553"/>
            <a:ext cx="11617407" cy="432815"/>
          </a:xfrm>
          <a:solidFill>
            <a:schemeClr val="tx1"/>
          </a:solidFill>
        </p:spPr>
        <p:txBody>
          <a:bodyPr>
            <a:noAutofit/>
          </a:bodyPr>
          <a:lstStyle/>
          <a:p>
            <a:pPr algn="ctr"/>
            <a:r>
              <a:rPr lang="en-US" sz="3200" dirty="0">
                <a:solidFill>
                  <a:srgbClr val="FFC000"/>
                </a:solidFill>
              </a:rPr>
              <a:t>Validate Connection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550EC07-D3B0-5FEF-D4D5-DE774D1A5D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48175" y="3584448"/>
            <a:ext cx="7859222" cy="307827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73F0AD49-2E0F-9CD8-6EC1-8FEED703278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814"/>
          <a:stretch/>
        </p:blipFill>
        <p:spPr>
          <a:xfrm>
            <a:off x="406908" y="4073619"/>
            <a:ext cx="2767223" cy="2514951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8D144B48-44CC-CDA3-E1A0-A978A074618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69665" y="1099995"/>
            <a:ext cx="7859222" cy="1917525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CE72FDCE-3A12-251A-FB60-7AD9D15FE006}"/>
              </a:ext>
            </a:extLst>
          </p:cNvPr>
          <p:cNvSpPr txBox="1"/>
          <p:nvPr/>
        </p:nvSpPr>
        <p:spPr>
          <a:xfrm>
            <a:off x="406908" y="1054811"/>
            <a:ext cx="3607308" cy="2954655"/>
          </a:xfrm>
          <a:prstGeom prst="rect">
            <a:avLst/>
          </a:prstGeom>
          <a:noFill/>
          <a:ln>
            <a:solidFill>
              <a:schemeClr val="tx1">
                <a:lumMod val="75000"/>
                <a:lumOff val="25000"/>
              </a:schemeClr>
            </a:solidFill>
          </a:ln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Injector(</a:t>
            </a:r>
            <a:r>
              <a:rPr lang="en-US" sz="1400" dirty="0" err="1"/>
              <a:t>Fn</a:t>
            </a:r>
            <a:r>
              <a:rPr lang="en-US" sz="1400" dirty="0"/>
              <a:t>)          Queue(Qn)</a:t>
            </a:r>
          </a:p>
          <a:p>
            <a:endParaRPr lang="en-US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Queue(Qn)            Server</a:t>
            </a:r>
          </a:p>
          <a:p>
            <a:r>
              <a:rPr lang="en-US" sz="1400" dirty="0"/>
              <a:t>	                  Arbiter</a:t>
            </a:r>
          </a:p>
          <a:p>
            <a:endParaRPr lang="en-US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Server(</a:t>
            </a:r>
            <a:r>
              <a:rPr lang="en-US" sz="1400" dirty="0" err="1"/>
              <a:t>SRn</a:t>
            </a:r>
            <a:r>
              <a:rPr lang="en-US" sz="1400" dirty="0"/>
              <a:t>)       Queue</a:t>
            </a:r>
          </a:p>
          <a:p>
            <a:r>
              <a:rPr lang="en-US" sz="1400" dirty="0"/>
              <a:t>	</a:t>
            </a:r>
            <a:r>
              <a:rPr lang="en-US" sz="1400" dirty="0">
                <a:solidFill>
                  <a:srgbClr val="FF0000"/>
                </a:solidFill>
              </a:rPr>
              <a:t>              </a:t>
            </a:r>
            <a:r>
              <a:rPr lang="en-US" sz="1400" dirty="0"/>
              <a:t> Sink</a:t>
            </a:r>
          </a:p>
          <a:p>
            <a:r>
              <a:rPr lang="en-US" sz="1400" dirty="0"/>
              <a:t>                                       Merge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Arbiter(</a:t>
            </a:r>
            <a:r>
              <a:rPr lang="en-US" sz="1400" dirty="0" err="1"/>
              <a:t>RRn</a:t>
            </a:r>
            <a:r>
              <a:rPr lang="en-US" sz="1400" dirty="0"/>
              <a:t> </a:t>
            </a:r>
          </a:p>
          <a:p>
            <a:r>
              <a:rPr lang="en-US" sz="1400" dirty="0"/>
              <a:t>          or </a:t>
            </a:r>
            <a:r>
              <a:rPr lang="en-US" sz="1400" dirty="0" err="1"/>
              <a:t>PRn</a:t>
            </a:r>
            <a:r>
              <a:rPr lang="en-US" sz="1400" dirty="0"/>
              <a:t>)                        Server(</a:t>
            </a:r>
            <a:r>
              <a:rPr lang="en-US" sz="1400" dirty="0" err="1"/>
              <a:t>SRn</a:t>
            </a:r>
            <a:r>
              <a:rPr lang="en-US" sz="1400" dirty="0"/>
              <a:t>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Split                      Queue</a:t>
            </a:r>
          </a:p>
          <a:p>
            <a:endParaRPr lang="en-US" dirty="0"/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7C653D03-9AB5-F41E-E4D1-9A58F6720D08}"/>
              </a:ext>
            </a:extLst>
          </p:cNvPr>
          <p:cNvCxnSpPr/>
          <p:nvPr/>
        </p:nvCxnSpPr>
        <p:spPr>
          <a:xfrm>
            <a:off x="1545336" y="3584448"/>
            <a:ext cx="283464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F44F0D4B-1AA6-DDF5-3A97-2DB552FDC145}"/>
              </a:ext>
            </a:extLst>
          </p:cNvPr>
          <p:cNvCxnSpPr/>
          <p:nvPr/>
        </p:nvCxnSpPr>
        <p:spPr>
          <a:xfrm>
            <a:off x="1530145" y="3316224"/>
            <a:ext cx="283464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Left Brace 21">
            <a:extLst>
              <a:ext uri="{FF2B5EF4-FFF2-40B4-BE49-F238E27FC236}">
                <a16:creationId xmlns:a16="http://schemas.microsoft.com/office/drawing/2014/main" id="{78517298-4BFC-45F7-01BE-F69FCE3E6D17}"/>
              </a:ext>
            </a:extLst>
          </p:cNvPr>
          <p:cNvSpPr/>
          <p:nvPr/>
        </p:nvSpPr>
        <p:spPr>
          <a:xfrm>
            <a:off x="1828800" y="2212848"/>
            <a:ext cx="73152" cy="740664"/>
          </a:xfrm>
          <a:prstGeom prst="lef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Left Brace 22">
            <a:extLst>
              <a:ext uri="{FF2B5EF4-FFF2-40B4-BE49-F238E27FC236}">
                <a16:creationId xmlns:a16="http://schemas.microsoft.com/office/drawing/2014/main" id="{E5497379-806F-D969-9796-F6F484E5C21C}"/>
              </a:ext>
            </a:extLst>
          </p:cNvPr>
          <p:cNvSpPr/>
          <p:nvPr/>
        </p:nvSpPr>
        <p:spPr>
          <a:xfrm>
            <a:off x="1901952" y="1609344"/>
            <a:ext cx="73152" cy="326784"/>
          </a:xfrm>
          <a:prstGeom prst="lef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CD576E28-9C81-F9F7-5BF0-3528242828E2}"/>
              </a:ext>
            </a:extLst>
          </p:cNvPr>
          <p:cNvCxnSpPr/>
          <p:nvPr/>
        </p:nvCxnSpPr>
        <p:spPr>
          <a:xfrm>
            <a:off x="1441704" y="2609088"/>
            <a:ext cx="283464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73E4A013-3D20-CFE4-D3F6-DD7B61ECB03C}"/>
              </a:ext>
            </a:extLst>
          </p:cNvPr>
          <p:cNvCxnSpPr/>
          <p:nvPr/>
        </p:nvCxnSpPr>
        <p:spPr>
          <a:xfrm>
            <a:off x="1507236" y="1813560"/>
            <a:ext cx="283464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B4D57300-C837-032B-3A26-3286F04F872C}"/>
              </a:ext>
            </a:extLst>
          </p:cNvPr>
          <p:cNvCxnSpPr/>
          <p:nvPr/>
        </p:nvCxnSpPr>
        <p:spPr>
          <a:xfrm>
            <a:off x="1691640" y="1219200"/>
            <a:ext cx="283464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8EE9D927-8976-F8F1-D8BD-7C5ACF871F14}"/>
              </a:ext>
            </a:extLst>
          </p:cNvPr>
          <p:cNvCxnSpPr>
            <a:cxnSpLocks/>
          </p:cNvCxnSpPr>
          <p:nvPr/>
        </p:nvCxnSpPr>
        <p:spPr>
          <a:xfrm>
            <a:off x="2551176" y="5440680"/>
            <a:ext cx="1618488" cy="896112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35499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28A20B-B54D-A22A-A854-C31711F28C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4905" y="271467"/>
            <a:ext cx="11521434" cy="608269"/>
          </a:xfrm>
          <a:solidFill>
            <a:schemeClr val="tx1"/>
          </a:solidFill>
        </p:spPr>
        <p:txBody>
          <a:bodyPr>
            <a:normAutofit/>
          </a:bodyPr>
          <a:lstStyle/>
          <a:p>
            <a:r>
              <a:rPr lang="en-IN" sz="2400" dirty="0">
                <a:solidFill>
                  <a:srgbClr val="FFC000"/>
                </a:solidFill>
              </a:rPr>
              <a:t>Waiting Time Calculation with </a:t>
            </a:r>
            <a:r>
              <a:rPr lang="en-IN" sz="2400" b="1" dirty="0">
                <a:solidFill>
                  <a:srgbClr val="FFC000"/>
                </a:solidFill>
              </a:rPr>
              <a:t>High Injection Rate </a:t>
            </a:r>
            <a:r>
              <a:rPr lang="en-IN" sz="2400" dirty="0">
                <a:solidFill>
                  <a:srgbClr val="FFC000"/>
                </a:solidFill>
              </a:rPr>
              <a:t>and </a:t>
            </a:r>
            <a:r>
              <a:rPr lang="en-IN" sz="2400" b="1" dirty="0">
                <a:solidFill>
                  <a:srgbClr val="FFC000"/>
                </a:solidFill>
              </a:rPr>
              <a:t>Finite Buffer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8BBCFFA-A355-DAE5-121C-9687E7F6F4FB}"/>
              </a:ext>
            </a:extLst>
          </p:cNvPr>
          <p:cNvSpPr/>
          <p:nvPr/>
        </p:nvSpPr>
        <p:spPr>
          <a:xfrm>
            <a:off x="6597445" y="1818968"/>
            <a:ext cx="1101213" cy="30480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B156EA3-BD7C-E53A-8ED9-DFDE1A3DF71F}"/>
              </a:ext>
            </a:extLst>
          </p:cNvPr>
          <p:cNvSpPr/>
          <p:nvPr/>
        </p:nvSpPr>
        <p:spPr>
          <a:xfrm>
            <a:off x="6597445" y="2374491"/>
            <a:ext cx="1101213" cy="30480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0661908-3BBC-16A6-C2EB-0B34147881CC}"/>
              </a:ext>
            </a:extLst>
          </p:cNvPr>
          <p:cNvSpPr/>
          <p:nvPr/>
        </p:nvSpPr>
        <p:spPr>
          <a:xfrm>
            <a:off x="6597444" y="2930014"/>
            <a:ext cx="1101213" cy="30480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Cube 6">
            <a:extLst>
              <a:ext uri="{FF2B5EF4-FFF2-40B4-BE49-F238E27FC236}">
                <a16:creationId xmlns:a16="http://schemas.microsoft.com/office/drawing/2014/main" id="{791A2D0F-B7DD-E641-D9B5-E8FC24BB7C34}"/>
              </a:ext>
            </a:extLst>
          </p:cNvPr>
          <p:cNvSpPr/>
          <p:nvPr/>
        </p:nvSpPr>
        <p:spPr>
          <a:xfrm>
            <a:off x="6693318" y="1868129"/>
            <a:ext cx="213842" cy="194187"/>
          </a:xfrm>
          <a:prstGeom prst="cube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bg2"/>
              </a:solidFill>
            </a:endParaRPr>
          </a:p>
        </p:txBody>
      </p:sp>
      <p:sp>
        <p:nvSpPr>
          <p:cNvPr id="8" name="Cube 7">
            <a:extLst>
              <a:ext uri="{FF2B5EF4-FFF2-40B4-BE49-F238E27FC236}">
                <a16:creationId xmlns:a16="http://schemas.microsoft.com/office/drawing/2014/main" id="{EBE89B41-C371-0AC2-1D1F-E55FCEC4D920}"/>
              </a:ext>
            </a:extLst>
          </p:cNvPr>
          <p:cNvSpPr/>
          <p:nvPr/>
        </p:nvSpPr>
        <p:spPr>
          <a:xfrm>
            <a:off x="7059167" y="1858297"/>
            <a:ext cx="193105" cy="204019"/>
          </a:xfrm>
          <a:prstGeom prst="cube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Cube 8">
            <a:extLst>
              <a:ext uri="{FF2B5EF4-FFF2-40B4-BE49-F238E27FC236}">
                <a16:creationId xmlns:a16="http://schemas.microsoft.com/office/drawing/2014/main" id="{0348FEF9-003E-FF0A-C554-C6443F03B242}"/>
              </a:ext>
            </a:extLst>
          </p:cNvPr>
          <p:cNvSpPr/>
          <p:nvPr/>
        </p:nvSpPr>
        <p:spPr>
          <a:xfrm>
            <a:off x="7430745" y="1855838"/>
            <a:ext cx="192696" cy="206478"/>
          </a:xfrm>
          <a:prstGeom prst="cube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Cube 9">
            <a:extLst>
              <a:ext uri="{FF2B5EF4-FFF2-40B4-BE49-F238E27FC236}">
                <a16:creationId xmlns:a16="http://schemas.microsoft.com/office/drawing/2014/main" id="{8D3071C7-8F3B-20E7-5A95-8E2470F8229F}"/>
              </a:ext>
            </a:extLst>
          </p:cNvPr>
          <p:cNvSpPr/>
          <p:nvPr/>
        </p:nvSpPr>
        <p:spPr>
          <a:xfrm>
            <a:off x="6693318" y="2438401"/>
            <a:ext cx="204010" cy="206473"/>
          </a:xfrm>
          <a:prstGeom prst="cube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Cube 10">
            <a:extLst>
              <a:ext uri="{FF2B5EF4-FFF2-40B4-BE49-F238E27FC236}">
                <a16:creationId xmlns:a16="http://schemas.microsoft.com/office/drawing/2014/main" id="{DBCFC509-2F6D-C7DA-EEAC-8D5DC6BED833}"/>
              </a:ext>
            </a:extLst>
          </p:cNvPr>
          <p:cNvSpPr/>
          <p:nvPr/>
        </p:nvSpPr>
        <p:spPr>
          <a:xfrm>
            <a:off x="7049339" y="2438397"/>
            <a:ext cx="204010" cy="206473"/>
          </a:xfrm>
          <a:prstGeom prst="cube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Cube 11">
            <a:extLst>
              <a:ext uri="{FF2B5EF4-FFF2-40B4-BE49-F238E27FC236}">
                <a16:creationId xmlns:a16="http://schemas.microsoft.com/office/drawing/2014/main" id="{FA7AD7D1-5D31-4A07-5346-A5EEBC18C2D1}"/>
              </a:ext>
            </a:extLst>
          </p:cNvPr>
          <p:cNvSpPr/>
          <p:nvPr/>
        </p:nvSpPr>
        <p:spPr>
          <a:xfrm>
            <a:off x="7430744" y="2438396"/>
            <a:ext cx="204010" cy="206473"/>
          </a:xfrm>
          <a:prstGeom prst="cube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3" name="Cube 12">
            <a:extLst>
              <a:ext uri="{FF2B5EF4-FFF2-40B4-BE49-F238E27FC236}">
                <a16:creationId xmlns:a16="http://schemas.microsoft.com/office/drawing/2014/main" id="{D26905A1-A7C0-EB08-23C5-A4EE43E8AB85}"/>
              </a:ext>
            </a:extLst>
          </p:cNvPr>
          <p:cNvSpPr/>
          <p:nvPr/>
        </p:nvSpPr>
        <p:spPr>
          <a:xfrm>
            <a:off x="7059167" y="3000708"/>
            <a:ext cx="221614" cy="184945"/>
          </a:xfrm>
          <a:prstGeom prst="cube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4" name="Cube 13">
            <a:extLst>
              <a:ext uri="{FF2B5EF4-FFF2-40B4-BE49-F238E27FC236}">
                <a16:creationId xmlns:a16="http://schemas.microsoft.com/office/drawing/2014/main" id="{F9E61AA2-0EED-27E3-F351-8489F05FA31C}"/>
              </a:ext>
            </a:extLst>
          </p:cNvPr>
          <p:cNvSpPr/>
          <p:nvPr/>
        </p:nvSpPr>
        <p:spPr>
          <a:xfrm>
            <a:off x="7430744" y="2979175"/>
            <a:ext cx="207692" cy="184945"/>
          </a:xfrm>
          <a:prstGeom prst="cube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80AE2712-30C1-C7DB-1E3F-F924296E1A72}"/>
              </a:ext>
            </a:extLst>
          </p:cNvPr>
          <p:cNvCxnSpPr>
            <a:stCxn id="4" idx="3"/>
          </p:cNvCxnSpPr>
          <p:nvPr/>
        </p:nvCxnSpPr>
        <p:spPr>
          <a:xfrm>
            <a:off x="7698658" y="1971368"/>
            <a:ext cx="422787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E6FC3E62-FB95-2FA8-C365-E94BF2A5504A}"/>
              </a:ext>
            </a:extLst>
          </p:cNvPr>
          <p:cNvCxnSpPr/>
          <p:nvPr/>
        </p:nvCxnSpPr>
        <p:spPr>
          <a:xfrm>
            <a:off x="7703575" y="2507226"/>
            <a:ext cx="422787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398CA6AE-AB3C-EC1A-7B9B-B72303391B3D}"/>
              </a:ext>
            </a:extLst>
          </p:cNvPr>
          <p:cNvCxnSpPr/>
          <p:nvPr/>
        </p:nvCxnSpPr>
        <p:spPr>
          <a:xfrm>
            <a:off x="6971168" y="1818968"/>
            <a:ext cx="0" cy="3048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9D16642-D182-E2EC-2389-1625D3412B65}"/>
              </a:ext>
            </a:extLst>
          </p:cNvPr>
          <p:cNvCxnSpPr/>
          <p:nvPr/>
        </p:nvCxnSpPr>
        <p:spPr>
          <a:xfrm>
            <a:off x="7364368" y="1818968"/>
            <a:ext cx="0" cy="3048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54261A98-C6FB-CA26-0E89-6C51EC315BA6}"/>
              </a:ext>
            </a:extLst>
          </p:cNvPr>
          <p:cNvCxnSpPr/>
          <p:nvPr/>
        </p:nvCxnSpPr>
        <p:spPr>
          <a:xfrm>
            <a:off x="7364368" y="2374491"/>
            <a:ext cx="0" cy="3048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4D7047DC-5DF0-F2CB-D7F4-7E6E6B29BC35}"/>
              </a:ext>
            </a:extLst>
          </p:cNvPr>
          <p:cNvCxnSpPr/>
          <p:nvPr/>
        </p:nvCxnSpPr>
        <p:spPr>
          <a:xfrm>
            <a:off x="6971168" y="2374491"/>
            <a:ext cx="0" cy="3048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Cube 22">
            <a:extLst>
              <a:ext uri="{FF2B5EF4-FFF2-40B4-BE49-F238E27FC236}">
                <a16:creationId xmlns:a16="http://schemas.microsoft.com/office/drawing/2014/main" id="{444F028D-BDC3-7D06-6A8D-9B34F810D986}"/>
              </a:ext>
            </a:extLst>
          </p:cNvPr>
          <p:cNvSpPr/>
          <p:nvPr/>
        </p:nvSpPr>
        <p:spPr>
          <a:xfrm>
            <a:off x="6675718" y="2979175"/>
            <a:ext cx="231442" cy="206478"/>
          </a:xfrm>
          <a:prstGeom prst="cube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B5EFA1EA-8975-3BA9-7134-224BEAA7308E}"/>
              </a:ext>
            </a:extLst>
          </p:cNvPr>
          <p:cNvCxnSpPr/>
          <p:nvPr/>
        </p:nvCxnSpPr>
        <p:spPr>
          <a:xfrm>
            <a:off x="7392200" y="2930014"/>
            <a:ext cx="0" cy="3048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1530930D-2FD9-92F5-EA0A-4589B1013B93}"/>
              </a:ext>
            </a:extLst>
          </p:cNvPr>
          <p:cNvCxnSpPr/>
          <p:nvPr/>
        </p:nvCxnSpPr>
        <p:spPr>
          <a:xfrm>
            <a:off x="7003619" y="2930014"/>
            <a:ext cx="0" cy="3048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499F609E-F2F2-2348-2B17-D0564A76120F}"/>
              </a:ext>
            </a:extLst>
          </p:cNvPr>
          <p:cNvCxnSpPr/>
          <p:nvPr/>
        </p:nvCxnSpPr>
        <p:spPr>
          <a:xfrm>
            <a:off x="7698657" y="3098538"/>
            <a:ext cx="422787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Flowchart: Connector 26">
            <a:extLst>
              <a:ext uri="{FF2B5EF4-FFF2-40B4-BE49-F238E27FC236}">
                <a16:creationId xmlns:a16="http://schemas.microsoft.com/office/drawing/2014/main" id="{C1616EC1-44E1-9F78-74F5-06FA0F35944B}"/>
              </a:ext>
            </a:extLst>
          </p:cNvPr>
          <p:cNvSpPr/>
          <p:nvPr/>
        </p:nvSpPr>
        <p:spPr>
          <a:xfrm>
            <a:off x="8121444" y="1868129"/>
            <a:ext cx="208740" cy="216309"/>
          </a:xfrm>
          <a:prstGeom prst="flowChartConnector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28" name="Flowchart: Connector 27">
            <a:extLst>
              <a:ext uri="{FF2B5EF4-FFF2-40B4-BE49-F238E27FC236}">
                <a16:creationId xmlns:a16="http://schemas.microsoft.com/office/drawing/2014/main" id="{FB31DB50-414E-9C31-6C63-7BFE82EA6F87}"/>
              </a:ext>
            </a:extLst>
          </p:cNvPr>
          <p:cNvSpPr/>
          <p:nvPr/>
        </p:nvSpPr>
        <p:spPr>
          <a:xfrm>
            <a:off x="8131279" y="2394844"/>
            <a:ext cx="208740" cy="216309"/>
          </a:xfrm>
          <a:prstGeom prst="flowChartConnector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29" name="Flowchart: Connector 28">
            <a:extLst>
              <a:ext uri="{FF2B5EF4-FFF2-40B4-BE49-F238E27FC236}">
                <a16:creationId xmlns:a16="http://schemas.microsoft.com/office/drawing/2014/main" id="{1FFEAD92-48AA-8638-9F7F-9D22770F43AB}"/>
              </a:ext>
            </a:extLst>
          </p:cNvPr>
          <p:cNvSpPr/>
          <p:nvPr/>
        </p:nvSpPr>
        <p:spPr>
          <a:xfrm>
            <a:off x="8103847" y="2985025"/>
            <a:ext cx="208740" cy="216309"/>
          </a:xfrm>
          <a:prstGeom prst="flowChartConnector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3</a:t>
            </a:r>
          </a:p>
        </p:txBody>
      </p: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08A96780-5C46-43A0-84F8-71DB747B3C66}"/>
              </a:ext>
            </a:extLst>
          </p:cNvPr>
          <p:cNvCxnSpPr/>
          <p:nvPr/>
        </p:nvCxnSpPr>
        <p:spPr>
          <a:xfrm>
            <a:off x="8330875" y="1818968"/>
            <a:ext cx="0" cy="1415846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E5DB3421-06DC-BDDA-8917-65B16E34FC17}"/>
              </a:ext>
            </a:extLst>
          </p:cNvPr>
          <p:cNvCxnSpPr/>
          <p:nvPr/>
        </p:nvCxnSpPr>
        <p:spPr>
          <a:xfrm>
            <a:off x="8340019" y="2502998"/>
            <a:ext cx="422787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Flowchart: Connector 32">
            <a:extLst>
              <a:ext uri="{FF2B5EF4-FFF2-40B4-BE49-F238E27FC236}">
                <a16:creationId xmlns:a16="http://schemas.microsoft.com/office/drawing/2014/main" id="{F27DA5F6-AC6D-9938-6EE3-E1BA2761FB40}"/>
              </a:ext>
            </a:extLst>
          </p:cNvPr>
          <p:cNvSpPr/>
          <p:nvPr/>
        </p:nvSpPr>
        <p:spPr>
          <a:xfrm>
            <a:off x="8762806" y="2304289"/>
            <a:ext cx="330062" cy="375002"/>
          </a:xfrm>
          <a:prstGeom prst="flowChartConnector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DB2AF9DD-FADD-6E68-6D3C-E0AB182BB324}"/>
              </a:ext>
            </a:extLst>
          </p:cNvPr>
          <p:cNvCxnSpPr/>
          <p:nvPr/>
        </p:nvCxnSpPr>
        <p:spPr>
          <a:xfrm>
            <a:off x="9092868" y="2502998"/>
            <a:ext cx="422787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ectangle 34">
            <a:extLst>
              <a:ext uri="{FF2B5EF4-FFF2-40B4-BE49-F238E27FC236}">
                <a16:creationId xmlns:a16="http://schemas.microsoft.com/office/drawing/2014/main" id="{E10624C0-6E00-66CB-D1D6-EA04BA8C2347}"/>
              </a:ext>
            </a:extLst>
          </p:cNvPr>
          <p:cNvSpPr/>
          <p:nvPr/>
        </p:nvSpPr>
        <p:spPr>
          <a:xfrm>
            <a:off x="9533353" y="2350598"/>
            <a:ext cx="845088" cy="30480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1E8C805D-E154-4347-E8E4-7DCABD789F15}"/>
              </a:ext>
            </a:extLst>
          </p:cNvPr>
          <p:cNvCxnSpPr/>
          <p:nvPr/>
        </p:nvCxnSpPr>
        <p:spPr>
          <a:xfrm>
            <a:off x="9793224" y="2350598"/>
            <a:ext cx="0" cy="328693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71335D1C-6C17-15C2-287A-0AE79D4CA536}"/>
              </a:ext>
            </a:extLst>
          </p:cNvPr>
          <p:cNvCxnSpPr/>
          <p:nvPr/>
        </p:nvCxnSpPr>
        <p:spPr>
          <a:xfrm>
            <a:off x="10104120" y="2350598"/>
            <a:ext cx="0" cy="3048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Cube 39">
            <a:extLst>
              <a:ext uri="{FF2B5EF4-FFF2-40B4-BE49-F238E27FC236}">
                <a16:creationId xmlns:a16="http://schemas.microsoft.com/office/drawing/2014/main" id="{CBFD0FB2-B439-3981-16B7-B86B046F2CCB}"/>
              </a:ext>
            </a:extLst>
          </p:cNvPr>
          <p:cNvSpPr/>
          <p:nvPr/>
        </p:nvSpPr>
        <p:spPr>
          <a:xfrm>
            <a:off x="6202844" y="1873929"/>
            <a:ext cx="192696" cy="206478"/>
          </a:xfrm>
          <a:prstGeom prst="cube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3" name="Cube 42">
            <a:extLst>
              <a:ext uri="{FF2B5EF4-FFF2-40B4-BE49-F238E27FC236}">
                <a16:creationId xmlns:a16="http://schemas.microsoft.com/office/drawing/2014/main" id="{A57522B7-0334-79AE-F3C0-E0D08B7DDAAF}"/>
              </a:ext>
            </a:extLst>
          </p:cNvPr>
          <p:cNvSpPr/>
          <p:nvPr/>
        </p:nvSpPr>
        <p:spPr>
          <a:xfrm>
            <a:off x="10146461" y="2409788"/>
            <a:ext cx="192696" cy="206478"/>
          </a:xfrm>
          <a:prstGeom prst="cube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3BB3CBBB-99E9-07F3-90EA-971586706971}"/>
                  </a:ext>
                </a:extLst>
              </p:cNvPr>
              <p:cNvSpPr txBox="1"/>
              <p:nvPr/>
            </p:nvSpPr>
            <p:spPr>
              <a:xfrm>
                <a:off x="293128" y="1282859"/>
                <a:ext cx="5863831" cy="521001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lnSpc>
                    <a:spcPct val="150000"/>
                  </a:lnSpc>
                  <a:buFont typeface="Wingdings" panose="05000000000000000000" pitchFamily="2" charset="2"/>
                  <a:buChar char="q"/>
                </a:pPr>
                <a:r>
                  <a:rPr lang="en-US" dirty="0"/>
                  <a:t>Since, the system  is always full, every newly arriving  packets will experience a residual time which is always equal to the average service time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lang="en-US" dirty="0"/>
                  <a:t> of the server  .</a:t>
                </a:r>
              </a:p>
              <a:p>
                <a:pPr marL="285750" indent="-285750">
                  <a:lnSpc>
                    <a:spcPct val="150000"/>
                  </a:lnSpc>
                  <a:buFont typeface="Wingdings" panose="05000000000000000000" pitchFamily="2" charset="2"/>
                  <a:buChar char="q"/>
                </a:pPr>
                <a:r>
                  <a:rPr lang="en-US" dirty="0"/>
                  <a:t>Every time the server finishes serving  a packet, a new packet enter the server.</a:t>
                </a:r>
              </a:p>
              <a:p>
                <a:pPr marL="285750" indent="-285750">
                  <a:lnSpc>
                    <a:spcPct val="150000"/>
                  </a:lnSpc>
                  <a:buFont typeface="Wingdings" panose="05000000000000000000" pitchFamily="2" charset="2"/>
                  <a:buChar char="q"/>
                </a:pPr>
                <a:r>
                  <a:rPr lang="en-US" dirty="0"/>
                  <a:t>Effective injection rate is equal to the departure rate.</a:t>
                </a:r>
              </a:p>
              <a:p>
                <a:pPr marL="285750" indent="-285750">
                  <a:lnSpc>
                    <a:spcPct val="150000"/>
                  </a:lnSpc>
                  <a:buFont typeface="Wingdings" panose="05000000000000000000" pitchFamily="2" charset="2"/>
                  <a:buChar char="q"/>
                </a:pPr>
                <a:r>
                  <a:rPr lang="en-US" dirty="0"/>
                  <a:t>Average Waiting Time </a:t>
                </a:r>
              </a:p>
              <a:p>
                <a:pPr lvl="1"/>
                <a:r>
                  <a:rPr lang="en-US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∗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+ </m:t>
                    </m:r>
                    <m:acc>
                      <m:accPr>
                        <m:chr m:val="̂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</m:e>
                    </m:acc>
                  </m:oMath>
                </a14:m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∗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+</m:t>
                    </m:r>
                  </m:oMath>
                </a14:m>
                <a:r>
                  <a:rPr lang="en-US" dirty="0"/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acc>
                          <m:accPr>
                            <m:chr m:val="̂"/>
                            <m:ctrlPr>
                              <a:rPr lang="en-US" i="1" dirty="0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sSub>
                              <m:sSubPr>
                                <m:ctrlPr>
                                  <a:rPr lang="en-US" i="1" dirty="0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  <m:t>𝜆</m:t>
                                </m:r>
                              </m:e>
                              <m:sub>
                                <m: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</m:sub>
                            </m:sSub>
                          </m:e>
                        </m:acc>
                      </m:den>
                    </m:f>
                  </m:oMath>
                </a14:m>
                <a:r>
                  <a:rPr lang="en-US" dirty="0"/>
                  <a:t> </a:t>
                </a:r>
                <a:endParaRPr lang="en-US" b="0" i="1" dirty="0">
                  <a:latin typeface="Cambria Math" panose="02040503050406030204" pitchFamily="18" charset="0"/>
                </a:endParaRPr>
              </a:p>
              <a:p>
                <a:pPr lvl="1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en-US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𝑁</m:t>
                          </m:r>
                          <m:d>
                            <m:dPr>
                              <m:ctrlP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acc>
                                <m:accPr>
                                  <m:chr m:val="̂"/>
                                  <m:ctrlPr>
                                    <a:rPr lang="en-US" b="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sSub>
                                    <m:sSubPr>
                                      <m:ctrlPr>
                                        <a:rPr lang="en-US" b="0" i="1" dirty="0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0" i="1" dirty="0" smtClean="0">
                                          <a:latin typeface="Cambria Math" panose="02040503050406030204" pitchFamily="18" charset="0"/>
                                        </a:rPr>
                                        <m:t>𝐶𝑎</m:t>
                                      </m:r>
                                    </m:e>
                                    <m:sub>
                                      <m:r>
                                        <a:rPr lang="en-US" b="0" i="1" dirty="0" smtClean="0">
                                          <a:latin typeface="Cambria Math" panose="02040503050406030204" pitchFamily="18" charset="0"/>
                                        </a:rPr>
                                        <m:t>𝑗</m:t>
                                      </m:r>
                                    </m:sub>
                                  </m:sSub>
                                </m:e>
                              </m:acc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+ </m:t>
                              </m:r>
                              <m:acc>
                                <m:accPr>
                                  <m:chr m:val="̂"/>
                                  <m:ctrlPr>
                                    <a:rPr lang="en-US" b="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sSub>
                                    <m:sSubPr>
                                      <m:ctrlPr>
                                        <a:rPr lang="en-US" b="0" i="1" dirty="0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0" i="1" dirty="0" smtClean="0">
                                          <a:latin typeface="Cambria Math" panose="02040503050406030204" pitchFamily="18" charset="0"/>
                                        </a:rPr>
                                        <m:t>𝐶𝑠</m:t>
                                      </m:r>
                                    </m:e>
                                    <m:sub>
                                      <m:r>
                                        <a:rPr lang="en-US" b="0" i="1" dirty="0" smtClean="0">
                                          <a:latin typeface="Cambria Math" panose="02040503050406030204" pitchFamily="18" charset="0"/>
                                        </a:rPr>
                                        <m:t>𝑗</m:t>
                                      </m:r>
                                    </m:sub>
                                  </m:sSub>
                                  <m:r>
                                    <a:rPr lang="en-US" b="0" i="1" dirty="0" smtClean="0">
                                      <a:latin typeface="Cambria Math" panose="02040503050406030204" pitchFamily="18" charset="0"/>
                                    </a:rPr>
                                    <m:t>  </m:t>
                                  </m:r>
                                </m:e>
                              </m:acc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e>
                          </m:d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+2</m:t>
                          </m:r>
                        </m:num>
                        <m:den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acc>
                            <m:accPr>
                              <m:chr m:val="̂"/>
                              <m:ctrlP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sSub>
                                <m:sSubPr>
                                  <m:ctrlPr>
                                    <a:rPr lang="en-US" b="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dirty="0" smtClean="0">
                                      <a:latin typeface="Cambria Math" panose="02040503050406030204" pitchFamily="18" charset="0"/>
                                    </a:rPr>
                                    <m:t>𝜆</m:t>
                                  </m:r>
                                </m:e>
                                <m:sub>
                                  <m:r>
                                    <a:rPr lang="en-US" b="0" i="1" dirty="0" smtClean="0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</m:e>
                          </m:acc>
                        </m:den>
                      </m:f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b="0" dirty="0"/>
              </a:p>
              <a:p>
                <a:pPr lvl="1"/>
                <a:r>
                  <a:rPr lang="en-US" dirty="0"/>
                  <a:t>Where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US" b="0" dirty="0"/>
                  <a:t>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d>
                          <m:dPr>
                            <m:ctrlPr>
                              <a:rPr lang="en-US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 dirty="0">
                                <a:latin typeface="Cambria Math" panose="02040503050406030204" pitchFamily="18" charset="0"/>
                              </a:rPr>
                              <m:t>2</m:t>
                            </m:r>
                            <m:acc>
                              <m:accPr>
                                <m:chr m:val="̂"/>
                                <m:ctrlPr>
                                  <a:rPr lang="en-US" i="1" dirty="0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sSub>
                                  <m:sSubPr>
                                    <m:ctrlPr>
                                      <a:rPr lang="en-US" i="1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 dirty="0">
                                        <a:latin typeface="Cambria Math" panose="02040503050406030204" pitchFamily="18" charset="0"/>
                                      </a:rPr>
                                      <m:t>𝐶𝑎</m:t>
                                    </m:r>
                                  </m:e>
                                  <m:sub>
                                    <m:r>
                                      <a:rPr lang="en-US" i="1" dirty="0">
                                        <a:latin typeface="Cambria Math" panose="02040503050406030204" pitchFamily="18" charset="0"/>
                                      </a:rPr>
                                      <m:t>𝑗</m:t>
                                    </m:r>
                                  </m:sub>
                                </m:sSub>
                              </m:e>
                            </m:acc>
                            <m:r>
                              <a:rPr lang="en-US" i="1" dirty="0">
                                <a:latin typeface="Cambria Math" panose="02040503050406030204" pitchFamily="18" charset="0"/>
                              </a:rPr>
                              <m:t>+ </m:t>
                            </m:r>
                            <m:acc>
                              <m:accPr>
                                <m:chr m:val="̂"/>
                                <m:ctrlPr>
                                  <a:rPr lang="en-US" i="1" dirty="0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sSub>
                                  <m:sSubPr>
                                    <m:ctrlPr>
                                      <a:rPr lang="en-US" i="1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 dirty="0">
                                        <a:latin typeface="Cambria Math" panose="02040503050406030204" pitchFamily="18" charset="0"/>
                                      </a:rPr>
                                      <m:t>𝐶𝑠</m:t>
                                    </m:r>
                                  </m:e>
                                  <m:sub>
                                    <m:r>
                                      <a:rPr lang="en-US" i="1" dirty="0">
                                        <a:latin typeface="Cambria Math" panose="02040503050406030204" pitchFamily="18" charset="0"/>
                                      </a:rPr>
                                      <m:t>𝑗</m:t>
                                    </m:r>
                                  </m:sub>
                                </m:sSub>
                                <m:r>
                                  <a:rPr lang="en-US" i="1" dirty="0">
                                    <a:latin typeface="Cambria Math" panose="02040503050406030204" pitchFamily="18" charset="0"/>
                                  </a:rPr>
                                  <m:t>  </m:t>
                                </m:r>
                              </m:e>
                            </m:acc>
                            <m:r>
                              <a:rPr lang="en-US" i="1" dirty="0">
                                <a:latin typeface="Cambria Math" panose="02040503050406030204" pitchFamily="18" charset="0"/>
                              </a:rPr>
                              <m:t> </m:t>
                            </m:r>
                          </m:e>
                        </m:d>
                      </m:num>
                      <m:den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2</m:t>
                        </m:r>
                        <m:acc>
                          <m:accPr>
                            <m:chr m:val="̂"/>
                            <m:ctrlPr>
                              <a:rPr lang="en-US" i="1" dirty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sSub>
                              <m:sSubPr>
                                <m:ctrlPr>
                                  <a:rPr lang="en-US" i="1" dirty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 dirty="0">
                                    <a:latin typeface="Cambria Math" panose="02040503050406030204" pitchFamily="18" charset="0"/>
                                  </a:rPr>
                                  <m:t>𝜆</m:t>
                                </m:r>
                              </m:e>
                              <m:sub>
                                <m:r>
                                  <a:rPr lang="en-US" i="1" dirty="0"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</m:sub>
                            </m:sSub>
                          </m:e>
                        </m:acc>
                      </m:den>
                    </m:f>
                  </m:oMath>
                </a14:m>
                <a:endParaRPr lang="en-US" b="0" dirty="0"/>
              </a:p>
              <a:p>
                <a:br>
                  <a:rPr lang="en-US" b="0" dirty="0"/>
                </a:br>
                <a:endParaRPr lang="en-US" dirty="0"/>
              </a:p>
            </p:txBody>
          </p:sp>
        </mc:Choice>
        <mc:Fallback xmlns="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3BB3CBBB-99E9-07F3-90EA-97158670697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3128" y="1282859"/>
                <a:ext cx="5863831" cy="5210016"/>
              </a:xfrm>
              <a:prstGeom prst="rect">
                <a:avLst/>
              </a:prstGeom>
              <a:blipFill>
                <a:blip r:embed="rId2"/>
                <a:stretch>
                  <a:fillRect l="-624" r="-135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665626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xit" presetSubtype="1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500"/>
                            </p:stCondLst>
                            <p:childTnLst>
                              <p:par>
                                <p:cTn id="9" presetID="26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653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2050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747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747" tmFilter="0, 0; 0.125,0.2665; 0.25,0.4; 0.375,0.465; 0.5,0.5;  0.625,0.535; 0.75,0.6; 0.875,0.7335; 1,1">
                                          <p:stCondLst>
                                            <p:cond delay="747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374" tmFilter="0, 0; 0.125,0.2665; 0.25,0.4; 0.375,0.465; 0.5,0.5;  0.625,0.535; 0.75,0.6; 0.875,0.7335; 1,1">
                                          <p:stCondLst>
                                            <p:cond delay="149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85" tmFilter="0, 0; 0.125,0.2665; 0.25,0.4; 0.375,0.465; 0.5,0.5;  0.625,0.535; 0.75,0.6; 0.875,0.7335; 1,1">
                                          <p:stCondLst>
                                            <p:cond delay="1863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7" dur="29">
                                          <p:stCondLst>
                                            <p:cond delay="731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8" dur="187" decel="50000">
                                          <p:stCondLst>
                                            <p:cond delay="761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9">
                                          <p:stCondLst>
                                            <p:cond delay="1476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20" dur="187" decel="50000">
                                          <p:stCondLst>
                                            <p:cond delay="1505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1" dur="29">
                                          <p:stCondLst>
                                            <p:cond delay="1847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22" dur="187" decel="50000">
                                          <p:stCondLst>
                                            <p:cond delay="1876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3" dur="29">
                                          <p:stCondLst>
                                            <p:cond delay="2034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4" dur="187" decel="50000">
                                          <p:stCondLst>
                                            <p:cond delay="2063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4750"/>
                            </p:stCondLst>
                            <p:childTnLst>
                              <p:par>
                                <p:cTn id="26" presetID="1" presetClass="exit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750"/>
                            </p:stCondLst>
                            <p:childTnLst>
                              <p:par>
                                <p:cTn id="29" presetID="1" presetClass="entr" presetSubtype="0" fill="hold" grpId="1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6750"/>
                            </p:stCondLst>
                            <p:childTnLst>
                              <p:par>
                                <p:cTn id="32" presetID="1" presetClass="exit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7750"/>
                            </p:stCondLst>
                            <p:childTnLst>
                              <p:par>
                                <p:cTn id="35" presetID="1" presetClass="entr" presetSubtype="0" fill="hold" grpId="1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xit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8750"/>
                            </p:stCondLst>
                            <p:childTnLst>
                              <p:par>
                                <p:cTn id="40" presetID="1" presetClass="entr" presetSubtype="0" fill="hold" grpId="1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7" grpId="1" animBg="1"/>
      <p:bldP spid="8" grpId="0" animBg="1"/>
      <p:bldP spid="8" grpId="1" animBg="1"/>
      <p:bldP spid="9" grpId="0" animBg="1"/>
      <p:bldP spid="9" grpId="1" animBg="1"/>
      <p:bldP spid="40" grpId="0" animBg="1"/>
      <p:bldP spid="43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E4C8DB-882D-1015-C12C-D751D76985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228894-8F46-221D-44B9-FD05E3336B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365125"/>
            <a:ext cx="11311128" cy="457835"/>
          </a:xfrm>
          <a:solidFill>
            <a:schemeClr val="tx1"/>
          </a:solidFill>
        </p:spPr>
        <p:txBody>
          <a:bodyPr>
            <a:noAutofit/>
          </a:bodyPr>
          <a:lstStyle/>
          <a:p>
            <a:r>
              <a:rPr lang="en-US" sz="2800" dirty="0">
                <a:solidFill>
                  <a:srgbClr val="FFC000"/>
                </a:solidFill>
              </a:rPr>
              <a:t>Simulation Vs Analytical model  Result using modified concept(PR model)</a:t>
            </a:r>
          </a:p>
        </p:txBody>
      </p:sp>
      <p:pic>
        <p:nvPicPr>
          <p:cNvPr id="9" name="Content Placeholder 8" descr="A graph of a model and a graph of a model&#10;&#10;AI-generated content may be incorrect.">
            <a:extLst>
              <a:ext uri="{FF2B5EF4-FFF2-40B4-BE49-F238E27FC236}">
                <a16:creationId xmlns:a16="http://schemas.microsoft.com/office/drawing/2014/main" id="{6CB10005-06F2-8C95-3864-CF491B6427B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98108" y="1053846"/>
            <a:ext cx="5334000" cy="4000500"/>
          </a:xfr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E25A30AA-B2AB-DC8A-3EA0-D8A8A013B174}"/>
                  </a:ext>
                </a:extLst>
              </p:cNvPr>
              <p:cNvSpPr txBox="1"/>
              <p:nvPr/>
            </p:nvSpPr>
            <p:spPr>
              <a:xfrm>
                <a:off x="348997" y="895011"/>
                <a:ext cx="5955792" cy="431817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1400" dirty="0"/>
                  <a:t>Computing Effective Injection Rate (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sz="140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en-US" sz="14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𝜆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</m:e>
                    </m:acc>
                    <m:r>
                      <a:rPr lang="en-US" sz="14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1400" dirty="0"/>
                  <a:t> at high Traffic Injection Rate.</a:t>
                </a:r>
              </a:p>
              <a:p>
                <a:pPr marL="342900" indent="-342900">
                  <a:buFont typeface="+mj-lt"/>
                  <a:buAutoNum type="arabicPeriod"/>
                </a:pPr>
                <a:endParaRPr lang="en-US" sz="1400" dirty="0"/>
              </a:p>
              <a:p>
                <a:r>
                  <a:rPr lang="en-US" sz="1400" dirty="0"/>
                  <a:t>	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sz="140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en-US" sz="14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𝜆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</m:e>
                    </m:acc>
                    <m:r>
                      <a:rPr lang="en-US" sz="1400" b="0" i="1" smtClean="0">
                        <a:latin typeface="Cambria Math" panose="02040503050406030204" pitchFamily="18" charset="0"/>
                      </a:rPr>
                      <m:t>= </m:t>
                    </m:r>
                    <m:d>
                      <m:dPr>
                        <m:begChr m:val="{"/>
                        <m:endChr m:val=""/>
                        <m:ctrlPr>
                          <a:rPr lang="en-US" sz="1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eqArrPr>
                          <m:e>
                            <m:f>
                              <m:fPr>
                                <m:ctrlPr>
                                  <a:rPr lang="en-US" sz="1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sz="14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en-US" sz="1400" b="0" i="1" smtClean="0">
                                    <a:latin typeface="Cambria Math" panose="02040503050406030204" pitchFamily="18" charset="0"/>
                                  </a:rPr>
                                  <m:t>𝑇</m:t>
                                </m:r>
                              </m:den>
                            </m:f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𝑚𝑖𝑛</m:t>
                            </m:r>
                            <m:d>
                              <m:dPr>
                                <m:ctrlPr>
                                  <a:rPr lang="en-US" sz="1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1400" b="0" i="1" smtClean="0">
                                    <a:latin typeface="Cambria Math" panose="02040503050406030204" pitchFamily="18" charset="0"/>
                                  </a:rPr>
                                  <m:t>1, </m:t>
                                </m:r>
                                <m:sSub>
                                  <m:sSubPr>
                                    <m:ctrlPr>
                                      <a:rPr lang="en-US" sz="1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400" b="0" i="1" smtClean="0">
                                        <a:latin typeface="Cambria Math" panose="02040503050406030204" pitchFamily="18" charset="0"/>
                                      </a:rPr>
                                      <m:t>𝜌</m:t>
                                    </m:r>
                                  </m:e>
                                  <m:sub>
                                    <m:r>
                                      <a:rPr lang="en-US" sz="1400" b="0" i="1" smtClean="0">
                                        <a:latin typeface="Cambria Math" panose="02040503050406030204" pitchFamily="18" charset="0"/>
                                      </a:rPr>
                                      <m:t>𝑗</m:t>
                                    </m:r>
                                  </m:sub>
                                </m:sSub>
                              </m:e>
                            </m:d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,    </m:t>
                            </m:r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𝑗</m:t>
                            </m:r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=1</m:t>
                            </m:r>
                          </m:e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𝑚𝑖𝑛</m:t>
                            </m:r>
                            <m:d>
                              <m:dPr>
                                <m:ctrlPr>
                                  <a:rPr lang="en-US" sz="1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sz="1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400" b="0" i="1" smtClean="0">
                                        <a:latin typeface="Cambria Math" panose="02040503050406030204" pitchFamily="18" charset="0"/>
                                      </a:rPr>
                                      <m:t>𝜆</m:t>
                                    </m:r>
                                  </m:e>
                                  <m:sub>
                                    <m:r>
                                      <a:rPr lang="en-US" sz="1400" b="0" i="1" smtClean="0">
                                        <a:latin typeface="Cambria Math" panose="02040503050406030204" pitchFamily="18" charset="0"/>
                                      </a:rPr>
                                      <m:t>𝑗</m:t>
                                    </m:r>
                                  </m:sub>
                                </m:sSub>
                                <m:r>
                                  <a:rPr lang="en-US" sz="1400" b="0" i="1" smtClean="0">
                                    <a:latin typeface="Cambria Math" panose="02040503050406030204" pitchFamily="18" charset="0"/>
                                  </a:rPr>
                                  <m:t> , </m:t>
                                </m:r>
                                <m:d>
                                  <m:dPr>
                                    <m:ctrlPr>
                                      <a:rPr lang="en-US" sz="1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1400" b="0" i="1" smtClean="0">
                                        <a:latin typeface="Cambria Math" panose="02040503050406030204" pitchFamily="18" charset="0"/>
                                      </a:rPr>
                                      <m:t>1− </m:t>
                                    </m:r>
                                    <m:f>
                                      <m:fPr>
                                        <m:ctrlPr>
                                          <a:rPr lang="en-US" sz="14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US" sz="1400" b="0" i="1" smtClean="0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num>
                                      <m:den>
                                        <m:r>
                                          <a:rPr lang="en-US" sz="1400" b="0" i="1" smtClean="0">
                                            <a:latin typeface="Cambria Math" panose="02040503050406030204" pitchFamily="18" charset="0"/>
                                          </a:rPr>
                                          <m:t>𝑇</m:t>
                                        </m:r>
                                      </m:den>
                                    </m:f>
                                    <m:nary>
                                      <m:naryPr>
                                        <m:chr m:val="∑"/>
                                        <m:ctrlPr>
                                          <a:rPr lang="en-US" sz="14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naryPr>
                                      <m:sub>
                                        <m:r>
                                          <m:rPr>
                                            <m:brk m:alnAt="23"/>
                                          </m:rPr>
                                          <a:rPr lang="en-US" sz="1400" b="0" i="1" smtClean="0"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  <m:r>
                                          <a:rPr lang="en-US" sz="1400" b="0" i="1" smtClean="0">
                                            <a:latin typeface="Cambria Math" panose="02040503050406030204" pitchFamily="18" charset="0"/>
                                          </a:rPr>
                                          <m:t>=</m:t>
                                        </m:r>
                                        <m:r>
                                          <m:rPr>
                                            <m:brk m:alnAt="23"/>
                                          </m:rPr>
                                          <a:rPr lang="en-US" sz="1400" b="0" i="1" smtClean="0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sub>
                                      <m:sup>
                                        <m:r>
                                          <a:rPr lang="en-US" sz="1400" b="0" i="1" smtClean="0">
                                            <a:latin typeface="Cambria Math" panose="02040503050406030204" pitchFamily="18" charset="0"/>
                                          </a:rPr>
                                          <m:t>𝑗</m:t>
                                        </m:r>
                                        <m:r>
                                          <a:rPr lang="en-US" sz="1400" b="0" i="1" smtClean="0">
                                            <a:latin typeface="Cambria Math" panose="02040503050406030204" pitchFamily="18" charset="0"/>
                                          </a:rPr>
                                          <m:t>−1</m:t>
                                        </m:r>
                                      </m:sup>
                                      <m:e>
                                        <m:acc>
                                          <m:accPr>
                                            <m:chr m:val="̂"/>
                                            <m:ctrlPr>
                                              <a:rPr lang="en-US" sz="1400" b="0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accPr>
                                          <m:e>
                                            <m:sSub>
                                              <m:sSubPr>
                                                <m:ctrlPr>
                                                  <a:rPr lang="en-US" sz="1400" b="0" i="1" smtClean="0"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sSubPr>
                                              <m:e>
                                                <m:r>
                                                  <a:rPr lang="en-US" sz="1400" b="0" i="1" smtClean="0">
                                                    <a:latin typeface="Cambria Math" panose="02040503050406030204" pitchFamily="18" charset="0"/>
                                                  </a:rPr>
                                                  <m:t>𝜌</m:t>
                                                </m:r>
                                              </m:e>
                                              <m:sub>
                                                <m:r>
                                                  <a:rPr lang="en-US" sz="1400" b="0" i="1" smtClean="0">
                                                    <a:latin typeface="Cambria Math" panose="02040503050406030204" pitchFamily="18" charset="0"/>
                                                  </a:rPr>
                                                  <m:t>𝑗</m:t>
                                                </m:r>
                                              </m:sub>
                                            </m:sSub>
                                          </m:e>
                                        </m:acc>
                                      </m:e>
                                    </m:nary>
                                  </m:e>
                                </m:d>
                              </m:e>
                            </m:d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,  1&lt;</m:t>
                            </m:r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𝑗</m:t>
                            </m:r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 ≤</m:t>
                            </m:r>
                            <m:r>
                              <a:rPr lang="en-US" sz="1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𝐽</m:t>
                            </m:r>
                          </m:e>
                        </m:eqArr>
                      </m:e>
                    </m:d>
                  </m:oMath>
                </a14:m>
                <a:endParaRPr lang="en-US" sz="1400" dirty="0"/>
              </a:p>
              <a:p>
                <a:endParaRPr lang="en-US" sz="1400" dirty="0"/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sz="1400" b="0" i="0" dirty="0">
                    <a:solidFill>
                      <a:srgbClr val="008013"/>
                    </a:solidFill>
                    <a:effectLst/>
                  </a:rPr>
                  <a:t>Calculating the Residual Time</a:t>
                </a:r>
              </a:p>
              <a:p>
                <a:pPr marL="2628900" lvl="5" indent="-342900">
                  <a:buFont typeface="Arial" panose="020B0604020202020204" pitchFamily="34" charset="0"/>
                  <a:buChar char="•"/>
                </a:pPr>
                <a:r>
                  <a:rPr lang="en-US" sz="1400" b="0" i="0" dirty="0">
                    <a:solidFill>
                      <a:srgbClr val="008013"/>
                    </a:solidFill>
                    <a:effectLst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4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 i="1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sz="1400" i="1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US" sz="1400" b="0" dirty="0"/>
                  <a:t>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1400" i="1" dirty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d>
                          <m:dPr>
                            <m:ctrlPr>
                              <a:rPr lang="en-US" sz="14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400" i="1" dirty="0">
                                <a:latin typeface="Cambria Math" panose="02040503050406030204" pitchFamily="18" charset="0"/>
                              </a:rPr>
                              <m:t>2</m:t>
                            </m:r>
                            <m:acc>
                              <m:accPr>
                                <m:chr m:val="̂"/>
                                <m:ctrlPr>
                                  <a:rPr lang="en-US" sz="1400" i="1" dirty="0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sSub>
                                  <m:sSubPr>
                                    <m:ctrlPr>
                                      <a:rPr lang="en-US" sz="1400" i="1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400" i="1" dirty="0">
                                        <a:latin typeface="Cambria Math" panose="02040503050406030204" pitchFamily="18" charset="0"/>
                                      </a:rPr>
                                      <m:t>𝐶𝑎</m:t>
                                    </m:r>
                                  </m:e>
                                  <m:sub>
                                    <m:r>
                                      <a:rPr lang="en-US" sz="1400" i="1" dirty="0">
                                        <a:latin typeface="Cambria Math" panose="02040503050406030204" pitchFamily="18" charset="0"/>
                                      </a:rPr>
                                      <m:t>𝑗</m:t>
                                    </m:r>
                                  </m:sub>
                                </m:sSub>
                              </m:e>
                            </m:acc>
                            <m:r>
                              <a:rPr lang="en-US" sz="1400" i="1" dirty="0">
                                <a:latin typeface="Cambria Math" panose="02040503050406030204" pitchFamily="18" charset="0"/>
                              </a:rPr>
                              <m:t>+ </m:t>
                            </m:r>
                            <m:acc>
                              <m:accPr>
                                <m:chr m:val="̂"/>
                                <m:ctrlPr>
                                  <a:rPr lang="en-US" sz="1400" i="1" dirty="0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sSub>
                                  <m:sSubPr>
                                    <m:ctrlPr>
                                      <a:rPr lang="en-US" sz="1400" i="1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400" i="1" dirty="0">
                                        <a:latin typeface="Cambria Math" panose="02040503050406030204" pitchFamily="18" charset="0"/>
                                      </a:rPr>
                                      <m:t>𝐶𝑠</m:t>
                                    </m:r>
                                  </m:e>
                                  <m:sub>
                                    <m:r>
                                      <a:rPr lang="en-US" sz="1400" i="1" dirty="0">
                                        <a:latin typeface="Cambria Math" panose="02040503050406030204" pitchFamily="18" charset="0"/>
                                      </a:rPr>
                                      <m:t>𝑗</m:t>
                                    </m:r>
                                  </m:sub>
                                </m:sSub>
                                <m:r>
                                  <a:rPr lang="en-US" sz="1400" i="1" dirty="0">
                                    <a:latin typeface="Cambria Math" panose="02040503050406030204" pitchFamily="18" charset="0"/>
                                  </a:rPr>
                                  <m:t>  </m:t>
                                </m:r>
                              </m:e>
                            </m:acc>
                            <m:r>
                              <a:rPr lang="en-US" sz="1400" i="1" dirty="0">
                                <a:latin typeface="Cambria Math" panose="02040503050406030204" pitchFamily="18" charset="0"/>
                              </a:rPr>
                              <m:t> </m:t>
                            </m:r>
                          </m:e>
                        </m:d>
                      </m:num>
                      <m:den>
                        <m:r>
                          <a:rPr lang="en-US" sz="1400" i="1" dirty="0">
                            <a:latin typeface="Cambria Math" panose="02040503050406030204" pitchFamily="18" charset="0"/>
                          </a:rPr>
                          <m:t>2</m:t>
                        </m:r>
                        <m:acc>
                          <m:accPr>
                            <m:chr m:val="̂"/>
                            <m:ctrlPr>
                              <a:rPr lang="en-US" sz="1400" i="1" dirty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sSub>
                              <m:sSubPr>
                                <m:ctrlPr>
                                  <a:rPr lang="en-US" sz="1400" i="1" dirty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400" i="1" dirty="0">
                                    <a:latin typeface="Cambria Math" panose="02040503050406030204" pitchFamily="18" charset="0"/>
                                  </a:rPr>
                                  <m:t>𝜆</m:t>
                                </m:r>
                              </m:e>
                              <m:sub>
                                <m:r>
                                  <a:rPr lang="en-US" sz="1400" i="1" dirty="0"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</m:sub>
                            </m:sSub>
                          </m:e>
                        </m:acc>
                      </m:den>
                    </m:f>
                  </m:oMath>
                </a14:m>
                <a:endParaRPr lang="en-US" sz="1400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1400" dirty="0"/>
                  <a:t>Waiting time  : </a:t>
                </a:r>
              </a:p>
              <a:p>
                <a:pPr lvl="1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r>
                        <a:rPr lang="en-US" sz="14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1400" i="1" dirty="0">
                          <a:latin typeface="Cambria Math" panose="02040503050406030204" pitchFamily="18" charset="0"/>
                        </a:rPr>
                        <m:t> </m:t>
                      </m:r>
                      <m:f>
                        <m:fPr>
                          <m:ctrlPr>
                            <a:rPr lang="en-US" sz="1400" i="1" dirty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400" i="1" dirty="0">
                              <a:latin typeface="Cambria Math" panose="02040503050406030204" pitchFamily="18" charset="0"/>
                            </a:rPr>
                            <m:t>𝑁</m:t>
                          </m:r>
                          <m:d>
                            <m:dPr>
                              <m:ctrlPr>
                                <a:rPr lang="en-US" sz="1400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400" i="1" dirty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acc>
                                <m:accPr>
                                  <m:chr m:val="̂"/>
                                  <m:ctrlPr>
                                    <a:rPr lang="en-US" sz="14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sSub>
                                    <m:sSubPr>
                                      <m:ctrlPr>
                                        <a:rPr lang="en-US" sz="1400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400" i="1" dirty="0">
                                          <a:latin typeface="Cambria Math" panose="02040503050406030204" pitchFamily="18" charset="0"/>
                                        </a:rPr>
                                        <m:t>𝐶𝑎</m:t>
                                      </m:r>
                                    </m:e>
                                    <m:sub>
                                      <m:r>
                                        <a:rPr lang="en-US" sz="1400" i="1" dirty="0">
                                          <a:latin typeface="Cambria Math" panose="02040503050406030204" pitchFamily="18" charset="0"/>
                                        </a:rPr>
                                        <m:t>𝑗</m:t>
                                      </m:r>
                                    </m:sub>
                                  </m:sSub>
                                </m:e>
                              </m:acc>
                              <m:r>
                                <a:rPr lang="en-US" sz="1400" i="1" dirty="0">
                                  <a:latin typeface="Cambria Math" panose="02040503050406030204" pitchFamily="18" charset="0"/>
                                </a:rPr>
                                <m:t>+ </m:t>
                              </m:r>
                              <m:acc>
                                <m:accPr>
                                  <m:chr m:val="̂"/>
                                  <m:ctrlPr>
                                    <a:rPr lang="en-US" sz="14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sSub>
                                    <m:sSubPr>
                                      <m:ctrlPr>
                                        <a:rPr lang="en-US" sz="1400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400" i="1" dirty="0">
                                          <a:latin typeface="Cambria Math" panose="02040503050406030204" pitchFamily="18" charset="0"/>
                                        </a:rPr>
                                        <m:t>𝐶𝑠</m:t>
                                      </m:r>
                                    </m:e>
                                    <m:sub>
                                      <m:r>
                                        <a:rPr lang="en-US" sz="1400" i="1" dirty="0">
                                          <a:latin typeface="Cambria Math" panose="02040503050406030204" pitchFamily="18" charset="0"/>
                                        </a:rPr>
                                        <m:t>𝑗</m:t>
                                      </m:r>
                                    </m:sub>
                                  </m:sSub>
                                  <m:r>
                                    <a:rPr lang="en-US" sz="1400" i="1" dirty="0">
                                      <a:latin typeface="Cambria Math" panose="02040503050406030204" pitchFamily="18" charset="0"/>
                                    </a:rPr>
                                    <m:t>  </m:t>
                                  </m:r>
                                </m:e>
                              </m:acc>
                              <m:r>
                                <a:rPr lang="en-US" sz="1400" i="1" dirty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e>
                          </m:d>
                          <m:r>
                            <a:rPr lang="en-US" sz="1400" i="1" dirty="0">
                              <a:latin typeface="Cambria Math" panose="02040503050406030204" pitchFamily="18" charset="0"/>
                            </a:rPr>
                            <m:t>+2</m:t>
                          </m:r>
                        </m:num>
                        <m:den>
                          <m:r>
                            <a:rPr lang="en-US" sz="1400" i="1" dirty="0">
                              <a:latin typeface="Cambria Math" panose="02040503050406030204" pitchFamily="18" charset="0"/>
                            </a:rPr>
                            <m:t>2</m:t>
                          </m:r>
                          <m:acc>
                            <m:accPr>
                              <m:chr m:val="̂"/>
                              <m:ctrlPr>
                                <a:rPr lang="en-US" sz="1400" i="1" dirty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sSub>
                                <m:sSubPr>
                                  <m:ctrlPr>
                                    <a:rPr lang="en-US" sz="14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400" i="1" dirty="0">
                                      <a:latin typeface="Cambria Math" panose="02040503050406030204" pitchFamily="18" charset="0"/>
                                    </a:rPr>
                                    <m:t>𝜆</m:t>
                                  </m:r>
                                </m:e>
                                <m:sub>
                                  <m:r>
                                    <a:rPr lang="en-US" sz="1400" i="1" dirty="0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</m:e>
                          </m:acc>
                        </m:den>
                      </m:f>
                    </m:oMath>
                  </m:oMathPara>
                </a14:m>
                <a:endParaRPr lang="en-US" sz="1400" b="0" i="0" dirty="0">
                  <a:effectLst/>
                  <a:latin typeface="Menlo"/>
                </a:endParaRP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endParaRPr lang="en-US" dirty="0"/>
              </a:p>
              <a:p>
                <a:pPr marL="342900" indent="-342900">
                  <a:buFont typeface="+mj-lt"/>
                  <a:buAutoNum type="arabicPeriod"/>
                </a:pPr>
                <a:endParaRPr lang="en-US" dirty="0"/>
              </a:p>
              <a:p>
                <a:pPr marL="342900" indent="-342900">
                  <a:buFont typeface="+mj-lt"/>
                  <a:buAutoNum type="arabicPeriod"/>
                </a:pPr>
                <a:endParaRPr lang="en-US" dirty="0"/>
              </a:p>
              <a:p>
                <a:pPr marL="342900" indent="-342900">
                  <a:buFont typeface="+mj-lt"/>
                  <a:buAutoNum type="arabicPeriod"/>
                </a:pPr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E25A30AA-B2AB-DC8A-3EA0-D8A8A013B17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8997" y="895011"/>
                <a:ext cx="5955792" cy="4318170"/>
              </a:xfrm>
              <a:prstGeom prst="rect">
                <a:avLst/>
              </a:prstGeom>
              <a:blipFill>
                <a:blip r:embed="rId3"/>
                <a:stretch>
                  <a:fillRect l="-102" t="-14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extBox 7">
            <a:extLst>
              <a:ext uri="{FF2B5EF4-FFF2-40B4-BE49-F238E27FC236}">
                <a16:creationId xmlns:a16="http://schemas.microsoft.com/office/drawing/2014/main" id="{ABECC49D-40F7-2AA2-BCF6-B1EDF31ED757}"/>
              </a:ext>
            </a:extLst>
          </p:cNvPr>
          <p:cNvSpPr txBox="1"/>
          <p:nvPr/>
        </p:nvSpPr>
        <p:spPr>
          <a:xfrm>
            <a:off x="6245352" y="5285232"/>
            <a:ext cx="5239512" cy="646331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nb-NO" dirty="0"/>
              <a:t>MAPE_1 = 0      		MAE_1  =  0</a:t>
            </a:r>
          </a:p>
          <a:p>
            <a:r>
              <a:rPr lang="nb-NO" dirty="0"/>
              <a:t>MAPE_2 =  </a:t>
            </a:r>
            <a:r>
              <a:rPr lang="nb-NO" dirty="0">
                <a:solidFill>
                  <a:srgbClr val="00B050"/>
                </a:solidFill>
              </a:rPr>
              <a:t>18.4195</a:t>
            </a:r>
            <a:r>
              <a:rPr lang="nb-NO" dirty="0">
                <a:solidFill>
                  <a:srgbClr val="FF0000"/>
                </a:solidFill>
              </a:rPr>
              <a:t> </a:t>
            </a:r>
            <a:r>
              <a:rPr lang="nb-NO" dirty="0"/>
              <a:t> 	MAE_2 =  </a:t>
            </a:r>
            <a:r>
              <a:rPr lang="nb-NO" dirty="0">
                <a:solidFill>
                  <a:srgbClr val="00B050"/>
                </a:solidFill>
              </a:rPr>
              <a:t>1.2225</a:t>
            </a:r>
            <a:endParaRPr lang="en-US" dirty="0">
              <a:solidFill>
                <a:srgbClr val="00B050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D692787-8003-F45A-E282-8C47C367801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8597" y="3835681"/>
            <a:ext cx="5239512" cy="28270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536146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B5C9A7-FAFD-B9A0-7BDA-75AE69E30E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3CD6AC-C213-1C6C-7CC0-4D9B132C93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365125"/>
            <a:ext cx="11311128" cy="457835"/>
          </a:xfrm>
          <a:solidFill>
            <a:schemeClr val="tx1"/>
          </a:solidFill>
        </p:spPr>
        <p:txBody>
          <a:bodyPr>
            <a:noAutofit/>
          </a:bodyPr>
          <a:lstStyle/>
          <a:p>
            <a:r>
              <a:rPr lang="en-US" sz="2800" dirty="0">
                <a:solidFill>
                  <a:srgbClr val="FFC000"/>
                </a:solidFill>
              </a:rPr>
              <a:t>Simulation Vs Analytical model  Result using modified concept(RR model)</a:t>
            </a:r>
          </a:p>
        </p:txBody>
      </p:sp>
      <p:pic>
        <p:nvPicPr>
          <p:cNvPr id="6" name="Content Placeholder 5" descr="A graph of different types of model&#10;&#10;AI-generated content may be incorrect.">
            <a:extLst>
              <a:ext uri="{FF2B5EF4-FFF2-40B4-BE49-F238E27FC236}">
                <a16:creationId xmlns:a16="http://schemas.microsoft.com/office/drawing/2014/main" id="{C5159417-786C-9C40-28FD-EEEF58CF003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95958" y="944620"/>
            <a:ext cx="5396042" cy="3594183"/>
          </a:xfr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A120A29F-8BD4-F79C-CFE3-BDC7469BCA75}"/>
                  </a:ext>
                </a:extLst>
              </p:cNvPr>
              <p:cNvSpPr txBox="1"/>
              <p:nvPr/>
            </p:nvSpPr>
            <p:spPr>
              <a:xfrm>
                <a:off x="429768" y="1053846"/>
                <a:ext cx="5955792" cy="33757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1400" dirty="0"/>
                  <a:t>Computing Effective Injection Rate (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sz="140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en-US" sz="14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𝜆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</m:e>
                    </m:acc>
                    <m:r>
                      <a:rPr lang="en-US" sz="14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1400" dirty="0"/>
                  <a:t> at high Traffic Injection Rate.</a:t>
                </a:r>
              </a:p>
              <a:p>
                <a:pPr marL="342900" indent="-342900">
                  <a:buFont typeface="+mj-lt"/>
                  <a:buAutoNum type="arabicPeriod"/>
                </a:pPr>
                <a:endParaRPr lang="en-US" sz="1400" dirty="0"/>
              </a:p>
              <a:p>
                <a:r>
                  <a:rPr lang="en-US" sz="1400" dirty="0"/>
                  <a:t>	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sz="140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en-US" sz="14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𝜆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</m:e>
                    </m:acc>
                    <m:r>
                      <a:rPr lang="en-US" sz="14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1400" b="0" i="1" smtClean="0">
                        <a:latin typeface="Cambria Math" panose="02040503050406030204" pitchFamily="18" charset="0"/>
                      </a:rPr>
                      <m:t>𝑚𝑖𝑛</m:t>
                    </m:r>
                    <m:d>
                      <m:dPr>
                        <m:ctrlPr>
                          <a:rPr lang="en-IN" sz="1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IN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sz="1400" b="0" i="1" smtClean="0">
                                <a:latin typeface="Cambria Math" panose="02040503050406030204" pitchFamily="18" charset="0"/>
                              </a:rPr>
                              <m:t>𝜆</m:t>
                            </m:r>
                          </m:e>
                          <m:sub>
                            <m:r>
                              <a:rPr lang="en-IN" sz="1400" b="0" i="1" smtClean="0">
                                <a:latin typeface="Cambria Math" panose="02040503050406030204" pitchFamily="18" charset="0"/>
                              </a:rPr>
                              <m:t>𝑗</m:t>
                            </m:r>
                            <m:r>
                              <a:rPr lang="en-IN" sz="1400" b="0" i="1" smtClean="0">
                                <a:latin typeface="Cambria Math" panose="02040503050406030204" pitchFamily="18" charset="0"/>
                              </a:rPr>
                              <m:t> ,  </m:t>
                            </m:r>
                          </m:sub>
                        </m:sSub>
                        <m:r>
                          <a:rPr lang="en-IN" sz="1400" b="0" i="1" smtClean="0">
                            <a:latin typeface="Cambria Math" panose="02040503050406030204" pitchFamily="18" charset="0"/>
                          </a:rPr>
                          <m:t>𝑚𝑎𝑥</m:t>
                        </m:r>
                        <m:d>
                          <m:dPr>
                            <m:ctrlPr>
                              <a:rPr lang="en-IN" sz="14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1400" b="0" i="1" smtClean="0">
                                <a:latin typeface="Cambria Math" panose="02040503050406030204" pitchFamily="18" charset="0"/>
                              </a:rPr>
                              <m:t>0.5, </m:t>
                            </m:r>
                            <m:nary>
                              <m:naryPr>
                                <m:chr m:val="∑"/>
                                <m:limLoc m:val="subSup"/>
                                <m:ctrlPr>
                                  <a:rPr lang="en-IN" sz="1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naryPr>
                              <m:sub>
                                <m:eqArr>
                                  <m:eqArrPr>
                                    <m:ctrlPr>
                                      <a:rPr lang="en-IN" sz="1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eqArrPr>
                                  <m:e>
                                    <m:r>
                                      <m:rPr>
                                        <m:brk m:alnAt="25"/>
                                      </m:rPr>
                                      <a:rPr lang="en-IN" sz="1400" b="0" i="1" smtClean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  <m:r>
                                      <a:rPr lang="en-IN" sz="1400" b="0" i="1" smtClean="0">
                                        <a:latin typeface="Cambria Math" panose="02040503050406030204" pitchFamily="18" charset="0"/>
                                      </a:rPr>
                                      <m:t>=0</m:t>
                                    </m:r>
                                  </m:e>
                                  <m:e>
                                    <m:r>
                                      <a:rPr lang="en-IN" sz="1400" b="0" i="1" smtClean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  <m:r>
                                      <a:rPr lang="en-IN" sz="14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≠</m:t>
                                    </m:r>
                                    <m:r>
                                      <a:rPr lang="en-IN" sz="14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𝑗</m:t>
                                    </m:r>
                                  </m:e>
                                </m:eqArr>
                              </m:sub>
                              <m:sup>
                                <m:r>
                                  <a:rPr lang="en-IN" sz="1400" b="0" i="1" smtClean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a:rPr lang="en-IN" sz="1400" b="0" i="1" smtClean="0"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sup>
                              <m:e>
                                <m:r>
                                  <a:rPr lang="en-IN" sz="1400" b="0" i="1" smtClean="0">
                                    <a:latin typeface="Cambria Math" panose="02040503050406030204" pitchFamily="18" charset="0"/>
                                  </a:rPr>
                                  <m:t>1 − </m:t>
                                </m:r>
                                <m:sSub>
                                  <m:sSubPr>
                                    <m:ctrlPr>
                                      <a:rPr lang="en-IN" sz="1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IN" sz="1400" b="0" i="1" smtClean="0">
                                        <a:latin typeface="Cambria Math" panose="02040503050406030204" pitchFamily="18" charset="0"/>
                                      </a:rPr>
                                      <m:t>𝜆</m:t>
                                    </m:r>
                                  </m:e>
                                  <m:sub>
                                    <m:r>
                                      <a:rPr lang="en-IN" sz="1400" b="0" i="1" smtClean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</m:e>
                            </m:nary>
                          </m:e>
                        </m:d>
                      </m:e>
                    </m:d>
                  </m:oMath>
                </a14:m>
                <a:endParaRPr lang="en-US" sz="1400" dirty="0"/>
              </a:p>
              <a:p>
                <a:endParaRPr lang="en-US" sz="1400" dirty="0"/>
              </a:p>
              <a:p>
                <a:pPr marL="285750" indent="-285750" algn="l">
                  <a:buFont typeface="Arial" panose="020B0604020202020204" pitchFamily="34" charset="0"/>
                  <a:buChar char="•"/>
                </a:pPr>
                <a:r>
                  <a:rPr lang="en-IN" sz="1400" b="0" i="0" u="none" strike="noStrike" baseline="0" dirty="0">
                    <a:latin typeface="NimbusRomNo9L-Regu"/>
                  </a:rPr>
                  <a:t>modified service time</a:t>
                </a:r>
                <a:r>
                  <a:rPr lang="en-IN" sz="1400" b="0" i="0" u="none" strike="noStrike" dirty="0">
                    <a:latin typeface="NimbusRomNo9L-Regu"/>
                  </a:rPr>
                  <a:t> </a:t>
                </a:r>
                <a:r>
                  <a:rPr lang="en-IN" sz="1400" b="0" i="0" u="none" strike="noStrike" baseline="0" dirty="0">
                    <a:latin typeface="NimbusRomNo9L-Regu"/>
                  </a:rPr>
                  <a:t>of class-</a:t>
                </a:r>
                <a:r>
                  <a:rPr lang="en-IN" sz="1400" b="0" i="0" u="none" strike="noStrike" baseline="0" dirty="0">
                    <a:latin typeface="CMMI10"/>
                  </a:rPr>
                  <a:t>j </a:t>
                </a:r>
                <a:r>
                  <a:rPr lang="en-IN" sz="1400" b="0" i="0" u="none" strike="noStrike" baseline="0" dirty="0">
                    <a:latin typeface="NimbusRomNo9L-Regu"/>
                  </a:rPr>
                  <a:t>packets</a:t>
                </a:r>
                <a:r>
                  <a:rPr lang="en-IN" sz="1400" b="0" i="0" u="none" strike="noStrike" dirty="0">
                    <a:latin typeface="NimbusRomNo9L-Regu"/>
                  </a:rPr>
                  <a:t> </a:t>
                </a:r>
              </a:p>
              <a:p>
                <a:pPr marL="1200150" lvl="2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sz="140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en-US" sz="14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sz="1400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IN" sz="1400" b="0" i="1" smtClean="0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  <m:r>
                          <a:rPr lang="en-IN" sz="14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</m:e>
                    </m:acc>
                    <m:r>
                      <a:rPr lang="en-IN" sz="1400" b="0" i="1" smtClean="0">
                        <a:latin typeface="Cambria Math" panose="02040503050406030204" pitchFamily="18" charset="0"/>
                      </a:rPr>
                      <m:t>= </m:t>
                    </m:r>
                    <m:f>
                      <m:fPr>
                        <m:ctrlPr>
                          <a:rPr lang="en-IN" sz="14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1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acc>
                          <m:accPr>
                            <m:chr m:val="̂"/>
                            <m:ctrlPr>
                              <a:rPr lang="en-US" sz="140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sSub>
                              <m:sSubPr>
                                <m:ctrlPr>
                                  <a:rPr lang="en-US" sz="140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400" b="0" i="1" smtClean="0">
                                    <a:latin typeface="Cambria Math" panose="02040503050406030204" pitchFamily="18" charset="0"/>
                                  </a:rPr>
                                  <m:t>𝜆</m:t>
                                </m:r>
                              </m:e>
                              <m:sub>
                                <m:r>
                                  <a:rPr lang="en-US" sz="1400" b="0" i="1" smtClean="0"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</m:sub>
                            </m:sSub>
                          </m:e>
                        </m:acc>
                      </m:den>
                    </m:f>
                  </m:oMath>
                </a14:m>
                <a:endParaRPr lang="en-US" sz="1400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1400" dirty="0"/>
                  <a:t>Waiting time  : </a:t>
                </a:r>
              </a:p>
              <a:p>
                <a:pPr lvl="1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r>
                        <a:rPr lang="en-US" sz="14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1400" i="1" dirty="0" smtClean="0">
                          <a:latin typeface="Cambria Math" panose="02040503050406030204" pitchFamily="18" charset="0"/>
                        </a:rPr>
                        <m:t>(2 </m:t>
                      </m:r>
                      <m:r>
                        <a:rPr lang="en-IN" sz="1400" b="0" i="1" dirty="0" smtClean="0">
                          <a:latin typeface="Cambria Math" panose="02040503050406030204" pitchFamily="18" charset="0"/>
                        </a:rPr>
                        <m:t>∗</m:t>
                      </m:r>
                      <m:r>
                        <a:rPr lang="en-IN" sz="1400" b="0" i="1" dirty="0" smtClean="0">
                          <a:latin typeface="Cambria Math" panose="02040503050406030204" pitchFamily="18" charset="0"/>
                        </a:rPr>
                        <m:t>𝑁</m:t>
                      </m:r>
                      <m:r>
                        <a:rPr lang="en-US" sz="1400" i="1" dirty="0" smtClean="0">
                          <a:latin typeface="Cambria Math" panose="02040503050406030204" pitchFamily="18" charset="0"/>
                        </a:rPr>
                        <m:t> − 3) ∗ (</m:t>
                      </m:r>
                      <m:r>
                        <a:rPr lang="en-IN" sz="1400" b="0" i="1" dirty="0" smtClean="0">
                          <a:latin typeface="Cambria Math" panose="02040503050406030204" pitchFamily="18" charset="0"/>
                        </a:rPr>
                        <m:t>𝑁</m:t>
                      </m:r>
                      <m:r>
                        <a:rPr lang="en-US" sz="1400" i="1" dirty="0" smtClean="0">
                          <a:latin typeface="Cambria Math" panose="02040503050406030204" pitchFamily="18" charset="0"/>
                        </a:rPr>
                        <m:t> + (2 −</m:t>
                      </m:r>
                      <m:r>
                        <a:rPr lang="en-IN" sz="1400" b="0" i="1" dirty="0" smtClean="0">
                          <a:latin typeface="Cambria Math" panose="02040503050406030204" pitchFamily="18" charset="0"/>
                        </a:rPr>
                        <m:t>𝑁</m:t>
                      </m:r>
                      <m:r>
                        <a:rPr lang="en-US" sz="1400" i="1" dirty="0" smtClean="0">
                          <a:latin typeface="Cambria Math" panose="02040503050406030204" pitchFamily="18" charset="0"/>
                        </a:rPr>
                        <m:t>) ∗ </m:t>
                      </m:r>
                      <m:acc>
                        <m:accPr>
                          <m:chr m:val="̂"/>
                          <m:ctrlPr>
                            <a:rPr lang="en-US" sz="1400" i="1" dirty="0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sSubSup>
                            <m:sSubSupPr>
                              <m:ctrlPr>
                                <a:rPr lang="en-US" sz="140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IN" sz="1400" b="0" i="1" dirty="0" smtClean="0">
                                  <a:latin typeface="Cambria Math" panose="02040503050406030204" pitchFamily="18" charset="0"/>
                                </a:rPr>
                                <m:t>𝐶𝑎</m:t>
                              </m:r>
                            </m:e>
                            <m:sub>
                              <m:r>
                                <a:rPr lang="en-IN" sz="1400" b="0" i="1" dirty="0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  <m:sup>
                              <m:r>
                                <a:rPr lang="en-IN" sz="1400" b="0" i="1" dirty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</m:e>
                      </m:acc>
                      <m:r>
                        <a:rPr lang="en-US" sz="1400" i="1" dirty="0" smtClean="0">
                          <a:latin typeface="Cambria Math" panose="02040503050406030204" pitchFamily="18" charset="0"/>
                        </a:rPr>
                        <m:t>) / (2 ∗</m:t>
                      </m:r>
                      <m:acc>
                        <m:accPr>
                          <m:chr m:val="̂"/>
                          <m:ctrlPr>
                            <a:rPr lang="en-US" sz="140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en-US" sz="14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  <m:t>𝜆</m:t>
                              </m:r>
                            </m:e>
                            <m:sub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</m:e>
                      </m:acc>
                      <m:r>
                        <a:rPr lang="en-US" sz="1400" i="1" dirty="0" smtClean="0">
                          <a:latin typeface="Cambria Math" panose="02040503050406030204" pitchFamily="18" charset="0"/>
                        </a:rPr>
                        <m:t>∗ </m:t>
                      </m:r>
                      <m:r>
                        <a:rPr lang="en-IN" sz="1400" b="0" i="1" dirty="0" smtClean="0">
                          <a:latin typeface="Cambria Math" panose="02040503050406030204" pitchFamily="18" charset="0"/>
                        </a:rPr>
                        <m:t>𝑁</m:t>
                      </m:r>
                      <m:r>
                        <a:rPr lang="en-US" sz="1400" i="1" dirty="0" smtClean="0">
                          <a:latin typeface="Cambria Math" panose="02040503050406030204" pitchFamily="18" charset="0"/>
                        </a:rPr>
                        <m:t>) +</m:t>
                      </m:r>
                      <m:acc>
                        <m:accPr>
                          <m:chr m:val="̂"/>
                          <m:ctrlPr>
                            <a:rPr lang="en-US" sz="140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en-US" sz="14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sz="1400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IN" sz="1400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  <m:r>
                            <a:rPr lang="en-IN" sz="14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acc>
                    </m:oMath>
                  </m:oMathPara>
                </a14:m>
                <a:endParaRPr lang="en-US" sz="1400" dirty="0"/>
              </a:p>
              <a:p>
                <a:pPr marL="342900" indent="-342900">
                  <a:buFont typeface="+mj-lt"/>
                  <a:buAutoNum type="arabicPeriod"/>
                </a:pPr>
                <a:endParaRPr lang="en-US" sz="1400" dirty="0"/>
              </a:p>
              <a:p>
                <a:pPr marL="342900" indent="-342900">
                  <a:buFont typeface="+mj-lt"/>
                  <a:buAutoNum type="arabicPeriod"/>
                </a:pPr>
                <a:endParaRPr lang="en-US" dirty="0"/>
              </a:p>
              <a:p>
                <a:pPr marL="342900" indent="-342900">
                  <a:buFont typeface="+mj-lt"/>
                  <a:buAutoNum type="arabicPeriod"/>
                </a:pPr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A120A29F-8BD4-F79C-CFE3-BDC7469BCA7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9768" y="1053846"/>
                <a:ext cx="5955792" cy="3375732"/>
              </a:xfrm>
              <a:prstGeom prst="rect">
                <a:avLst/>
              </a:prstGeom>
              <a:blipFill>
                <a:blip r:embed="rId3"/>
                <a:stretch>
                  <a:fillRect l="-205" t="-18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extBox 7">
            <a:extLst>
              <a:ext uri="{FF2B5EF4-FFF2-40B4-BE49-F238E27FC236}">
                <a16:creationId xmlns:a16="http://schemas.microsoft.com/office/drawing/2014/main" id="{F6DD856E-306E-28C7-2484-D90CC22D4B0D}"/>
              </a:ext>
            </a:extLst>
          </p:cNvPr>
          <p:cNvSpPr txBox="1"/>
          <p:nvPr/>
        </p:nvSpPr>
        <p:spPr>
          <a:xfrm>
            <a:off x="7120423" y="4538803"/>
            <a:ext cx="4944938" cy="646331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nb-NO" dirty="0"/>
              <a:t>MAPE_1 = 9.8018                      MAE_1  =  0.7139</a:t>
            </a:r>
          </a:p>
          <a:p>
            <a:r>
              <a:rPr lang="nb-NO" dirty="0"/>
              <a:t>MAPE_2 =  9.8458                      MAE_2 =  </a:t>
            </a:r>
            <a:r>
              <a:rPr lang="nb-NO" dirty="0">
                <a:solidFill>
                  <a:schemeClr val="tx1"/>
                </a:solidFill>
              </a:rPr>
              <a:t>0.7208</a:t>
            </a:r>
            <a:endParaRPr lang="en-US" dirty="0">
              <a:solidFill>
                <a:schemeClr val="tx1"/>
              </a:solidFill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F272FE85-6789-0D0D-0F5B-812B3F79A18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4182" y="3429000"/>
            <a:ext cx="6501775" cy="3134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185117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9BACA7-DBDD-27C8-D1A2-71BB1CEFD1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ea typeface="+mj-lt"/>
                <a:cs typeface="+mj-lt"/>
              </a:rPr>
              <a:t>Next Steps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4DC21E-F405-207B-EECE-A6000D99182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endParaRPr lang="en-US" dirty="0">
              <a:latin typeface="Aptos Display"/>
              <a:ea typeface="+mn-lt"/>
              <a:cs typeface="+mn-lt"/>
            </a:endParaRPr>
          </a:p>
          <a:p>
            <a:r>
              <a:rPr lang="en-US" dirty="0">
                <a:latin typeface="Aptos"/>
                <a:ea typeface="+mn-lt"/>
                <a:cs typeface="+mn-lt"/>
              </a:rPr>
              <a:t>Equation verification and refinement</a:t>
            </a:r>
            <a:r>
              <a:rPr lang="en-US" dirty="0">
                <a:ea typeface="+mn-lt"/>
                <a:cs typeface="+mn-lt"/>
              </a:rPr>
              <a:t>: </a:t>
            </a:r>
            <a:endParaRPr lang="en-US" dirty="0"/>
          </a:p>
          <a:p>
            <a:pPr lvl="1">
              <a:buFont typeface="Courier New" panose="020B0604020202020204" pitchFamily="34" charset="0"/>
              <a:buChar char="o"/>
            </a:pPr>
            <a:endParaRPr lang="en-US" dirty="0">
              <a:latin typeface="Aptos Display"/>
              <a:ea typeface="+mn-lt"/>
              <a:cs typeface="+mn-lt"/>
            </a:endParaRP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dirty="0">
                <a:latin typeface="Aptos Display"/>
                <a:ea typeface="+mn-lt"/>
                <a:cs typeface="+mn-lt"/>
              </a:rPr>
              <a:t>Checking and adjusting equations to ensure accuracy</a:t>
            </a:r>
            <a:endParaRPr lang="en-US" dirty="0">
              <a:latin typeface="Aptos Display"/>
            </a:endParaRPr>
          </a:p>
        </p:txBody>
      </p:sp>
    </p:spTree>
    <p:extLst>
      <p:ext uri="{BB962C8B-B14F-4D97-AF65-F5344CB8AC3E}">
        <p14:creationId xmlns:p14="http://schemas.microsoft.com/office/powerpoint/2010/main" val="60734223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9A552C38875BF54E8BECD10629132D8D" ma:contentTypeVersion="6" ma:contentTypeDescription="Create a new document." ma:contentTypeScope="" ma:versionID="2117dcca7870b83d47d794a40c6ad2fb">
  <xsd:schema xmlns:xsd="http://www.w3.org/2001/XMLSchema" xmlns:xs="http://www.w3.org/2001/XMLSchema" xmlns:p="http://schemas.microsoft.com/office/2006/metadata/properties" xmlns:ns3="cf6b262d-64b1-48de-8710-0fc3c93bfca9" targetNamespace="http://schemas.microsoft.com/office/2006/metadata/properties" ma:root="true" ma:fieldsID="add902ff20dc9683d596800b2ea73817" ns3:_="">
    <xsd:import namespace="cf6b262d-64b1-48de-8710-0fc3c93bfca9"/>
    <xsd:element name="properties">
      <xsd:complexType>
        <xsd:sequence>
          <xsd:element name="documentManagement">
            <xsd:complexType>
              <xsd:all>
                <xsd:element ref="ns3:MediaServiceDateTaken" minOccurs="0"/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ObjectDetectorVersions" minOccurs="0"/>
                <xsd:element ref="ns3:_activity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f6b262d-64b1-48de-8710-0fc3c93bfca9" elementFormDefault="qualified">
    <xsd:import namespace="http://schemas.microsoft.com/office/2006/documentManagement/types"/>
    <xsd:import namespace="http://schemas.microsoft.com/office/infopath/2007/PartnerControls"/>
    <xsd:element name="MediaServiceDateTaken" ma:index="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_activity" ma:index="13" nillable="true" ma:displayName="_activity" ma:hidden="true" ma:internalName="_activity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cf6b262d-64b1-48de-8710-0fc3c93bfca9" xsi:nil="true"/>
  </documentManagement>
</p:properties>
</file>

<file path=customXml/itemProps1.xml><?xml version="1.0" encoding="utf-8"?>
<ds:datastoreItem xmlns:ds="http://schemas.openxmlformats.org/officeDocument/2006/customXml" ds:itemID="{7EA342DF-A120-435C-8039-19E694CC6D07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E27371DF-AA18-4103-AC3A-E646BADFC6C9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cf6b262d-64b1-48de-8710-0fc3c93bfca9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C0103AEB-6C46-4E6F-8D0C-870A9514FB0A}">
  <ds:schemaRefs>
    <ds:schemaRef ds:uri="http://schemas.openxmlformats.org/package/2006/metadata/core-properties"/>
    <ds:schemaRef ds:uri="http://schemas.microsoft.com/office/2006/documentManagement/types"/>
    <ds:schemaRef ds:uri="http://purl.org/dc/terms/"/>
    <ds:schemaRef ds:uri="http://purl.org/dc/elements/1.1/"/>
    <ds:schemaRef ds:uri="cf6b262d-64b1-48de-8710-0fc3c93bfca9"/>
    <ds:schemaRef ds:uri="http://www.w3.org/XML/1998/namespace"/>
    <ds:schemaRef ds:uri="http://purl.org/dc/dcmitype/"/>
    <ds:schemaRef ds:uri="http://schemas.microsoft.com/office/infopath/2007/PartnerControls"/>
    <ds:schemaRef ds:uri="http://schemas.microsoft.com/office/2006/metadata/propertie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186</TotalTime>
  <Words>407</Words>
  <Application>Microsoft Office PowerPoint</Application>
  <PresentationFormat>Widescreen</PresentationFormat>
  <Paragraphs>69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8" baseType="lpstr">
      <vt:lpstr>Aptos</vt:lpstr>
      <vt:lpstr>Aptos Display</vt:lpstr>
      <vt:lpstr>Arial</vt:lpstr>
      <vt:lpstr>Cambria Math</vt:lpstr>
      <vt:lpstr>CMMI10</vt:lpstr>
      <vt:lpstr>Courier New</vt:lpstr>
      <vt:lpstr>Menlo</vt:lpstr>
      <vt:lpstr>NimbusRomNo9L-Regu</vt:lpstr>
      <vt:lpstr>Wingdings</vt:lpstr>
      <vt:lpstr>Office Theme</vt:lpstr>
      <vt:lpstr>PowerPoint Presentation</vt:lpstr>
      <vt:lpstr>Agenda</vt:lpstr>
      <vt:lpstr>Changes in .Dot File</vt:lpstr>
      <vt:lpstr>Validate Connection</vt:lpstr>
      <vt:lpstr>Waiting Time Calculation with High Injection Rate and Finite Buffer</vt:lpstr>
      <vt:lpstr>Simulation Vs Analytical model  Result using modified concept(PR model)</vt:lpstr>
      <vt:lpstr>Simulation Vs Analytical model  Result using modified concept(RR model)</vt:lpstr>
      <vt:lpstr>Next Steps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Anuparna Ganguly</dc:creator>
  <cp:lastModifiedBy>Anuparna Ganguly</cp:lastModifiedBy>
  <cp:revision>2</cp:revision>
  <dcterms:created xsi:type="dcterms:W3CDTF">2025-03-31T07:16:38Z</dcterms:created>
  <dcterms:modified xsi:type="dcterms:W3CDTF">2025-06-11T10:58:56Z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0x0101009A552C38875BF54E8BECD10629132D8D</vt:lpwstr>
  </property>
</Properties>
</file>