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62" r:id="rId6"/>
    <p:sldId id="261" r:id="rId7"/>
    <p:sldId id="268" r:id="rId8"/>
    <p:sldId id="260" r:id="rId9"/>
    <p:sldId id="269" r:id="rId10"/>
    <p:sldId id="259" r:id="rId11"/>
    <p:sldId id="258" r:id="rId12"/>
    <p:sldId id="263" r:id="rId13"/>
    <p:sldId id="270" r:id="rId14"/>
    <p:sldId id="264" r:id="rId15"/>
    <p:sldId id="271" r:id="rId16"/>
    <p:sldId id="265" r:id="rId17"/>
    <p:sldId id="272" r:id="rId18"/>
    <p:sldId id="266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87B32-9AAF-465C-9B04-35378BBE0267}" v="10" dt="2025-06-09T10:46:14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E5AD6-896B-4691-ABB0-F284A42CF2CC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10A55-AEDF-483B-983C-D6D74CE6D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2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975C3C-397D-42AB-A5D2-8F2BDE3D05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43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E325-FEF1-3041-A90E-7DEDB8C4F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D44AF-825A-CC2C-7A8E-D1FFD86FD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88CF8-F371-97F1-9700-08732745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90F46-6D72-0A5A-59E7-343F72F9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84AF3-48FB-F3B1-13B7-5AE032AE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6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5B06-4468-4418-EE60-F5A7E9D9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B9D52-CDBB-717E-6E61-B4AB2BECC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8BCD-D2E7-8417-61C5-E27EBCD9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70E35-ACE3-4A5E-3DF8-E2371B6BD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D5E3A-F902-3A80-CCD1-D42E6A8D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2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CEE7F-079D-5112-9842-E802261A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06477-082C-B24B-0DEE-B62564EF4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0692-3540-973F-8C85-B07D96F5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897CE-6A87-D8A2-7CA8-DF2B42FCE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A08F0-3F56-48E1-F7B2-364D7A75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2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A486-8F36-23F8-CD84-BF93598F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904D8-83EF-6EA5-44F1-96E9BD69F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32977-5CCC-E7B7-0E0C-EC77EC8B9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9D823-6C3E-2B9A-5306-0A283994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DA526-153B-F5F5-CC9D-1D7E6FCD5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E7E9F-9C75-D7BD-957E-BAF8B0DB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2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C8DC-A379-D885-411E-7A0B5EA6D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4BD47-0F12-66FA-BE58-51D8C2105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8790A-ED43-1565-637C-1348EDE91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4173C-794B-E83D-8F43-B8126E097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4BDE4-EACB-6DE4-6588-FFF594070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37310-2E54-D973-4EBD-8477F35B9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FB4A39-7324-727A-FCB4-BDFA4952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55F7AC-AD24-69A7-0EC7-E722E78E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7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A116-F1B2-1589-12F1-D82DA6A97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8F90F-7AD5-A561-E8A3-640AB14CC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62A29-E8A9-4240-30E7-71646519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4AAF9-50E4-D279-65A5-77AEA612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28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001AC0-5F1B-308E-6241-570D9C85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64BA5-686C-78B4-AE72-F7CE474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C-BB80-4DA9-2E32-B71847C7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3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E24D-C3DF-F31F-FEA8-3558D3113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64DC-DF62-A265-B515-777C5C69B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2A4D9-3E84-4491-82C2-ECADC11A0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EDBF0-335E-982C-A322-151BD1EEF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1AAAF-415B-652E-B1F5-9988FD0E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A51EB-B5AC-BD01-B823-ACFA8F36A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18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52A3-2F1F-31C1-1D9E-B8F4AFC7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14B77-B893-0587-EB10-DA5C8A659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124DD-2B8A-EBE2-74AB-93753DB3C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F36F7-4443-BAFB-0A0D-FF67A7ED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6E89D-F5E5-31A7-3240-72494B34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A51CC-3ADC-4E9D-45F7-AA55B6DB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68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65AE-7511-62FE-70E9-20AAB21C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33616-50B9-D307-E0F3-9FF304BFD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C99F0-4D0B-7F61-D49D-2599A997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D6656-AEE8-07A8-2986-D4D64B0A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F400-9CB3-7430-E975-F46E6BD9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6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159A0-55F3-2E54-A506-760F6491D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11E93-7517-8920-809A-4AEE6B20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1643-812C-F97F-C6FC-0B2512B0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90C4F-1175-7A38-7FD2-4A409F97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2958-9C2F-0936-2FCD-ABCA8B7A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22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AB8A2-A449-5D7A-B92E-6F4DC40F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A4000-B4C4-9FB9-35BF-6A47E4E6C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6D8C3-E4F8-436F-60E7-E3F9D238D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2D4453-1F3C-4F38-934E-C1A9904F4C90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D3588-1A4C-1102-9B10-B12836B0A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7050-CBFC-96CD-DF37-2CF91F164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CDD4C-0906-4E87-8D28-722E4722F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9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92C8-DD01-1E1B-5774-737D1C63C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DSL Productization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56F0F-195C-F01A-2512-D3DB8BC38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7144" y="4270248"/>
            <a:ext cx="3279648" cy="950976"/>
          </a:xfrm>
        </p:spPr>
        <p:txBody>
          <a:bodyPr>
            <a:normAutofit/>
          </a:bodyPr>
          <a:lstStyle/>
          <a:p>
            <a:r>
              <a:rPr lang="en-US" sz="1800" dirty="0"/>
              <a:t>Anuparna Ganguly</a:t>
            </a:r>
          </a:p>
          <a:p>
            <a:r>
              <a:rPr lang="en-US" sz="1800" dirty="0">
                <a:solidFill>
                  <a:srgbClr val="00B050"/>
                </a:solidFill>
              </a:rPr>
              <a:t>09/06/2025</a:t>
            </a:r>
          </a:p>
        </p:txBody>
      </p:sp>
    </p:spTree>
    <p:extLst>
      <p:ext uri="{BB962C8B-B14F-4D97-AF65-F5344CB8AC3E}">
        <p14:creationId xmlns:p14="http://schemas.microsoft.com/office/powerpoint/2010/main" val="45677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E93E9-D497-B8D1-FBE0-BA59AE4E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21F9-8B94-A0F3-AA77-F4574972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Recap</a:t>
            </a:r>
            <a:endParaRPr lang="en-US" dirty="0"/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Getting Node’s value and </a:t>
            </a:r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Handling Default Attributes.</a:t>
            </a:r>
          </a:p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Getting Source and Destination from edge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Future Work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532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C8D9-CC88-1E3C-B516-64A301A9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23839"/>
            <a:ext cx="11503152" cy="484629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Recap: Proposed Idea for DSL productization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CD748-81CC-B73A-D24E-C9173C241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453" y="886968"/>
            <a:ext cx="5606452" cy="574719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Type Based checking / validation</a:t>
            </a:r>
          </a:p>
          <a:p>
            <a:pPr lvl="1">
              <a:lnSpc>
                <a:spcPct val="150000"/>
              </a:lnSpc>
            </a:pPr>
            <a:r>
              <a:rPr lang="en-US" sz="2100" dirty="0">
                <a:highlight>
                  <a:srgbClr val="C0C0C0"/>
                </a:highlight>
              </a:rPr>
              <a:t>type</a:t>
            </a:r>
            <a:r>
              <a:rPr lang="en-US" sz="2100" dirty="0"/>
              <a:t>  attributes defines the role of the node(</a:t>
            </a:r>
            <a:r>
              <a:rPr lang="en-US" sz="2100" dirty="0" err="1"/>
              <a:t>source,queue</a:t>
            </a:r>
            <a:r>
              <a:rPr lang="en-US" sz="2100" dirty="0"/>
              <a:t>, etc.) </a:t>
            </a:r>
            <a:r>
              <a:rPr lang="en-US" sz="2100" b="1" dirty="0"/>
              <a:t>regardless of node name.</a:t>
            </a:r>
          </a:p>
          <a:p>
            <a:pPr lvl="1">
              <a:lnSpc>
                <a:spcPct val="150000"/>
              </a:lnSpc>
            </a:pPr>
            <a:r>
              <a:rPr lang="en-US" sz="2100" dirty="0"/>
              <a:t>Each </a:t>
            </a:r>
            <a:r>
              <a:rPr lang="en-US" sz="2100" dirty="0">
                <a:highlight>
                  <a:srgbClr val="C0C0C0"/>
                </a:highlight>
              </a:rPr>
              <a:t>type</a:t>
            </a:r>
            <a:r>
              <a:rPr lang="en-US" sz="2100" dirty="0"/>
              <a:t> as a required and exclusive </a:t>
            </a:r>
            <a:r>
              <a:rPr lang="en-US" sz="2100" b="1" dirty="0"/>
              <a:t>set of valid attributes</a:t>
            </a:r>
            <a:r>
              <a:rPr lang="en-US" sz="2100" dirty="0"/>
              <a:t>. If extra or wrong ones are given, a compile-time error will be raised</a:t>
            </a:r>
            <a:r>
              <a:rPr lang="en-US" sz="1800" dirty="0"/>
              <a:t>.</a:t>
            </a:r>
          </a:p>
          <a:p>
            <a:pPr marL="742950" lvl="1" indent="-285750">
              <a:lnSpc>
                <a:spcPct val="150000"/>
              </a:lnSpc>
            </a:pPr>
            <a:r>
              <a:rPr lang="en-IN" sz="1900" dirty="0"/>
              <a:t>Define which attributes are </a:t>
            </a:r>
            <a:r>
              <a:rPr lang="en-IN" sz="1900" b="1" dirty="0"/>
              <a:t>required</a:t>
            </a:r>
            <a:r>
              <a:rPr lang="en-IN" sz="1900" dirty="0"/>
              <a:t> for each node type.</a:t>
            </a:r>
          </a:p>
          <a:p>
            <a:pPr marL="742950" lvl="1" indent="-285750">
              <a:lnSpc>
                <a:spcPct val="150000"/>
              </a:lnSpc>
            </a:pPr>
            <a:r>
              <a:rPr lang="en-IN" sz="1900" dirty="0"/>
              <a:t>Define which attributes are </a:t>
            </a:r>
            <a:r>
              <a:rPr lang="en-IN" sz="1900" b="1" dirty="0"/>
              <a:t>allowed</a:t>
            </a:r>
            <a:r>
              <a:rPr lang="en-IN" sz="1900" dirty="0"/>
              <a:t> for each node type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Example:</a:t>
            </a:r>
          </a:p>
          <a:p>
            <a:pPr marL="914400" lvl="2" indent="0">
              <a:buNone/>
            </a:pPr>
            <a:r>
              <a:rPr lang="en-US" sz="1800" dirty="0"/>
              <a:t>        </a:t>
            </a:r>
            <a:r>
              <a:rPr lang="en-US" sz="1800" dirty="0">
                <a:solidFill>
                  <a:srgbClr val="00B050"/>
                </a:solidFill>
              </a:rPr>
              <a:t>injector1</a:t>
            </a:r>
            <a:r>
              <a:rPr lang="en-US" sz="1800" dirty="0"/>
              <a:t> [ type=source, rate=0.2, cv=0.85 ] </a:t>
            </a:r>
          </a:p>
          <a:p>
            <a:pPr marL="914400" lvl="2" indent="0">
              <a:buNone/>
            </a:pPr>
            <a:r>
              <a:rPr lang="en-US" sz="1800" dirty="0"/>
              <a:t>        </a:t>
            </a:r>
            <a:r>
              <a:rPr lang="en-US" sz="1800" dirty="0">
                <a:solidFill>
                  <a:srgbClr val="00B050"/>
                </a:solidFill>
              </a:rPr>
              <a:t>F2</a:t>
            </a:r>
            <a:r>
              <a:rPr lang="en-US" sz="1800" dirty="0"/>
              <a:t> [ type=source, rate=0.04, cv=0.96 ]</a:t>
            </a:r>
          </a:p>
          <a:p>
            <a:pPr marL="914400" lvl="2" indent="0">
              <a:buNone/>
            </a:pPr>
            <a:r>
              <a:rPr lang="en-US" sz="1800" dirty="0"/>
              <a:t>        F3 [type=source, size=4 ]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A6C72E-5524-1FAD-F8C3-9AD7CC8B30A2}"/>
              </a:ext>
            </a:extLst>
          </p:cNvPr>
          <p:cNvSpPr txBox="1"/>
          <p:nvPr/>
        </p:nvSpPr>
        <p:spPr>
          <a:xfrm>
            <a:off x="5637276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6" name="Graphic 15" descr="Checkmark with solid fill">
            <a:extLst>
              <a:ext uri="{FF2B5EF4-FFF2-40B4-BE49-F238E27FC236}">
                <a16:creationId xmlns:a16="http://schemas.microsoft.com/office/drawing/2014/main" id="{4CB7B48C-F672-4DC9-FC68-0F7066D70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8914" y="5697892"/>
            <a:ext cx="209550" cy="209550"/>
          </a:xfrm>
          <a:prstGeom prst="rect">
            <a:avLst/>
          </a:prstGeom>
        </p:spPr>
      </p:pic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F8446461-AC57-C900-2621-A199CE5F5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31" y="5971032"/>
            <a:ext cx="209550" cy="209550"/>
          </a:xfrm>
          <a:prstGeom prst="rect">
            <a:avLst/>
          </a:prstGeom>
        </p:spPr>
      </p:pic>
      <p:pic>
        <p:nvPicPr>
          <p:cNvPr id="19" name="Graphic 18" descr="Close with solid fill">
            <a:extLst>
              <a:ext uri="{FF2B5EF4-FFF2-40B4-BE49-F238E27FC236}">
                <a16:creationId xmlns:a16="http://schemas.microsoft.com/office/drawing/2014/main" id="{0067C724-EB5B-3B52-B4C7-AE3804C4B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4612" y="6262878"/>
            <a:ext cx="220980" cy="2209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E9E66F-5337-0BD5-9C01-EE7E8D46A7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156"/>
          <a:stretch/>
        </p:blipFill>
        <p:spPr>
          <a:xfrm>
            <a:off x="5916905" y="1935018"/>
            <a:ext cx="5833135" cy="32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2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A2E7-238A-7132-B21F-B3CF27FE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0263-9E27-6206-9E92-8BBCE9E5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D1F2-155E-FE47-A1D8-630E6DCE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Getting Node’s value and 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Handling Default Attributes.</a:t>
            </a:r>
          </a:p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Getting Source and Destination from edge </a:t>
            </a: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Future Work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442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6B9D-185F-F02C-3416-39C7C940B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68" y="149500"/>
            <a:ext cx="11664696" cy="512699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How Parse Tree helps to get value?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DD302E6-91D3-1997-87B8-94965B183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4697" y="783606"/>
            <a:ext cx="5663184" cy="3816428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24D63F-0926-FD14-1D40-8AFA2CFB194C}"/>
              </a:ext>
            </a:extLst>
          </p:cNvPr>
          <p:cNvSpPr txBox="1"/>
          <p:nvPr/>
        </p:nvSpPr>
        <p:spPr>
          <a:xfrm>
            <a:off x="6086856" y="783605"/>
            <a:ext cx="5663184" cy="38164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tx2"/>
                </a:solidFill>
              </a:rPr>
              <a:t>Dot</a:t>
            </a:r>
          </a:p>
          <a:p>
            <a:r>
              <a:rPr lang="en-US" sz="1100" dirty="0"/>
              <a:t>      graph</a:t>
            </a:r>
          </a:p>
          <a:p>
            <a:r>
              <a:rPr lang="en-US" sz="1100" dirty="0"/>
              <a:t>              digraph</a:t>
            </a:r>
          </a:p>
          <a:p>
            <a:r>
              <a:rPr lang="en-US" sz="1100" dirty="0"/>
              <a:t>               id_ : G</a:t>
            </a:r>
          </a:p>
          <a:p>
            <a:r>
              <a:rPr lang="en-US" sz="1100" dirty="0"/>
              <a:t>                {</a:t>
            </a:r>
          </a:p>
          <a:p>
            <a:r>
              <a:rPr lang="en-US" sz="1100" dirty="0"/>
              <a:t>                       </a:t>
            </a:r>
            <a:r>
              <a:rPr lang="en-US" sz="1100" dirty="0" err="1"/>
              <a:t>stmt_list</a:t>
            </a:r>
            <a:endParaRPr lang="en-US" sz="1100" dirty="0"/>
          </a:p>
          <a:p>
            <a:r>
              <a:rPr lang="en-US" sz="1100" dirty="0"/>
              <a:t>                                </a:t>
            </a:r>
            <a:r>
              <a:rPr lang="en-US" sz="1100" b="1" dirty="0" err="1"/>
              <a:t>stmt</a:t>
            </a:r>
            <a:endParaRPr lang="en-US" sz="1100" b="1" dirty="0"/>
          </a:p>
          <a:p>
            <a:r>
              <a:rPr lang="en-US" sz="1100" dirty="0"/>
              <a:t>	       id_ : </a:t>
            </a:r>
            <a:r>
              <a:rPr lang="en-US" sz="1100" dirty="0" err="1"/>
              <a:t>rankdir</a:t>
            </a:r>
            <a:endParaRPr lang="en-US" sz="1100" dirty="0"/>
          </a:p>
          <a:p>
            <a:r>
              <a:rPr lang="en-US" sz="1100" dirty="0"/>
              <a:t>	         =</a:t>
            </a:r>
          </a:p>
          <a:p>
            <a:r>
              <a:rPr lang="en-US" sz="1100" dirty="0"/>
              <a:t>	         id_ : “LR”</a:t>
            </a:r>
          </a:p>
          <a:p>
            <a:r>
              <a:rPr lang="en-US" sz="1100" dirty="0"/>
              <a:t>                                  </a:t>
            </a:r>
            <a:r>
              <a:rPr lang="en-US" sz="1100" b="1" dirty="0" err="1"/>
              <a:t>stmt</a:t>
            </a:r>
            <a:r>
              <a:rPr lang="en-US" sz="1100" b="1" dirty="0"/>
              <a:t>(</a:t>
            </a:r>
            <a:r>
              <a:rPr lang="en-US" sz="1100" b="1" dirty="0" err="1"/>
              <a:t>edge_stmt</a:t>
            </a:r>
            <a:r>
              <a:rPr lang="en-US" sz="1100" b="1" dirty="0"/>
              <a:t>)</a:t>
            </a:r>
          </a:p>
          <a:p>
            <a:r>
              <a:rPr lang="en-US" sz="1100" dirty="0"/>
              <a:t>	          </a:t>
            </a:r>
            <a:r>
              <a:rPr lang="en-US" sz="1100" b="1" dirty="0" err="1">
                <a:solidFill>
                  <a:srgbClr val="00B050"/>
                </a:solidFill>
              </a:rPr>
              <a:t>node_id</a:t>
            </a:r>
            <a:r>
              <a:rPr lang="en-US" sz="1100" b="1" dirty="0">
                <a:solidFill>
                  <a:srgbClr val="00B050"/>
                </a:solidFill>
              </a:rPr>
              <a:t> : </a:t>
            </a:r>
            <a:r>
              <a:rPr lang="en-US" sz="1100" dirty="0"/>
              <a:t>injector1</a:t>
            </a:r>
          </a:p>
          <a:p>
            <a:r>
              <a:rPr lang="en-US" sz="1100" dirty="0"/>
              <a:t>	           </a:t>
            </a:r>
            <a:r>
              <a:rPr lang="en-US" sz="1100" b="1" dirty="0" err="1">
                <a:solidFill>
                  <a:srgbClr val="00B050"/>
                </a:solidFill>
              </a:rPr>
              <a:t>edgeRHS</a:t>
            </a:r>
            <a:endParaRPr lang="en-US" sz="1100" b="1" dirty="0">
              <a:solidFill>
                <a:srgbClr val="00B050"/>
              </a:solidFill>
            </a:endParaRPr>
          </a:p>
          <a:p>
            <a:r>
              <a:rPr lang="en-US" sz="1100" dirty="0"/>
              <a:t>	                     </a:t>
            </a:r>
            <a:r>
              <a:rPr lang="en-US" sz="1100" dirty="0" err="1"/>
              <a:t>egdeop</a:t>
            </a:r>
            <a:r>
              <a:rPr lang="en-US" sz="1100" dirty="0"/>
              <a:t>: -&gt;</a:t>
            </a:r>
          </a:p>
          <a:p>
            <a:r>
              <a:rPr lang="en-US" sz="1100" dirty="0"/>
              <a:t>                                                      </a:t>
            </a:r>
            <a:r>
              <a:rPr lang="en-US" sz="1100" dirty="0" err="1"/>
              <a:t>node_id</a:t>
            </a:r>
            <a:r>
              <a:rPr lang="en-US" sz="1100" dirty="0"/>
              <a:t>: Q1</a:t>
            </a:r>
          </a:p>
          <a:p>
            <a:r>
              <a:rPr lang="en-US" sz="1100" b="1" dirty="0"/>
              <a:t>                                    </a:t>
            </a:r>
            <a:r>
              <a:rPr lang="en-US" sz="1100" b="1" dirty="0" err="1"/>
              <a:t>stmt</a:t>
            </a:r>
            <a:r>
              <a:rPr lang="en-US" sz="1100" b="1" dirty="0"/>
              <a:t>(</a:t>
            </a:r>
            <a:r>
              <a:rPr lang="en-US" sz="1100" b="1" dirty="0" err="1"/>
              <a:t>edge_stmt</a:t>
            </a:r>
            <a:r>
              <a:rPr lang="en-US" sz="1100" b="1" dirty="0"/>
              <a:t>) </a:t>
            </a:r>
            <a:r>
              <a:rPr lang="en-US" sz="1100" dirty="0"/>
              <a:t>: F2 - &gt;Q2</a:t>
            </a:r>
          </a:p>
          <a:p>
            <a:r>
              <a:rPr lang="en-US" sz="1100" b="1" dirty="0"/>
              <a:t>                                    </a:t>
            </a:r>
            <a:r>
              <a:rPr lang="en-US" sz="1100" b="1" dirty="0" err="1"/>
              <a:t>stmt</a:t>
            </a:r>
            <a:r>
              <a:rPr lang="en-US" sz="1100" b="1" dirty="0"/>
              <a:t>(</a:t>
            </a:r>
            <a:r>
              <a:rPr lang="en-US" sz="1100" b="1" dirty="0" err="1"/>
              <a:t>node_stmt</a:t>
            </a:r>
            <a:r>
              <a:rPr lang="en-US" sz="1100" b="1" dirty="0"/>
              <a:t>): </a:t>
            </a:r>
            <a:r>
              <a:rPr lang="en-US" sz="1100" dirty="0"/>
              <a:t>injector1</a:t>
            </a:r>
          </a:p>
          <a:p>
            <a:r>
              <a:rPr lang="en-US" sz="1100" dirty="0"/>
              <a:t>	</a:t>
            </a:r>
            <a:r>
              <a:rPr lang="en-US" sz="1100" b="1" dirty="0">
                <a:solidFill>
                  <a:srgbClr val="00B050"/>
                </a:solidFill>
              </a:rPr>
              <a:t>                </a:t>
            </a:r>
            <a:r>
              <a:rPr lang="en-US" sz="1100" b="1" dirty="0" err="1">
                <a:solidFill>
                  <a:srgbClr val="00B050"/>
                </a:solidFill>
              </a:rPr>
              <a:t>attr</a:t>
            </a:r>
            <a:r>
              <a:rPr lang="en-US" sz="1100" b="1" dirty="0">
                <a:solidFill>
                  <a:srgbClr val="00B050"/>
                </a:solidFill>
              </a:rPr>
              <a:t>:   rate </a:t>
            </a:r>
            <a:r>
              <a:rPr lang="en-US" sz="1100" dirty="0"/>
              <a:t>= 0.19</a:t>
            </a:r>
          </a:p>
          <a:p>
            <a:r>
              <a:rPr lang="en-US" sz="1100" dirty="0"/>
              <a:t>	                </a:t>
            </a:r>
            <a:r>
              <a:rPr lang="en-US" sz="1100" b="1" dirty="0" err="1">
                <a:solidFill>
                  <a:srgbClr val="00B050"/>
                </a:solidFill>
              </a:rPr>
              <a:t>attr</a:t>
            </a:r>
            <a:r>
              <a:rPr lang="en-US" sz="1100" b="1" dirty="0">
                <a:solidFill>
                  <a:srgbClr val="00B050"/>
                </a:solidFill>
              </a:rPr>
              <a:t>:  label</a:t>
            </a:r>
            <a:r>
              <a:rPr lang="en-US" sz="1100" dirty="0"/>
              <a:t>= “</a:t>
            </a:r>
            <a:r>
              <a:rPr lang="pt-BR" sz="1100" dirty="0"/>
              <a:t>F1\n[rate: 0.19]\n[CV2a: 0.82] “</a:t>
            </a:r>
          </a:p>
          <a:p>
            <a:r>
              <a:rPr lang="pt-BR" sz="1100" dirty="0"/>
              <a:t>	</a:t>
            </a:r>
            <a:r>
              <a:rPr lang="pt-BR" sz="1100" b="1" dirty="0">
                <a:solidFill>
                  <a:srgbClr val="00B050"/>
                </a:solidFill>
              </a:rPr>
              <a:t>                attr:  type </a:t>
            </a:r>
            <a:r>
              <a:rPr lang="pt-BR" sz="1100" dirty="0"/>
              <a:t>= source</a:t>
            </a:r>
          </a:p>
          <a:p>
            <a:r>
              <a:rPr lang="pt-BR" sz="1100" dirty="0"/>
              <a:t>	</a:t>
            </a:r>
            <a:r>
              <a:rPr lang="pt-BR" sz="1100" b="1" dirty="0">
                <a:solidFill>
                  <a:srgbClr val="00B050"/>
                </a:solidFill>
              </a:rPr>
              <a:t>                attr:   cv </a:t>
            </a:r>
            <a:r>
              <a:rPr lang="pt-BR" sz="1100" dirty="0"/>
              <a:t>= 0.82</a:t>
            </a:r>
          </a:p>
          <a:p>
            <a:r>
              <a:rPr lang="pt-BR" sz="1100" dirty="0"/>
              <a:t>	                </a:t>
            </a:r>
            <a:r>
              <a:rPr lang="pt-BR" sz="1100" b="1" dirty="0">
                <a:solidFill>
                  <a:srgbClr val="00B050"/>
                </a:solidFill>
              </a:rPr>
              <a:t>attr:   shape </a:t>
            </a:r>
            <a:r>
              <a:rPr lang="pt-BR" sz="1100" dirty="0"/>
              <a:t>= rarrow</a:t>
            </a:r>
            <a:endParaRPr lang="en-US" sz="11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8C44FF-E4C5-DBF2-21EA-85BED3288B24}"/>
              </a:ext>
            </a:extLst>
          </p:cNvPr>
          <p:cNvCxnSpPr>
            <a:cxnSpLocks/>
          </p:cNvCxnSpPr>
          <p:nvPr/>
        </p:nvCxnSpPr>
        <p:spPr>
          <a:xfrm>
            <a:off x="6245352" y="1069848"/>
            <a:ext cx="0" cy="3456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8C993C-1581-5A28-C4B9-FA04276FF847}"/>
              </a:ext>
            </a:extLst>
          </p:cNvPr>
          <p:cNvCxnSpPr>
            <a:cxnSpLocks/>
          </p:cNvCxnSpPr>
          <p:nvPr/>
        </p:nvCxnSpPr>
        <p:spPr>
          <a:xfrm>
            <a:off x="6434328" y="1237822"/>
            <a:ext cx="0" cy="32884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646FFA-EA4D-8607-67A9-85A104762507}"/>
              </a:ext>
            </a:extLst>
          </p:cNvPr>
          <p:cNvCxnSpPr/>
          <p:nvPr/>
        </p:nvCxnSpPr>
        <p:spPr>
          <a:xfrm>
            <a:off x="7360920" y="3712464"/>
            <a:ext cx="0" cy="7498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86849A-B72C-85C7-E0EB-6F8C204B8849}"/>
              </a:ext>
            </a:extLst>
          </p:cNvPr>
          <p:cNvCxnSpPr/>
          <p:nvPr/>
        </p:nvCxnSpPr>
        <p:spPr>
          <a:xfrm>
            <a:off x="7653528" y="3054096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8A3985-8A90-F62E-0E21-26A06F2D61AD}"/>
              </a:ext>
            </a:extLst>
          </p:cNvPr>
          <p:cNvCxnSpPr>
            <a:cxnSpLocks/>
          </p:cNvCxnSpPr>
          <p:nvPr/>
        </p:nvCxnSpPr>
        <p:spPr>
          <a:xfrm>
            <a:off x="7360920" y="2743200"/>
            <a:ext cx="0" cy="594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E0AF88E-1D26-3CB6-D796-20EC2BDBA2B7}"/>
              </a:ext>
            </a:extLst>
          </p:cNvPr>
          <p:cNvCxnSpPr>
            <a:cxnSpLocks/>
          </p:cNvCxnSpPr>
          <p:nvPr/>
        </p:nvCxnSpPr>
        <p:spPr>
          <a:xfrm>
            <a:off x="7050024" y="1892808"/>
            <a:ext cx="0" cy="2633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BF00864A-96DE-C841-336E-F47496652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647685"/>
            <a:ext cx="11664696" cy="208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7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5CDF-3012-89BA-FF6B-42542423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8223-767D-C6DA-88D7-23270A0D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07382-FA69-7B78-45EA-B35C791AB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ea typeface="+mn-lt"/>
                <a:cs typeface="+mn-lt"/>
              </a:rPr>
              <a:t>Getting Node’s value and </a:t>
            </a:r>
            <a:r>
              <a:rPr lang="en-IN" dirty="0"/>
              <a:t>Handling Default Attributes.</a:t>
            </a:r>
          </a:p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Getting Source and Destination from edge </a:t>
            </a:r>
            <a:r>
              <a:rPr lang="en-IN" dirty="0"/>
              <a:t>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Future Work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07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4127-7BDD-FF68-A031-B6A3E7A7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29416" cy="439547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Getting Node’s Value using Parse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3B523-1E31-A97C-8CB4-2F081E95E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923544"/>
            <a:ext cx="11329416" cy="5253419"/>
          </a:xfrm>
        </p:spPr>
        <p:txBody>
          <a:bodyPr/>
          <a:lstStyle/>
          <a:p>
            <a:r>
              <a:rPr lang="en-US" sz="1400" dirty="0"/>
              <a:t>Inside translate(&amp;file)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Lexer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Token [like F1,      ,[rate=0.19], type=</a:t>
            </a:r>
            <a:r>
              <a:rPr lang="en-US" sz="1400" dirty="0" err="1"/>
              <a:t>SOURCE,etc</a:t>
            </a:r>
            <a:r>
              <a:rPr lang="en-US" sz="1400" dirty="0"/>
              <a:t>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Parser [Parses the full graph using the DOT grammar]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 err="1"/>
              <a:t>ParseTree</a:t>
            </a:r>
            <a:endParaRPr lang="en-US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   c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/>
              <a:t>When doing </a:t>
            </a:r>
            <a:r>
              <a:rPr lang="en-US" sz="1400" dirty="0" err="1"/>
              <a:t>visitorPass</a:t>
            </a:r>
            <a:r>
              <a:rPr lang="en-US" sz="1400" dirty="0"/>
              <a:t>       visit(tree)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 err="1"/>
              <a:t>visitNode_stmt</a:t>
            </a:r>
            <a:r>
              <a:rPr lang="en-US" sz="1400" dirty="0"/>
              <a:t>() is automatically calls when ANTLR walks the tree and hits</a:t>
            </a:r>
          </a:p>
          <a:p>
            <a:pPr marL="914400" lvl="2" indent="0">
              <a:buNone/>
            </a:pPr>
            <a:r>
              <a:rPr lang="en-US" sz="1400" dirty="0"/>
              <a:t>     the </a:t>
            </a:r>
            <a:r>
              <a:rPr lang="en-US" sz="1400" dirty="0" err="1"/>
              <a:t>node_stmt</a:t>
            </a:r>
            <a:r>
              <a:rPr lang="en-US" sz="1400" dirty="0"/>
              <a:t> node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/>
              <a:t>We don’t call it manually. Conflict.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sz="1400" dirty="0"/>
              <a:t>Inside </a:t>
            </a:r>
            <a:r>
              <a:rPr lang="en-US" sz="1400" dirty="0" err="1"/>
              <a:t>NodeVisitor.h</a:t>
            </a:r>
            <a:r>
              <a:rPr lang="en-US" sz="1400" dirty="0"/>
              <a:t>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200" dirty="0"/>
              <a:t>Visit </a:t>
            </a:r>
            <a:r>
              <a:rPr lang="en-US" sz="1200" dirty="0" err="1"/>
              <a:t>Node_stmt</a:t>
            </a:r>
            <a:r>
              <a:rPr lang="en-US" sz="1200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1F9AC-9B07-B2FF-830E-9204A62E1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49" y="2270850"/>
            <a:ext cx="6916311" cy="143847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73404C-91A7-2503-8E66-E6777CA02DFE}"/>
              </a:ext>
            </a:extLst>
          </p:cNvPr>
          <p:cNvCxnSpPr>
            <a:cxnSpLocks/>
          </p:cNvCxnSpPr>
          <p:nvPr/>
        </p:nvCxnSpPr>
        <p:spPr>
          <a:xfrm>
            <a:off x="3017520" y="4050792"/>
            <a:ext cx="1554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198B85-89BB-EFDE-E663-0EB85BD94AB1}"/>
              </a:ext>
            </a:extLst>
          </p:cNvPr>
          <p:cNvCxnSpPr>
            <a:cxnSpLocks/>
          </p:cNvCxnSpPr>
          <p:nvPr/>
        </p:nvCxnSpPr>
        <p:spPr>
          <a:xfrm>
            <a:off x="2301240" y="1588008"/>
            <a:ext cx="15544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57F2D14-997B-454C-5B20-581725C8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279" y="923544"/>
            <a:ext cx="2214872" cy="28293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239A48-2B04-ADF6-1C18-099411F64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563" y="3998201"/>
            <a:ext cx="2513432" cy="249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1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2C11B-A63A-3E05-95F0-181961E3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365126"/>
            <a:ext cx="10803194" cy="468888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C000"/>
                </a:solidFill>
              </a:rPr>
              <a:t>Create Primitives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63648-EA14-7885-E94F-1C91F0BAD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316" y="1097446"/>
            <a:ext cx="5721029" cy="5495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9EAED-1288-5678-B4D9-CC043A87D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22" y="1097446"/>
            <a:ext cx="5635678" cy="539542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7CF864-B6ED-D687-52A2-1A8851FD58BB}"/>
              </a:ext>
            </a:extLst>
          </p:cNvPr>
          <p:cNvCxnSpPr/>
          <p:nvPr/>
        </p:nvCxnSpPr>
        <p:spPr>
          <a:xfrm flipH="1">
            <a:off x="8426245" y="1838632"/>
            <a:ext cx="8357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BFA0A3-79A4-4296-F513-F635F3E78E19}"/>
              </a:ext>
            </a:extLst>
          </p:cNvPr>
          <p:cNvCxnSpPr/>
          <p:nvPr/>
        </p:nvCxnSpPr>
        <p:spPr>
          <a:xfrm flipH="1">
            <a:off x="8008374" y="2600631"/>
            <a:ext cx="8357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0B9BB-D84F-D892-FFFD-67E819853503}"/>
              </a:ext>
            </a:extLst>
          </p:cNvPr>
          <p:cNvCxnSpPr/>
          <p:nvPr/>
        </p:nvCxnSpPr>
        <p:spPr>
          <a:xfrm flipH="1">
            <a:off x="8008374" y="4095135"/>
            <a:ext cx="8357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285A56-2617-0B9B-7B53-DFCBA62F2A3B}"/>
              </a:ext>
            </a:extLst>
          </p:cNvPr>
          <p:cNvCxnSpPr/>
          <p:nvPr/>
        </p:nvCxnSpPr>
        <p:spPr>
          <a:xfrm flipH="1">
            <a:off x="7733071" y="4930878"/>
            <a:ext cx="8357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2BC169-1164-A143-B82D-78E87CFABD06}"/>
              </a:ext>
            </a:extLst>
          </p:cNvPr>
          <p:cNvCxnSpPr/>
          <p:nvPr/>
        </p:nvCxnSpPr>
        <p:spPr>
          <a:xfrm flipH="1">
            <a:off x="8008374" y="6228736"/>
            <a:ext cx="83574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24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C432-21AC-2EF8-7FEF-D0191164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9" y="365126"/>
            <a:ext cx="11611163" cy="567763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Type Based Validation and Handling Default Attributes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5D3559-26EE-6978-27D4-3EA171399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69" y="1264751"/>
            <a:ext cx="5810131" cy="48435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38409B-7373-2D93-0809-C00E41C2C545}"/>
              </a:ext>
            </a:extLst>
          </p:cNvPr>
          <p:cNvSpPr txBox="1"/>
          <p:nvPr/>
        </p:nvSpPr>
        <p:spPr>
          <a:xfrm>
            <a:off x="5845401" y="5407080"/>
            <a:ext cx="6262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For </a:t>
            </a:r>
            <a:r>
              <a:rPr lang="en-IN" b="1" dirty="0">
                <a:solidFill>
                  <a:srgbClr val="FF0000"/>
                </a:solidFill>
              </a:rPr>
              <a:t>type = SERVER</a:t>
            </a:r>
            <a:r>
              <a:rPr lang="en-IN" dirty="0">
                <a:solidFill>
                  <a:srgbClr val="FF0000"/>
                </a:solidFill>
              </a:rPr>
              <a:t>, </a:t>
            </a:r>
            <a:r>
              <a:rPr lang="en-IN" dirty="0" err="1">
                <a:solidFill>
                  <a:srgbClr val="FF0000"/>
                </a:solidFill>
              </a:rPr>
              <a:t>t_serv</a:t>
            </a:r>
            <a:r>
              <a:rPr lang="en-IN" dirty="0">
                <a:solidFill>
                  <a:srgbClr val="FF0000"/>
                </a:solidFill>
              </a:rPr>
              <a:t> &amp; </a:t>
            </a:r>
            <a:r>
              <a:rPr lang="en-IN" dirty="0" err="1">
                <a:solidFill>
                  <a:srgbClr val="FF0000"/>
                </a:solidFill>
              </a:rPr>
              <a:t>coeff_var</a:t>
            </a:r>
            <a:r>
              <a:rPr lang="en-IN" dirty="0">
                <a:solidFill>
                  <a:srgbClr val="FF0000"/>
                </a:solidFill>
              </a:rPr>
              <a:t> is required attribute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F403F4-B189-415F-A849-9A25DFFB8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4751"/>
            <a:ext cx="5761219" cy="406181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11B00B-E400-CD4C-9EEA-98B7EE40A1F0}"/>
              </a:ext>
            </a:extLst>
          </p:cNvPr>
          <p:cNvCxnSpPr/>
          <p:nvPr/>
        </p:nvCxnSpPr>
        <p:spPr>
          <a:xfrm>
            <a:off x="4650658" y="4798142"/>
            <a:ext cx="1641987" cy="88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57E3C3-7DDC-2FC4-B703-539DF55E972F}"/>
              </a:ext>
            </a:extLst>
          </p:cNvPr>
          <p:cNvCxnSpPr>
            <a:cxnSpLocks/>
          </p:cNvCxnSpPr>
          <p:nvPr/>
        </p:nvCxnSpPr>
        <p:spPr>
          <a:xfrm flipV="1">
            <a:off x="4635909" y="3048000"/>
            <a:ext cx="1656736" cy="1513583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ight Brace 21">
            <a:extLst>
              <a:ext uri="{FF2B5EF4-FFF2-40B4-BE49-F238E27FC236}">
                <a16:creationId xmlns:a16="http://schemas.microsoft.com/office/drawing/2014/main" id="{78FEF068-7A03-79B7-2EB4-CC16283C050E}"/>
              </a:ext>
            </a:extLst>
          </p:cNvPr>
          <p:cNvSpPr/>
          <p:nvPr/>
        </p:nvSpPr>
        <p:spPr>
          <a:xfrm>
            <a:off x="8229600" y="2949677"/>
            <a:ext cx="137652" cy="479323"/>
          </a:xfrm>
          <a:prstGeom prst="rightBrac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91C054-D3C8-C672-615B-BA91B58E5774}"/>
              </a:ext>
            </a:extLst>
          </p:cNvPr>
          <p:cNvSpPr txBox="1"/>
          <p:nvPr/>
        </p:nvSpPr>
        <p:spPr>
          <a:xfrm>
            <a:off x="8101781" y="2614892"/>
            <a:ext cx="3676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/>
                </a:solidFill>
              </a:rPr>
              <a:t>Default  </a:t>
            </a:r>
            <a:r>
              <a:rPr lang="en-IN" b="1" dirty="0">
                <a:solidFill>
                  <a:schemeClr val="accent6"/>
                </a:solidFill>
              </a:rPr>
              <a:t>cv</a:t>
            </a:r>
            <a:r>
              <a:rPr lang="en-IN" dirty="0">
                <a:solidFill>
                  <a:schemeClr val="accent6"/>
                </a:solidFill>
              </a:rPr>
              <a:t> value (that is 1 – rate)  is provided.</a:t>
            </a:r>
          </a:p>
        </p:txBody>
      </p:sp>
    </p:spTree>
    <p:extLst>
      <p:ext uri="{BB962C8B-B14F-4D97-AF65-F5344CB8AC3E}">
        <p14:creationId xmlns:p14="http://schemas.microsoft.com/office/powerpoint/2010/main" val="3024879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62E2-CFB5-37A6-E3EC-5F100F8B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1A4A-6A4C-8042-6B9C-DCE8ED4B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9D0B7-04B3-1CA2-CD10-66A8A6641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Getting Node’s value and 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Handling Default Attributes.</a:t>
            </a:r>
          </a:p>
          <a:p>
            <a:r>
              <a:rPr lang="en-IN" dirty="0"/>
              <a:t>Getting Source and Destination from edge  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Future Work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08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CE4720-0301-0029-56D2-166206594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657" y="4026650"/>
            <a:ext cx="4886963" cy="2474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1900EF-D470-AFEB-68A9-59590579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037" y="967128"/>
            <a:ext cx="4747636" cy="30232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FA336-364E-4155-529C-EB93CC7A5249}"/>
              </a:ext>
            </a:extLst>
          </p:cNvPr>
          <p:cNvSpPr txBox="1"/>
          <p:nvPr/>
        </p:nvSpPr>
        <p:spPr>
          <a:xfrm>
            <a:off x="470312" y="241160"/>
            <a:ext cx="11296308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C000"/>
                </a:solidFill>
              </a:rPr>
              <a:t>Successfully Generate Source &amp; Destination from Edge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094DB-A255-18D3-4064-906050B1072E}"/>
              </a:ext>
            </a:extLst>
          </p:cNvPr>
          <p:cNvSpPr txBox="1"/>
          <p:nvPr/>
        </p:nvSpPr>
        <p:spPr>
          <a:xfrm>
            <a:off x="8544233" y="1529305"/>
            <a:ext cx="364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Input file : Test_graph.dot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20D23B-A539-5F38-DA45-C8CEA58CDA68}"/>
              </a:ext>
            </a:extLst>
          </p:cNvPr>
          <p:cNvSpPr txBox="1"/>
          <p:nvPr/>
        </p:nvSpPr>
        <p:spPr>
          <a:xfrm>
            <a:off x="10492163" y="4750017"/>
            <a:ext cx="3647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Output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1D6B95-7F8B-4428-7189-36140BE58F22}"/>
              </a:ext>
            </a:extLst>
          </p:cNvPr>
          <p:cNvCxnSpPr/>
          <p:nvPr/>
        </p:nvCxnSpPr>
        <p:spPr>
          <a:xfrm>
            <a:off x="2039112" y="1898637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CC2FFB-BEE1-F482-F60B-0C37BD50282B}"/>
              </a:ext>
            </a:extLst>
          </p:cNvPr>
          <p:cNvSpPr txBox="1"/>
          <p:nvPr/>
        </p:nvSpPr>
        <p:spPr>
          <a:xfrm>
            <a:off x="790352" y="1071260"/>
            <a:ext cx="562568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injector1         Q1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Here injector1[ whose type=“SOURCE” ] is     connected to Q1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Here Source: injector1  &amp; destination: Q1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Parse Tree</a:t>
            </a:r>
          </a:p>
          <a:p>
            <a:r>
              <a:rPr lang="en-US" sz="1400" b="1" dirty="0"/>
              <a:t>                       </a:t>
            </a:r>
            <a:r>
              <a:rPr lang="en-US" sz="1400" b="1" dirty="0" err="1"/>
              <a:t>Stmt</a:t>
            </a:r>
            <a:endParaRPr lang="en-US" sz="1400" b="1" dirty="0"/>
          </a:p>
          <a:p>
            <a:r>
              <a:rPr lang="en-US" sz="1400" b="1" dirty="0"/>
              <a:t>       	          (</a:t>
            </a:r>
            <a:r>
              <a:rPr lang="en-US" sz="1400" b="1" dirty="0" err="1"/>
              <a:t>edge_stmt</a:t>
            </a:r>
            <a:r>
              <a:rPr lang="en-US" sz="1400" b="1" dirty="0"/>
              <a:t>)</a:t>
            </a:r>
          </a:p>
          <a:p>
            <a:r>
              <a:rPr lang="en-US" sz="1400" dirty="0"/>
              <a:t>	  	</a:t>
            </a:r>
            <a:r>
              <a:rPr lang="en-US" sz="1400" b="1" dirty="0" err="1">
                <a:solidFill>
                  <a:srgbClr val="00B050"/>
                </a:solidFill>
              </a:rPr>
              <a:t>node_id</a:t>
            </a:r>
            <a:r>
              <a:rPr lang="en-US" sz="1400" b="1" dirty="0">
                <a:solidFill>
                  <a:srgbClr val="00B050"/>
                </a:solidFill>
              </a:rPr>
              <a:t> : </a:t>
            </a:r>
            <a:r>
              <a:rPr lang="en-US" sz="1400" dirty="0"/>
              <a:t>injector1</a:t>
            </a:r>
          </a:p>
          <a:p>
            <a:r>
              <a:rPr lang="en-US" sz="1400" dirty="0"/>
              <a:t>	   	</a:t>
            </a:r>
            <a:r>
              <a:rPr lang="en-US" sz="1400" b="1" dirty="0" err="1">
                <a:solidFill>
                  <a:srgbClr val="00B050"/>
                </a:solidFill>
              </a:rPr>
              <a:t>edgeRHS</a:t>
            </a:r>
            <a:endParaRPr lang="en-US" sz="1400" b="1" dirty="0">
              <a:solidFill>
                <a:srgbClr val="00B050"/>
              </a:solidFill>
            </a:endParaRPr>
          </a:p>
          <a:p>
            <a:r>
              <a:rPr lang="en-US" sz="1400" dirty="0"/>
              <a:t>	             	            </a:t>
            </a:r>
            <a:r>
              <a:rPr lang="en-US" sz="1400" dirty="0" err="1"/>
              <a:t>egdeop</a:t>
            </a:r>
            <a:r>
              <a:rPr lang="en-US" sz="1400" dirty="0"/>
              <a:t>: -&gt;</a:t>
            </a:r>
          </a:p>
          <a:p>
            <a:r>
              <a:rPr lang="en-US" sz="1400" dirty="0"/>
              <a:t>                                 	            </a:t>
            </a:r>
            <a:r>
              <a:rPr lang="en-US" sz="1400" dirty="0" err="1"/>
              <a:t>node_id</a:t>
            </a:r>
            <a:r>
              <a:rPr lang="en-US" sz="1400" dirty="0"/>
              <a:t>: Q1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6F39FC-D132-267A-450F-7FC5D7C6B868}"/>
              </a:ext>
            </a:extLst>
          </p:cNvPr>
          <p:cNvCxnSpPr>
            <a:cxnSpLocks/>
          </p:cNvCxnSpPr>
          <p:nvPr/>
        </p:nvCxnSpPr>
        <p:spPr>
          <a:xfrm>
            <a:off x="1979676" y="2715788"/>
            <a:ext cx="0" cy="1094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14BAA-A094-621E-CE27-2E51081FC988}"/>
              </a:ext>
            </a:extLst>
          </p:cNvPr>
          <p:cNvCxnSpPr>
            <a:cxnSpLocks/>
          </p:cNvCxnSpPr>
          <p:nvPr/>
        </p:nvCxnSpPr>
        <p:spPr>
          <a:xfrm>
            <a:off x="2313432" y="2933797"/>
            <a:ext cx="0" cy="876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860884-00FA-A73A-D3FE-1C8A50B5C256}"/>
              </a:ext>
            </a:extLst>
          </p:cNvPr>
          <p:cNvCxnSpPr/>
          <p:nvPr/>
        </p:nvCxnSpPr>
        <p:spPr>
          <a:xfrm>
            <a:off x="2340864" y="3035808"/>
            <a:ext cx="1737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097235-2FF4-9837-C2A0-F54EAEE355C5}"/>
              </a:ext>
            </a:extLst>
          </p:cNvPr>
          <p:cNvCxnSpPr/>
          <p:nvPr/>
        </p:nvCxnSpPr>
        <p:spPr>
          <a:xfrm>
            <a:off x="2350008" y="3246140"/>
            <a:ext cx="1737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B672DB-1434-612B-1900-CEEA84C757A3}"/>
              </a:ext>
            </a:extLst>
          </p:cNvPr>
          <p:cNvCxnSpPr/>
          <p:nvPr/>
        </p:nvCxnSpPr>
        <p:spPr>
          <a:xfrm>
            <a:off x="2871216" y="3364992"/>
            <a:ext cx="0" cy="4966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5CBC17-0117-2450-E4A3-4A0DBCFF294A}"/>
              </a:ext>
            </a:extLst>
          </p:cNvPr>
          <p:cNvCxnSpPr/>
          <p:nvPr/>
        </p:nvCxnSpPr>
        <p:spPr>
          <a:xfrm>
            <a:off x="2907792" y="3447288"/>
            <a:ext cx="1554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BDF867-7B33-1652-47F4-00CD5D8338F8}"/>
              </a:ext>
            </a:extLst>
          </p:cNvPr>
          <p:cNvCxnSpPr/>
          <p:nvPr/>
        </p:nvCxnSpPr>
        <p:spPr>
          <a:xfrm>
            <a:off x="2907792" y="3685032"/>
            <a:ext cx="1554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30C526C-D446-2957-2135-7C0DFF3CD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45" y="3990356"/>
            <a:ext cx="6197165" cy="251102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C9A9C0-70A4-EA73-9269-8BADFD65B778}"/>
              </a:ext>
            </a:extLst>
          </p:cNvPr>
          <p:cNvCxnSpPr/>
          <p:nvPr/>
        </p:nvCxnSpPr>
        <p:spPr>
          <a:xfrm>
            <a:off x="1979676" y="1261872"/>
            <a:ext cx="1600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F4138F2-65D7-2D43-B5D5-195D2C32D39A}"/>
              </a:ext>
            </a:extLst>
          </p:cNvPr>
          <p:cNvSpPr txBox="1"/>
          <p:nvPr/>
        </p:nvSpPr>
        <p:spPr>
          <a:xfrm>
            <a:off x="2082981" y="1804164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037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EE11-EF44-E45F-4836-DE0EECFB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299A-A318-2975-4395-9EEDF7688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D3D90-B3FA-556D-35CA-A3C32138B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Getting Node’s value and 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Handling Default Attributes.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Getting Source and Destination from edge </a:t>
            </a:r>
            <a:r>
              <a:rPr lang="en-IN" dirty="0"/>
              <a:t> </a:t>
            </a:r>
          </a:p>
          <a:p>
            <a:r>
              <a:rPr lang="en-US" dirty="0"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Future Work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29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98C8-6E77-0890-E49A-5937BEE4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1356848" cy="448691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Type Based Validation of Source and Destination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C4068-FD02-1B59-EB06-63EF31C71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005841"/>
            <a:ext cx="10914888" cy="2633472"/>
          </a:xfrm>
        </p:spPr>
        <p:txBody>
          <a:bodyPr>
            <a:normAutofit/>
          </a:bodyPr>
          <a:lstStyle/>
          <a:p>
            <a:r>
              <a:rPr lang="en-US" sz="1400" dirty="0"/>
              <a:t>Using  </a:t>
            </a:r>
            <a:r>
              <a:rPr lang="en-US" sz="1400" b="1" dirty="0" err="1">
                <a:highlight>
                  <a:srgbClr val="FFFF00"/>
                </a:highlight>
              </a:rPr>
              <a:t>SymbolTable</a:t>
            </a:r>
            <a:endParaRPr lang="en-US" sz="1400" b="1" dirty="0">
              <a:highlight>
                <a:srgbClr val="FFFF00"/>
              </a:highlight>
            </a:endParaRPr>
          </a:p>
          <a:p>
            <a:r>
              <a:rPr lang="en-US" sz="1400" dirty="0"/>
              <a:t>The symbol table will map each node name(like F1, Injector2, RR, Q1, etc.) to its corresponding type(like Injector, Queue, Server, etc.) using the type attribute from the node definition.</a:t>
            </a:r>
          </a:p>
          <a:p>
            <a:r>
              <a:rPr lang="en-US" sz="1400" dirty="0"/>
              <a:t>This table will be constructed during the node visitation phase .</a:t>
            </a:r>
          </a:p>
          <a:p>
            <a:r>
              <a:rPr lang="en-US" sz="1400" dirty="0"/>
              <a:t>During the third pass(type-checking), this table will be used to validate each connection(edge) based on the node types.</a:t>
            </a:r>
          </a:p>
          <a:p>
            <a:r>
              <a:rPr lang="en-US" sz="1400" dirty="0"/>
              <a:t>Rules are defined such as </a:t>
            </a:r>
          </a:p>
          <a:p>
            <a:pPr lvl="1" fontAlgn="base"/>
            <a:r>
              <a:rPr lang="en-US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Injectors can only connect to Queues.</a:t>
            </a:r>
          </a:p>
          <a:p>
            <a:pPr lvl="1" fontAlgn="base"/>
            <a:r>
              <a:rPr lang="en-US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Queues can connect to Server or Arbiters etc.</a:t>
            </a:r>
          </a:p>
          <a:p>
            <a:r>
              <a:rPr lang="en-US" sz="1400" dirty="0"/>
              <a:t>This third pass is defined in the </a:t>
            </a:r>
            <a:r>
              <a:rPr lang="en-US" sz="1400" b="1" dirty="0" err="1">
                <a:highlight>
                  <a:srgbClr val="FFFF00"/>
                </a:highlight>
              </a:rPr>
              <a:t>TypeCheckVisitor.h</a:t>
            </a:r>
            <a:r>
              <a:rPr lang="en-US" sz="1400" b="1" dirty="0">
                <a:highlight>
                  <a:srgbClr val="FFFF00"/>
                </a:highlight>
              </a:rPr>
              <a:t> </a:t>
            </a:r>
            <a:r>
              <a:rPr lang="en-US" sz="1400" dirty="0"/>
              <a:t>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02F69-87AC-1777-3E98-62D0E71D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06" y="4063108"/>
            <a:ext cx="5375164" cy="245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7189AE-004E-A6D9-FFB5-A07CCD105C7F}"/>
              </a:ext>
            </a:extLst>
          </p:cNvPr>
          <p:cNvSpPr txBox="1"/>
          <p:nvPr/>
        </p:nvSpPr>
        <p:spPr>
          <a:xfrm>
            <a:off x="5693582" y="2941030"/>
            <a:ext cx="1642709" cy="2004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dirty="0"/>
              <a:t>F2 =&gt; SOURCE</a:t>
            </a:r>
          </a:p>
          <a:p>
            <a:pPr>
              <a:lnSpc>
                <a:spcPct val="150000"/>
              </a:lnSpc>
            </a:pPr>
            <a:r>
              <a:rPr lang="fr-FR" sz="1200" dirty="0"/>
              <a:t>F3 =&gt; SOURCE</a:t>
            </a:r>
          </a:p>
          <a:p>
            <a:pPr>
              <a:lnSpc>
                <a:spcPct val="150000"/>
              </a:lnSpc>
            </a:pPr>
            <a:r>
              <a:rPr lang="fr-FR" sz="1200" dirty="0">
                <a:solidFill>
                  <a:schemeClr val="accent2">
                    <a:lumMod val="75000"/>
                  </a:schemeClr>
                </a:solidFill>
              </a:rPr>
              <a:t>Q1 =&gt; QUEUE</a:t>
            </a:r>
          </a:p>
          <a:p>
            <a:pPr>
              <a:lnSpc>
                <a:spcPct val="150000"/>
              </a:lnSpc>
            </a:pPr>
            <a:r>
              <a:rPr lang="fr-FR" sz="1200" dirty="0"/>
              <a:t>Q3 =&gt; QUEUE</a:t>
            </a:r>
          </a:p>
          <a:p>
            <a:pPr>
              <a:lnSpc>
                <a:spcPct val="150000"/>
              </a:lnSpc>
            </a:pPr>
            <a:r>
              <a:rPr lang="fr-FR" sz="1200" dirty="0"/>
              <a:t>RR =&gt; ARBITER</a:t>
            </a:r>
          </a:p>
          <a:p>
            <a:pPr>
              <a:lnSpc>
                <a:spcPct val="150000"/>
              </a:lnSpc>
            </a:pPr>
            <a:r>
              <a:rPr lang="fr-FR" sz="1200" dirty="0"/>
              <a:t>SR1 =&gt; SERVER</a:t>
            </a:r>
          </a:p>
          <a:p>
            <a:pPr>
              <a:lnSpc>
                <a:spcPct val="150000"/>
              </a:lnSpc>
            </a:pPr>
            <a:r>
              <a:rPr lang="fr-FR" sz="1200" dirty="0">
                <a:solidFill>
                  <a:schemeClr val="accent2">
                    <a:lumMod val="75000"/>
                  </a:schemeClr>
                </a:solidFill>
              </a:rPr>
              <a:t>injector1 =&gt; SOURCE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FD1EC-AAAF-280B-0352-0683DDE84543}"/>
              </a:ext>
            </a:extLst>
          </p:cNvPr>
          <p:cNvSpPr txBox="1"/>
          <p:nvPr/>
        </p:nvSpPr>
        <p:spPr>
          <a:xfrm>
            <a:off x="5683626" y="2571698"/>
            <a:ext cx="16526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Symbol 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A3F76-3B3A-AE26-C662-112EA1ED66F1}"/>
              </a:ext>
            </a:extLst>
          </p:cNvPr>
          <p:cNvSpPr txBox="1"/>
          <p:nvPr/>
        </p:nvSpPr>
        <p:spPr>
          <a:xfrm>
            <a:off x="8299452" y="2487702"/>
            <a:ext cx="150876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Injector1 -&gt; Q1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FB36A3CD-4011-636B-FCD5-D24B0DBB8D6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70649" y="2516768"/>
            <a:ext cx="828805" cy="176370"/>
          </a:xfrm>
          <a:prstGeom prst="curvedConnector3">
            <a:avLst>
              <a:gd name="adj1" fmla="val 974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DC08C7CE-2871-C9D7-1F4D-BD010395BEC2}"/>
              </a:ext>
            </a:extLst>
          </p:cNvPr>
          <p:cNvCxnSpPr>
            <a:cxnSpLocks/>
          </p:cNvCxnSpPr>
          <p:nvPr/>
        </p:nvCxnSpPr>
        <p:spPr>
          <a:xfrm flipV="1">
            <a:off x="7336290" y="2667857"/>
            <a:ext cx="3116933" cy="783533"/>
          </a:xfrm>
          <a:prstGeom prst="curvedConnector3">
            <a:avLst>
              <a:gd name="adj1" fmla="val 1001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2EA5781-7950-8E4E-9A7E-338CD26CFD7C}"/>
              </a:ext>
            </a:extLst>
          </p:cNvPr>
          <p:cNvSpPr txBox="1"/>
          <p:nvPr/>
        </p:nvSpPr>
        <p:spPr>
          <a:xfrm>
            <a:off x="10267589" y="1939393"/>
            <a:ext cx="1639063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If ( source type is connected to Queue type)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A7E757-4BEB-8594-1DB0-5F6D423E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469"/>
          <a:stretch>
            <a:fillRect/>
          </a:stretch>
        </p:blipFill>
        <p:spPr>
          <a:xfrm>
            <a:off x="7389533" y="4204065"/>
            <a:ext cx="4570361" cy="2318684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5EED52-312B-0E41-0303-CD3FA8CB69BD}"/>
              </a:ext>
            </a:extLst>
          </p:cNvPr>
          <p:cNvCxnSpPr>
            <a:cxnSpLocks/>
          </p:cNvCxnSpPr>
          <p:nvPr/>
        </p:nvCxnSpPr>
        <p:spPr>
          <a:xfrm flipH="1">
            <a:off x="9400393" y="4977398"/>
            <a:ext cx="274320" cy="979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2CE7731-45E8-28A2-AA0A-6FC7C2BAA8A9}"/>
              </a:ext>
            </a:extLst>
          </p:cNvPr>
          <p:cNvSpPr txBox="1"/>
          <p:nvPr/>
        </p:nvSpPr>
        <p:spPr>
          <a:xfrm>
            <a:off x="9674713" y="4754880"/>
            <a:ext cx="129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486025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B430-A7DA-26E4-FA57-C40BF049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FC97-D367-AC24-192E-C7C7FF49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98534-BA12-E02D-8C8B-905C95DA5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Getting Node’s value and 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Handling Default Attributes.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Getting Source and Destination from edge </a:t>
            </a:r>
            <a:r>
              <a:rPr lang="en-IN" dirty="0"/>
              <a:t>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Future Work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69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E5D8-0006-C874-1E99-0D20730F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7" y="365125"/>
            <a:ext cx="11127952" cy="494411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Automatic </a:t>
            </a:r>
            <a:r>
              <a:rPr lang="en-US" sz="3600" b="1" dirty="0">
                <a:solidFill>
                  <a:srgbClr val="FFC000"/>
                </a:solidFill>
              </a:rPr>
              <a:t>Junction</a:t>
            </a:r>
            <a:r>
              <a:rPr lang="en-US" sz="3600" dirty="0">
                <a:solidFill>
                  <a:srgbClr val="FFC000"/>
                </a:solidFill>
              </a:rPr>
              <a:t> name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0DE8C-B67B-1ABA-FB45-E8A1D9815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347" y="1394018"/>
            <a:ext cx="3366173" cy="4289169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1800" dirty="0"/>
              <a:t>Replace Node name(connector between two Primitives) with Automatic created Junction name when it gets source and destination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Junction</a:t>
            </a:r>
            <a:r>
              <a:rPr lang="en-US" sz="1800" dirty="0"/>
              <a:t> keeps necessary data which we are using in the time of backtracking, forward pass, and backward pass of analytical model.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err="1"/>
              <a:t>Junc</a:t>
            </a:r>
            <a:r>
              <a:rPr lang="en-US" sz="1800" b="1" dirty="0"/>
              <a:t> </a:t>
            </a:r>
            <a:r>
              <a:rPr lang="en-US" sz="1800" dirty="0"/>
              <a:t>is connector between two primitives(source and destination)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/>
              <a:t>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err="1">
                <a:highlight>
                  <a:srgbClr val="FFFF00"/>
                </a:highlight>
              </a:rPr>
              <a:t>generateJunctionName</a:t>
            </a:r>
            <a:r>
              <a:rPr lang="en-US" sz="1800" dirty="0">
                <a:highlight>
                  <a:srgbClr val="FFFF00"/>
                </a:highlight>
              </a:rPr>
              <a:t>() </a:t>
            </a:r>
            <a:r>
              <a:rPr lang="en-US" sz="1800" dirty="0"/>
              <a:t>will generate new Junction name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err="1">
                <a:highlight>
                  <a:srgbClr val="FFFF00"/>
                </a:highlight>
              </a:rPr>
              <a:t>JounctionCounter</a:t>
            </a:r>
            <a:r>
              <a:rPr lang="en-US" sz="1800" dirty="0"/>
              <a:t> is a counter to count Junction.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2B610-6C5F-883D-B073-C9BBED7BA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411" y="1474249"/>
            <a:ext cx="6323022" cy="390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14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37E3-147B-E6D3-1A36-0A33CC76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F0EA-9983-BD0F-E1A9-ACD6DD1B4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A78E-86C0-1CE1-E12F-8C99CCA8C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Recap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How Parse Tree helps?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Getting Node’s value and 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Handling Default Attributes.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Getting Source and Destination from edge </a:t>
            </a:r>
            <a:r>
              <a:rPr lang="en-IN" dirty="0"/>
              <a:t>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Type Based Validation using Symbol Table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Automatic creation of Connector</a:t>
            </a:r>
          </a:p>
          <a:p>
            <a:r>
              <a:rPr lang="en-US" dirty="0">
                <a:ea typeface="+mn-lt"/>
                <a:cs typeface="+mn-lt"/>
              </a:rPr>
              <a:t>Future Work</a:t>
            </a:r>
            <a:endParaRPr lang="en-US" dirty="0"/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479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857D-FA4D-8321-9BC9-68448A95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365125"/>
            <a:ext cx="10796016" cy="695579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6C81-8680-40C0-064E-B9CB70D2A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" y="1243584"/>
            <a:ext cx="10732008" cy="4933379"/>
          </a:xfrm>
        </p:spPr>
        <p:txBody>
          <a:bodyPr/>
          <a:lstStyle/>
          <a:p>
            <a:r>
              <a:rPr lang="en-US" dirty="0"/>
              <a:t>Integration of Analytical Model</a:t>
            </a:r>
          </a:p>
        </p:txBody>
      </p:sp>
    </p:spTree>
    <p:extLst>
      <p:ext uri="{BB962C8B-B14F-4D97-AF65-F5344CB8AC3E}">
        <p14:creationId xmlns:p14="http://schemas.microsoft.com/office/powerpoint/2010/main" val="85544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6" ma:contentTypeDescription="Create a new document." ma:contentTypeScope="" ma:versionID="2117dcca7870b83d47d794a40c6ad2fb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add902ff20dc9683d596800b2ea73817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Props1.xml><?xml version="1.0" encoding="utf-8"?>
<ds:datastoreItem xmlns:ds="http://schemas.openxmlformats.org/officeDocument/2006/customXml" ds:itemID="{2792F26F-28AC-489A-9250-AA1865A142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BCCA71-644A-43C5-8C74-3EEB5157C1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51A759-3C06-4942-82BF-B8462D9E65FF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cf6b262d-64b1-48de-8710-0fc3c93bfca9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942</Words>
  <Application>Microsoft Office PowerPoint</Application>
  <PresentationFormat>Widescreen</PresentationFormat>
  <Paragraphs>161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Segoe UI</vt:lpstr>
      <vt:lpstr>Wingdings</vt:lpstr>
      <vt:lpstr>Office Theme</vt:lpstr>
      <vt:lpstr>DSL Productization</vt:lpstr>
      <vt:lpstr>Agenda</vt:lpstr>
      <vt:lpstr>Recap: Proposed Idea for DSL productization</vt:lpstr>
      <vt:lpstr>Agenda</vt:lpstr>
      <vt:lpstr>How Parse Tree helps to get value?</vt:lpstr>
      <vt:lpstr>Agenda</vt:lpstr>
      <vt:lpstr>Getting Node’s Value using Parse Tree</vt:lpstr>
      <vt:lpstr>Create Primitives</vt:lpstr>
      <vt:lpstr>Type Based Validation and Handling Default Attributes</vt:lpstr>
      <vt:lpstr>Agenda</vt:lpstr>
      <vt:lpstr>PowerPoint Presentation</vt:lpstr>
      <vt:lpstr>Agenda</vt:lpstr>
      <vt:lpstr>Type Based Validation of Source and Destination</vt:lpstr>
      <vt:lpstr>Agenda</vt:lpstr>
      <vt:lpstr>Automatic Junction name creation</vt:lpstr>
      <vt:lpstr>Agenda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2025-06-09T08:46:08Z</dcterms:created>
  <dcterms:modified xsi:type="dcterms:W3CDTF">2025-06-11T09:22:19Z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