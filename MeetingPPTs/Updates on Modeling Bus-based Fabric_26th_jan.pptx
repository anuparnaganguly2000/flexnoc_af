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35EDC1-FA1F-4DCE-9D09-D9FF0DF8D667}" v="2" dt="2026-01-26T13:10:30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D2604-A855-42DE-84FC-C3E7BA18AC21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EAADA-005B-4D74-BAF6-174F3D6F8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34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D02B3-322D-7E53-F478-6D132ED0D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A0630-8EA4-4A5D-3FDC-3C074EBCA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BB886-CA88-3C71-E8CB-C363E43C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368F-77F4-4BB8-BE1D-EAFB6A19E892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0A105-BF0E-01B9-E803-22586845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60A0B-F2F4-71A2-1C9E-B7D4D5B2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7DB54-1462-5372-7C0A-7A75EE00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654FF-689B-931E-4604-DC5F298FE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8E4E5-1D08-FEF3-3065-6E9ACDEF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341FE-C450-4F53-8887-8C8BE8DD4726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B420E-38A2-0EB5-AD8F-FF1EBB55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9CD7-D019-6892-57C2-737F67DA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6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DC57-87F9-1DFF-772F-4174F0D71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3E401-ED1B-4F5B-04EA-512C66E9D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52A83-BF1B-5680-7C2E-B751C2681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829A7-6F8E-4969-8432-AD9A822032BE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49F8E-1D61-9D3F-6C03-3A7FF6B98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3AACB-F56D-BD89-235F-96360460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1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E9536-3A73-1F11-4543-FD976091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94E57-DEC8-BC09-84E9-EB171769F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32F04-D9E4-358A-5D75-D7C22E052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E01AD-0ED0-B082-FB09-45D141E9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E4CAB-C35A-4E12-A50E-789B819BEF31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F92B8-C15A-EEAA-BFCF-688A9F06E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38FBC-2EBA-0138-FCDF-799CDA12A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3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78C7-86D5-AC1A-299B-89AB8DBD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7D702-9AC4-4629-BAF1-D2D80B974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14342-C1FA-C5BC-B469-EEE29404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741A9-55E5-C573-BD64-967EB2B9C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FB4B7-CC31-8CCC-14EF-E3B722529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79FABA-7B51-8A86-8AC3-01A16A31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68F2D-EB9C-4B46-AC32-4ACFD62C4D5A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87C5A2-684F-A626-A680-9CD55C672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124D44-FF71-7DD5-FBE5-F010C637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8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D0FD5-4B75-F86E-89E2-B2D6684C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54A07-6FC5-CF9C-91A4-E4FD39E9B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042FB-967B-439C-A28E-14A4AF297604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4B33A2-D175-14A0-2D62-CE37BA89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CA156-766E-6923-B71B-6E9CEF48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4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2455F-F5B5-4A1A-DBA7-4410D0FCA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9E29-2565-45DA-B067-BC3D1F1D2ED4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2B872E-1128-BE8B-7BDD-207A3C08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FB0DD-A464-602B-C10B-F3291D80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37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CEE0-3B37-F884-A5C8-904AF36B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D576B-0A44-87EA-114F-F1044097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FFAE4-4EC8-9C33-9968-4FB605C78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C8E2F-4592-ACBD-B708-71E627AE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9D7FD-11B8-4219-A5D4-056644A172BE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2084F-834A-7BB4-77A5-1A79085C4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F49CC-7821-4ECE-F6C5-68C52B5D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6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01AC-8A47-746B-A23B-5A9C425E7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3D263-16AB-DBC0-08C3-5D5326542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C9A35-D3C7-9FE4-9E24-EC7DB0017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FA122-8CD2-C77E-1B7A-97C807CC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3055-DF40-4A64-90A4-46CD39162507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781DD-A336-7D8F-8EE4-2B903B13F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ED430-C7A8-2916-26BE-98550520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5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C532-C5C1-1B6A-C507-ABDD7D85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FB7079-F8BF-6546-84FA-6A8A2DA17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0188C-99C3-88A4-3AD0-C3C027D6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55A75-878C-4C7B-AD06-98C1F18035B3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E8E17-400F-84D0-0463-6188014B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578CE-5C9E-B4F7-4C96-56509309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32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0EB756-01EB-0E0E-4D14-34BAB54FF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284785-D906-9086-7466-5B91AC19A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788B0-8B4E-B255-7F1D-39127CA4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AE926-E8B0-4167-A346-E36AABE34458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69DEC-588D-5FB0-EF8D-20BA3D2C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91D9A-632B-B9F2-A960-41D564E2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3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4AFEE-FC28-514C-33BC-CC819663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6AD84-AF25-7E91-0AF7-F4C2749C3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B9452-9959-19E6-28F5-960D4BD56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FB85B-3779-48AC-8738-B340F3B734D1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9DC86-08F9-FB69-90C8-FE2BE9AC9B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5FA64-E142-4A6B-3F30-075BED2FB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B299B-D36B-4833-A2E9-768D7C026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1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NUPARNAGANGULY2000/FlexNoC/tree/bus_fabric/bus_fabri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53FE-DC70-750B-4A02-A13991354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Updates on Modeling </a:t>
            </a:r>
            <a:r>
              <a:rPr lang="en-US" dirty="0">
                <a:latin typeface="Aptos Display"/>
                <a:cs typeface="Arial"/>
              </a:rPr>
              <a:t>Bus-based Fabric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29AC0-BCF2-05E3-D3C3-2711AFE8A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2944" y="4014216"/>
            <a:ext cx="3730752" cy="1197864"/>
          </a:xfrm>
        </p:spPr>
        <p:txBody>
          <a:bodyPr>
            <a:normAutofit/>
          </a:bodyPr>
          <a:lstStyle/>
          <a:p>
            <a:r>
              <a:rPr lang="en-US" dirty="0"/>
              <a:t>Anuparna</a:t>
            </a:r>
          </a:p>
          <a:p>
            <a:r>
              <a:rPr lang="en-US" b="1" dirty="0">
                <a:solidFill>
                  <a:srgbClr val="00B050"/>
                </a:solidFill>
              </a:rPr>
              <a:t>26</a:t>
            </a:r>
            <a:r>
              <a:rPr lang="en-US" b="1" baseline="30000" dirty="0">
                <a:solidFill>
                  <a:srgbClr val="00B050"/>
                </a:solidFill>
              </a:rPr>
              <a:t>th</a:t>
            </a:r>
            <a:r>
              <a:rPr lang="en-US" b="1" dirty="0">
                <a:solidFill>
                  <a:srgbClr val="00B050"/>
                </a:solidFill>
              </a:rPr>
              <a:t> Jan 2026</a:t>
            </a:r>
          </a:p>
        </p:txBody>
      </p:sp>
    </p:spTree>
    <p:extLst>
      <p:ext uri="{BB962C8B-B14F-4D97-AF65-F5344CB8AC3E}">
        <p14:creationId xmlns:p14="http://schemas.microsoft.com/office/powerpoint/2010/main" val="153014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5099-796B-0E5A-FEB3-1F5BB800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5DA86-F507-E272-1668-6B8856CFE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Modeling</a:t>
            </a:r>
            <a:r>
              <a:rPr lang="en-IN" dirty="0"/>
              <a:t> bus-based fabric in DSL</a:t>
            </a:r>
          </a:p>
          <a:p>
            <a:r>
              <a:rPr lang="en-IN" dirty="0"/>
              <a:t>cycle accurate simulator for the bus-based fabric configuration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B528A-875D-85FA-24B1-7F194B379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57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88430DF-B28F-01C5-B8E0-40FE1D801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685" y="5379515"/>
            <a:ext cx="2584660" cy="9512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DE19D3-6298-7876-E4FB-DDFB8253E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072" y="4173669"/>
            <a:ext cx="3568728" cy="2569233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548A64E4-813D-5685-7CB0-0186D92F200E}"/>
              </a:ext>
            </a:extLst>
          </p:cNvPr>
          <p:cNvSpPr/>
          <p:nvPr/>
        </p:nvSpPr>
        <p:spPr>
          <a:xfrm rot="16200000">
            <a:off x="8864939" y="5742555"/>
            <a:ext cx="292608" cy="3260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8F7E96-0604-D518-EF81-B715F99692FD}"/>
              </a:ext>
            </a:extLst>
          </p:cNvPr>
          <p:cNvSpPr/>
          <p:nvPr/>
        </p:nvSpPr>
        <p:spPr>
          <a:xfrm>
            <a:off x="5181600" y="838300"/>
            <a:ext cx="2404872" cy="2394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Converted to .dot file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BBE405-4A17-DB4F-BC66-15554140E367}"/>
              </a:ext>
            </a:extLst>
          </p:cNvPr>
          <p:cNvSpPr/>
          <p:nvPr/>
        </p:nvSpPr>
        <p:spPr>
          <a:xfrm>
            <a:off x="8787765" y="6406499"/>
            <a:ext cx="3233545" cy="3364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Output verified on pen and paper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B1859C0D-71C5-E73F-099E-0517F969689F}"/>
              </a:ext>
            </a:extLst>
          </p:cNvPr>
          <p:cNvSpPr/>
          <p:nvPr/>
        </p:nvSpPr>
        <p:spPr>
          <a:xfrm>
            <a:off x="8067473" y="2954166"/>
            <a:ext cx="292608" cy="3260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4AB6A3-C539-F6AD-7F93-892161E32D17}"/>
              </a:ext>
            </a:extLst>
          </p:cNvPr>
          <p:cNvSpPr txBox="1"/>
          <p:nvPr/>
        </p:nvSpPr>
        <p:spPr>
          <a:xfrm>
            <a:off x="84024" y="4325549"/>
            <a:ext cx="47980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BF is the fabric instance and 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BF has arbitration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IPs are the injectors and both IP0 and IP3 are sending packets to Die0. (assumption, IP0 packets have higher priority than IP3)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IP0 pkts and IP3 pkts arbitrate at PSF0.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Each BFs(BF0, BF1, BF2, BF3) causes </a:t>
            </a:r>
            <a:r>
              <a:rPr lang="en-US" alt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1 cycle delay </a:t>
            </a:r>
            <a:r>
              <a:rPr lang="en-US" altLang="en-US" sz="1400" dirty="0">
                <a:latin typeface="Arial" panose="020B0604020202020204" pitchFamily="34" charset="0"/>
              </a:rPr>
              <a:t>(from input port to output) in addition to the arbitration. If no arbitration at a said BF, then assume delay = 1 cycle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5B5BA9-AC37-9FB5-98C0-E6CD1C92479A}"/>
              </a:ext>
            </a:extLst>
          </p:cNvPr>
          <p:cNvSpPr/>
          <p:nvPr/>
        </p:nvSpPr>
        <p:spPr>
          <a:xfrm>
            <a:off x="3340608" y="268224"/>
            <a:ext cx="847344" cy="3207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Die0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118A7AD-9A20-A279-5F59-E9ED8654B1E3}"/>
              </a:ext>
            </a:extLst>
          </p:cNvPr>
          <p:cNvGrpSpPr/>
          <p:nvPr/>
        </p:nvGrpSpPr>
        <p:grpSpPr>
          <a:xfrm>
            <a:off x="170690" y="589016"/>
            <a:ext cx="4326001" cy="3076752"/>
            <a:chOff x="320040" y="284216"/>
            <a:chExt cx="4326001" cy="307675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64C96-BB68-8474-47C6-9D17C2059AAF}"/>
                </a:ext>
              </a:extLst>
            </p:cNvPr>
            <p:cNvSpPr/>
            <p:nvPr/>
          </p:nvSpPr>
          <p:spPr>
            <a:xfrm>
              <a:off x="320040" y="560832"/>
              <a:ext cx="4326001" cy="28001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56160E8-5516-A7D6-5D90-29A23AC5399D}"/>
                </a:ext>
              </a:extLst>
            </p:cNvPr>
            <p:cNvSpPr/>
            <p:nvPr/>
          </p:nvSpPr>
          <p:spPr>
            <a:xfrm>
              <a:off x="523621" y="2440230"/>
              <a:ext cx="1694688" cy="327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BF3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C582F7F-BC1A-9F82-0D3F-9040F750D7CC}"/>
                </a:ext>
              </a:extLst>
            </p:cNvPr>
            <p:cNvSpPr/>
            <p:nvPr/>
          </p:nvSpPr>
          <p:spPr>
            <a:xfrm>
              <a:off x="615061" y="2985043"/>
              <a:ext cx="616331" cy="32738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IP3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8FCF43E-B9D3-34C1-6999-66DC34E2B12A}"/>
                </a:ext>
              </a:extLst>
            </p:cNvPr>
            <p:cNvSpPr/>
            <p:nvPr/>
          </p:nvSpPr>
          <p:spPr>
            <a:xfrm>
              <a:off x="3778885" y="1316736"/>
              <a:ext cx="616331" cy="37795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IP0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2446323-6C4A-8023-4E68-FFE5A81AD386}"/>
                </a:ext>
              </a:extLst>
            </p:cNvPr>
            <p:cNvSpPr/>
            <p:nvPr/>
          </p:nvSpPr>
          <p:spPr>
            <a:xfrm>
              <a:off x="2700528" y="754408"/>
              <a:ext cx="1694688" cy="327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BF0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4CF2C16-B2B7-4E89-46BB-CF1BE17B63AC}"/>
                </a:ext>
              </a:extLst>
            </p:cNvPr>
            <p:cNvSpPr/>
            <p:nvPr/>
          </p:nvSpPr>
          <p:spPr>
            <a:xfrm>
              <a:off x="2700528" y="1862110"/>
              <a:ext cx="1694688" cy="327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BF1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5BA850-4E73-8AE1-86AD-AC23DDF1E93C}"/>
                </a:ext>
              </a:extLst>
            </p:cNvPr>
            <p:cNvSpPr/>
            <p:nvPr/>
          </p:nvSpPr>
          <p:spPr>
            <a:xfrm>
              <a:off x="2700528" y="2452422"/>
              <a:ext cx="1694688" cy="327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BF2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1E67F4F-CFD4-4EE9-2BD6-E137C9761E99}"/>
                </a:ext>
              </a:extLst>
            </p:cNvPr>
            <p:cNvCxnSpPr/>
            <p:nvPr/>
          </p:nvCxnSpPr>
          <p:spPr>
            <a:xfrm>
              <a:off x="3401568" y="1081792"/>
              <a:ext cx="0" cy="77107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9FCFEA9-1558-283E-FAFA-3D00F7A2F05D}"/>
                </a:ext>
              </a:extLst>
            </p:cNvPr>
            <p:cNvCxnSpPr>
              <a:cxnSpLocks/>
            </p:cNvCxnSpPr>
            <p:nvPr/>
          </p:nvCxnSpPr>
          <p:spPr>
            <a:xfrm>
              <a:off x="4117530" y="1081792"/>
              <a:ext cx="0" cy="23494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E32EF8F-0976-D9B1-D462-D65D507A7F3A}"/>
                </a:ext>
              </a:extLst>
            </p:cNvPr>
            <p:cNvCxnSpPr>
              <a:cxnSpLocks/>
            </p:cNvCxnSpPr>
            <p:nvPr/>
          </p:nvCxnSpPr>
          <p:spPr>
            <a:xfrm>
              <a:off x="913764" y="2750099"/>
              <a:ext cx="0" cy="23494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CBDE79F-08B7-D5A1-6CB8-46CE79DF09D9}"/>
                </a:ext>
              </a:extLst>
            </p:cNvPr>
            <p:cNvCxnSpPr>
              <a:cxnSpLocks/>
            </p:cNvCxnSpPr>
            <p:nvPr/>
          </p:nvCxnSpPr>
          <p:spPr>
            <a:xfrm>
              <a:off x="3547872" y="2205286"/>
              <a:ext cx="0" cy="23494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0688E29-8272-70F9-73BC-9661899F5DD7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2218309" y="2546764"/>
              <a:ext cx="482219" cy="6935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2B500AA-3C46-530C-C51F-0CE06A4026DA}"/>
                </a:ext>
              </a:extLst>
            </p:cNvPr>
            <p:cNvSpPr/>
            <p:nvPr/>
          </p:nvSpPr>
          <p:spPr>
            <a:xfrm>
              <a:off x="389826" y="597308"/>
              <a:ext cx="847344" cy="3207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Die1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51493B5-957F-DFB0-BC41-1F8862631922}"/>
                </a:ext>
              </a:extLst>
            </p:cNvPr>
            <p:cNvCxnSpPr>
              <a:cxnSpLocks/>
            </p:cNvCxnSpPr>
            <p:nvPr/>
          </p:nvCxnSpPr>
          <p:spPr>
            <a:xfrm>
              <a:off x="3694176" y="284216"/>
              <a:ext cx="0" cy="47019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4A7FC3E-05E4-BB31-F6EF-5BA9C0365478}"/>
                </a:ext>
              </a:extLst>
            </p:cNvPr>
            <p:cNvSpPr txBox="1"/>
            <p:nvPr/>
          </p:nvSpPr>
          <p:spPr>
            <a:xfrm>
              <a:off x="523621" y="1378289"/>
              <a:ext cx="28683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BF(Bus Fabric) Setup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60E48BF-54F0-8186-AB60-E31A835E502E}"/>
              </a:ext>
            </a:extLst>
          </p:cNvPr>
          <p:cNvSpPr txBox="1"/>
          <p:nvPr/>
        </p:nvSpPr>
        <p:spPr>
          <a:xfrm>
            <a:off x="320040" y="3876898"/>
            <a:ext cx="3286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Input from Intel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F482252-BEF0-88B6-3887-D3C7C4F74FBF}"/>
              </a:ext>
            </a:extLst>
          </p:cNvPr>
          <p:cNvCxnSpPr>
            <a:cxnSpLocks/>
          </p:cNvCxnSpPr>
          <p:nvPr/>
        </p:nvCxnSpPr>
        <p:spPr>
          <a:xfrm>
            <a:off x="4882056" y="268224"/>
            <a:ext cx="0" cy="61382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1A7D1B2-8DF2-85A4-9AAF-47689C6F2C4B}"/>
              </a:ext>
            </a:extLst>
          </p:cNvPr>
          <p:cNvSpPr txBox="1"/>
          <p:nvPr/>
        </p:nvSpPr>
        <p:spPr>
          <a:xfrm>
            <a:off x="5181600" y="283300"/>
            <a:ext cx="649056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chemeClr val="bg1">
                    <a:lumMod val="95000"/>
                  </a:schemeClr>
                </a:solidFill>
              </a:rPr>
              <a:t>Modeling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 bus-based fabric in DSL</a:t>
            </a:r>
          </a:p>
        </p:txBody>
      </p:sp>
      <p:pic>
        <p:nvPicPr>
          <p:cNvPr id="54" name="Content Placeholder 53">
            <a:extLst>
              <a:ext uri="{FF2B5EF4-FFF2-40B4-BE49-F238E27FC236}">
                <a16:creationId xmlns:a16="http://schemas.microsoft.com/office/drawing/2014/main" id="{844D4551-3C30-7BD1-2A9F-A790456A7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072" y="3319815"/>
            <a:ext cx="6903238" cy="755905"/>
          </a:xfr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9A9B62B-97A3-1EF2-D632-E6555373B70B}"/>
              </a:ext>
            </a:extLst>
          </p:cNvPr>
          <p:cNvSpPr txBox="1"/>
          <p:nvPr/>
        </p:nvSpPr>
        <p:spPr>
          <a:xfrm>
            <a:off x="8686800" y="4173669"/>
            <a:ext cx="3233545" cy="1248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ts val="1500"/>
              </a:lnSpc>
              <a:buNone/>
            </a:pPr>
            <a:r>
              <a:rPr lang="en-US" sz="1400" b="1" i="0" dirty="0">
                <a:solidFill>
                  <a:srgbClr val="000000"/>
                </a:solidFill>
                <a:effectLst/>
              </a:rPr>
              <a:t>Meaning of shapes in the diagram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:  </a:t>
            </a:r>
          </a:p>
          <a:p>
            <a:pPr algn="just" rtl="0" fontAlgn="base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  </a:t>
            </a:r>
            <a:r>
              <a:rPr lang="en-US" sz="1400" b="1" i="0" dirty="0">
                <a:solidFill>
                  <a:srgbClr val="FF0000"/>
                </a:solidFill>
                <a:effectLst/>
              </a:rPr>
              <a:t>Arrow 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:      Injector. [IP0, IP3] </a:t>
            </a:r>
          </a:p>
          <a:p>
            <a:pPr algn="just" rtl="0" fontAlgn="base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  </a:t>
            </a:r>
            <a:r>
              <a:rPr lang="en-US" sz="1400" b="1" i="0" dirty="0">
                <a:solidFill>
                  <a:srgbClr val="FF0000"/>
                </a:solidFill>
                <a:effectLst/>
              </a:rPr>
              <a:t>Cylinder 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:  buffer [</a:t>
            </a:r>
            <a:r>
              <a:rPr lang="en-US" sz="1400" b="0" i="0" dirty="0" err="1">
                <a:solidFill>
                  <a:srgbClr val="000000"/>
                </a:solidFill>
                <a:effectLst/>
              </a:rPr>
              <a:t>temp_buffer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, 		  </a:t>
            </a:r>
            <a:r>
              <a:rPr lang="en-US" sz="1400" b="0" i="0" dirty="0" err="1">
                <a:solidFill>
                  <a:srgbClr val="000000"/>
                </a:solidFill>
                <a:effectLst/>
              </a:rPr>
              <a:t>BF_buffer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]</a:t>
            </a:r>
          </a:p>
          <a:p>
            <a:pPr algn="just" rtl="0" fontAlgn="base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  </a:t>
            </a:r>
            <a:r>
              <a:rPr lang="en-US" sz="1400" b="1" i="0" dirty="0">
                <a:solidFill>
                  <a:srgbClr val="FF0000"/>
                </a:solidFill>
                <a:effectLst/>
              </a:rPr>
              <a:t>Trapezium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 :  arbiter [</a:t>
            </a:r>
            <a:r>
              <a:rPr lang="en-US" sz="1400" b="0" i="0" dirty="0" err="1">
                <a:solidFill>
                  <a:srgbClr val="000000"/>
                </a:solidFill>
                <a:effectLst/>
              </a:rPr>
              <a:t>BF_arbiter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]</a:t>
            </a:r>
          </a:p>
          <a:p>
            <a:pPr algn="just" rtl="0" fontAlgn="base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   </a:t>
            </a:r>
            <a:r>
              <a:rPr lang="en-US" sz="1400" b="1" i="0" dirty="0">
                <a:solidFill>
                  <a:srgbClr val="FF0000"/>
                </a:solidFill>
                <a:effectLst/>
              </a:rPr>
              <a:t>Circle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 : server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67D012-730A-FDAA-15AD-48452D16B74A}"/>
              </a:ext>
            </a:extLst>
          </p:cNvPr>
          <p:cNvSpPr txBox="1"/>
          <p:nvPr/>
        </p:nvSpPr>
        <p:spPr>
          <a:xfrm>
            <a:off x="5178731" y="1118282"/>
            <a:ext cx="648964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IP0 , IP3 are injectors[type: source]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injected into </a:t>
            </a:r>
            <a:r>
              <a:rPr lang="en-US" dirty="0" err="1"/>
              <a:t>temp_buffer</a:t>
            </a:r>
            <a:r>
              <a:rPr lang="en-US" dirty="0"/>
              <a:t>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BF’s </a:t>
            </a:r>
            <a:r>
              <a:rPr lang="en-US" b="1" dirty="0" err="1">
                <a:highlight>
                  <a:srgbClr val="FFFF00"/>
                </a:highlight>
              </a:rPr>
              <a:t>zero_load</a:t>
            </a:r>
            <a:r>
              <a:rPr lang="en-US" b="1" dirty="0">
                <a:highlight>
                  <a:srgbClr val="FFFF00"/>
                </a:highlight>
              </a:rPr>
              <a:t> = 1 </a:t>
            </a:r>
            <a:r>
              <a:rPr lang="en-US" dirty="0"/>
              <a:t>represents </a:t>
            </a:r>
            <a:r>
              <a:rPr lang="en-US" b="1" dirty="0">
                <a:highlight>
                  <a:srgbClr val="FFFF00"/>
                </a:highlight>
              </a:rPr>
              <a:t>fixed one cycle </a:t>
            </a:r>
            <a:r>
              <a:rPr lang="en-US" dirty="0"/>
              <a:t>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IP3 traverses </a:t>
            </a:r>
            <a:r>
              <a:rPr lang="en-US" altLang="en-US" sz="1600" b="1" dirty="0">
                <a:latin typeface="Aptos" panose="020B0004020202020204" pitchFamily="34" charset="0"/>
              </a:rPr>
              <a:t>BF3 → BF2 → BF1 → BF0 → Die0  </a:t>
            </a:r>
            <a:r>
              <a:rPr lang="en-US" altLang="en-US" sz="1600" dirty="0">
                <a:latin typeface="Aptos" panose="020B0004020202020204" pitchFamily="34" charset="0"/>
              </a:rPr>
              <a:t>so </a:t>
            </a:r>
            <a:r>
              <a:rPr lang="en-US" altLang="en-US" sz="1600" b="1" dirty="0">
                <a:latin typeface="Aptos" panose="020B0004020202020204" pitchFamily="34" charset="0"/>
              </a:rPr>
              <a:t>IP3’s</a:t>
            </a:r>
            <a:r>
              <a:rPr lang="en-US" altLang="en-US" sz="1600" dirty="0">
                <a:latin typeface="Aptos" panose="020B0004020202020204" pitchFamily="34" charset="0"/>
              </a:rPr>
              <a:t> </a:t>
            </a:r>
            <a:r>
              <a:rPr lang="en-US" altLang="en-US" sz="1600" b="1" dirty="0">
                <a:latin typeface="Aptos" panose="020B0004020202020204" pitchFamily="34" charset="0"/>
              </a:rPr>
              <a:t>end-to-end</a:t>
            </a:r>
            <a:r>
              <a:rPr lang="en-US" altLang="en-US" sz="1600" dirty="0">
                <a:latin typeface="Aptos" panose="020B0004020202020204" pitchFamily="34" charset="0"/>
              </a:rPr>
              <a:t> </a:t>
            </a:r>
            <a:r>
              <a:rPr lang="en-US" altLang="en-US" sz="1600" b="1" dirty="0">
                <a:latin typeface="Aptos" panose="020B0004020202020204" pitchFamily="34" charset="0"/>
              </a:rPr>
              <a:t>latency</a:t>
            </a:r>
            <a:r>
              <a:rPr lang="en-US" altLang="en-US" sz="1600" dirty="0">
                <a:latin typeface="Aptos" panose="020B0004020202020204" pitchFamily="34" charset="0"/>
              </a:rPr>
              <a:t> = W(temp_buffer0) + W(BF3) + W(BF2) + W(BF1) + W(BF0)</a:t>
            </a:r>
            <a:endParaRPr lang="en-US" altLang="en-US" sz="1400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IP0 traverses </a:t>
            </a:r>
            <a:r>
              <a:rPr lang="en-US" altLang="en-US" sz="1600" b="1" dirty="0">
                <a:latin typeface="Aptos" panose="020B0004020202020204" pitchFamily="34" charset="0"/>
              </a:rPr>
              <a:t>BF0 → Die0 </a:t>
            </a:r>
            <a:r>
              <a:rPr lang="en-US" altLang="en-US" sz="1600" dirty="0">
                <a:latin typeface="Aptos" panose="020B0004020202020204" pitchFamily="34" charset="0"/>
              </a:rPr>
              <a:t>so </a:t>
            </a:r>
            <a:r>
              <a:rPr lang="en-US" altLang="en-US" sz="1600" b="1" dirty="0">
                <a:latin typeface="Aptos" panose="020B0004020202020204" pitchFamily="34" charset="0"/>
              </a:rPr>
              <a:t>IP0’s end-to-end  latency </a:t>
            </a:r>
            <a:r>
              <a:rPr lang="en-US" altLang="en-US" sz="1600" dirty="0">
                <a:latin typeface="Aptos" panose="020B0004020202020204" pitchFamily="34" charset="0"/>
              </a:rPr>
              <a:t>= W(temp_buffer1) + W(BF0)</a:t>
            </a:r>
            <a:endParaRPr lang="en-US" altLang="en-US" sz="1400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4BE7135B-AC8E-FEE2-FF15-5F947F39E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64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D041-0DF2-3FDB-ADF7-4F5A5E65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68" y="228601"/>
            <a:ext cx="6282592" cy="813815"/>
          </a:xfr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sz="2800" b="1" dirty="0"/>
              <a:t>Cycle-accurate </a:t>
            </a:r>
            <a:r>
              <a:rPr lang="en-US" sz="2800" b="1" dirty="0">
                <a:solidFill>
                  <a:srgbClr val="00B050"/>
                </a:solidFill>
              </a:rPr>
              <a:t>Simulation Vs </a:t>
            </a:r>
            <a:r>
              <a:rPr lang="en-US" sz="2800" b="1" dirty="0" err="1">
                <a:solidFill>
                  <a:srgbClr val="00B050"/>
                </a:solidFill>
              </a:rPr>
              <a:t>FlexNoC</a:t>
            </a:r>
            <a:r>
              <a:rPr lang="en-US" sz="2800" b="1" dirty="0">
                <a:solidFill>
                  <a:srgbClr val="00B050"/>
                </a:solidFill>
              </a:rPr>
              <a:t> </a:t>
            </a:r>
            <a:r>
              <a:rPr lang="en-US" sz="2800" b="1" dirty="0"/>
              <a:t>for the given Configuration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F05B52-1DF3-63E0-514B-8A29CE4266EA}"/>
              </a:ext>
            </a:extLst>
          </p:cNvPr>
          <p:cNvSpPr txBox="1"/>
          <p:nvPr/>
        </p:nvSpPr>
        <p:spPr>
          <a:xfrm>
            <a:off x="7064828" y="5164825"/>
            <a:ext cx="4758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Latency comparison between cycle-accurate simulation and </a:t>
            </a:r>
            <a:r>
              <a:rPr lang="en-US" sz="1600" b="1" dirty="0" err="1"/>
              <a:t>FlexNoC</a:t>
            </a:r>
            <a:r>
              <a:rPr lang="en-US" sz="1600" b="1" dirty="0"/>
              <a:t> for IP0 and IP3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9B1ADE-BE0C-8204-8379-83BA245EB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77" y="1108400"/>
            <a:ext cx="6282592" cy="3176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752AC9-1D68-834D-061E-DEE7A3182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9" t="4514" r="4696"/>
          <a:stretch>
            <a:fillRect/>
          </a:stretch>
        </p:blipFill>
        <p:spPr>
          <a:xfrm>
            <a:off x="6546646" y="228601"/>
            <a:ext cx="5123116" cy="47748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2829D2-829D-FA4D-B5AD-D637FFB5A700}"/>
              </a:ext>
            </a:extLst>
          </p:cNvPr>
          <p:cNvSpPr txBox="1"/>
          <p:nvPr/>
        </p:nvSpPr>
        <p:spPr>
          <a:xfrm>
            <a:off x="7064828" y="5910929"/>
            <a:ext cx="1800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MAPE ≈ 0.20%</a:t>
            </a:r>
            <a:endParaRPr lang="en-US" altLang="en-US" b="1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en-US" sz="1400" b="1" dirty="0">
                <a:latin typeface="Arial" panose="020B0604020202020204" pitchFamily="34" charset="0"/>
              </a:rPr>
              <a:t>MAE ≈ 0.03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D69AF-75D7-46C9-6A3D-22C3567BAE99}"/>
              </a:ext>
            </a:extLst>
          </p:cNvPr>
          <p:cNvSpPr txBox="1"/>
          <p:nvPr/>
        </p:nvSpPr>
        <p:spPr>
          <a:xfrm>
            <a:off x="127468" y="4321075"/>
            <a:ext cx="62825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Cycle accurate simulator construction</a:t>
            </a: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Discrete-time model (Each loop = 1 clock cycle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Packets injected at IP0/IP3 (injection rate-based), queued separately.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IP3 has fixed pipeline delay (BF3→BF2→BF1).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BF0–Die0 modeled as single server with fixed service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Latency is measured from injection to exit at Die0, and average latency is computed over all packets.</a:t>
            </a:r>
            <a:endParaRPr lang="en-US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E50CD-F39A-ADAE-0033-54E3DC37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Action Button: Document 9">
            <a:hlinkClick r:id="rId4" highlightClick="1"/>
            <a:extLst>
              <a:ext uri="{FF2B5EF4-FFF2-40B4-BE49-F238E27FC236}">
                <a16:creationId xmlns:a16="http://schemas.microsoft.com/office/drawing/2014/main" id="{5801FD60-D32D-1E7E-1218-C8CCD7AD9471}"/>
              </a:ext>
            </a:extLst>
          </p:cNvPr>
          <p:cNvSpPr/>
          <p:nvPr/>
        </p:nvSpPr>
        <p:spPr>
          <a:xfrm>
            <a:off x="8980714" y="5998029"/>
            <a:ext cx="539409" cy="584775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EE3AA2-4612-5653-671B-3E4EA33DCE46}"/>
              </a:ext>
            </a:extLst>
          </p:cNvPr>
          <p:cNvSpPr txBox="1"/>
          <p:nvPr/>
        </p:nvSpPr>
        <p:spPr>
          <a:xfrm>
            <a:off x="9655629" y="5998029"/>
            <a:ext cx="169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GitHub link</a:t>
            </a:r>
          </a:p>
        </p:txBody>
      </p:sp>
    </p:spTree>
    <p:extLst>
      <p:ext uri="{BB962C8B-B14F-4D97-AF65-F5344CB8AC3E}">
        <p14:creationId xmlns:p14="http://schemas.microsoft.com/office/powerpoint/2010/main" val="75216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388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Updates on Modeling Bus-based Fabric</vt:lpstr>
      <vt:lpstr>Agenda</vt:lpstr>
      <vt:lpstr>PowerPoint Presentation</vt:lpstr>
      <vt:lpstr>Cycle-accurate Simulation Vs FlexNoC for the given Configuration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2</cp:revision>
  <dcterms:created xsi:type="dcterms:W3CDTF">2026-01-26T11:37:49Z</dcterms:created>
  <dcterms:modified xsi:type="dcterms:W3CDTF">2026-02-03T16:21:53Z</dcterms:modified>
</cp:coreProperties>
</file>