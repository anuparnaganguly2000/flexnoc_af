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2" r:id="rId2"/>
    <p:sldId id="260" r:id="rId3"/>
    <p:sldId id="261" r:id="rId4"/>
    <p:sldId id="258" r:id="rId5"/>
    <p:sldId id="257" r:id="rId6"/>
    <p:sldId id="259" r:id="rId7"/>
    <p:sldId id="25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315FD-A8B1-40C0-88BF-57F339EC5A36}" v="1" dt="2026-02-19T03:53:19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88862-0398-42F6-99D2-BF1DBE77D5C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F41806-5B8B-4009-BE05-6575C77F2F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462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95F14-C185-4528-BF58-B4E0F3A8DD5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7469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ADF48-BDC2-7C2A-618D-8D5D67B79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E6BBB7-C86D-F7A5-DC00-2898840A9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CDC2B0-1325-6590-9F22-49AB804729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19DB8-05CE-F5A6-4E6A-3F4AD095E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95F14-C185-4528-BF58-B4E0F3A8DD5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7344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63D9-7020-CCC9-289E-D56F8A7732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B8115B-43D7-E5CE-C632-A5A28D2D1C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C3568-965E-39C7-8B7E-23DDA43D5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720D3-F0A0-7B25-762D-AF3FC8AB4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69C2F-A82C-0553-D388-2A1B57FA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600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AD38A-E4B4-C51A-C6DB-601F24A59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903AF-9C1A-AD24-B71D-B8EE9CAC0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7A2C1D-13B3-9814-DADE-4C35C083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C03845-4C45-2EC6-10C1-9E4683A8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D8EC0-8144-F726-EDB1-354A6A83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450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4BB5-8143-033F-4E0D-918F5E3A2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A14C73-876F-C023-2054-179EA6341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99E93-0D9D-D93E-EC0E-EB6477CDE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4EF5A4-4390-0072-6D08-C6D7681D8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1F517-B8B9-47CF-ABA1-8E24890D1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083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D4E40-2B53-9FA1-0D4E-EB84682B8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873D4-AE30-92CC-0C20-7CBE4BB284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53C51E-1702-EAFE-0852-B1A7107E53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290368-B1D6-D969-2110-FBA769055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4F362-7071-3437-F861-461D7A3E2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DD77A-0ABE-33E6-099C-09A57C86F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156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29A16-D98E-3BBF-20E2-81B3A4FA1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834DE-7687-76AD-5ECA-2083EE22D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7C508B-0797-003D-CEAD-C4645827A4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B322B6-E071-137F-720D-C043F6F3B0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37FE7A-B934-3A9C-9504-400E6BB66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02469C-2005-EE34-EE50-C3300A1D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DC448D-196B-0698-CEF7-0106F11CE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63FDD0-1203-CF1B-49C1-47D714853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97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6400-3F70-CC8A-6F35-D5ECB1DAB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8218B9-CF9A-D993-BC23-2B78C69BD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7B8A1-3945-278E-D07F-ECF5DCB0F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EC3434-C3CC-796D-0936-FEC00C54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27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0E4EE6-F3F0-1B25-93E3-6F1B0413A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5FEF5-9EE0-40DB-F38A-A8CE089C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007FE-DFBD-C8CF-0D79-065F738D7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880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89AA5-4127-EEB1-B5B1-B6D38037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6B9B1-134D-543F-5D6D-1DB0EFE31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CED58-FE76-E651-2D4E-A863A6C6F5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528289-EBCB-1AE0-282D-42F2690C8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9A210-6012-323C-8F15-6126DA8E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4B098D-C004-6C41-DAC1-EA4A28EDA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1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1B4D3-8220-0132-D6FD-756A01B44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3C77A4-E0BB-4908-019A-E4CDD927A1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3D9E05-DEF2-7D70-EC74-25D8F668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58F41-D655-43FA-15F9-0A02CB9F2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2C762-13DF-1A87-02D2-EE821304E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7B27D2-2C85-68DE-8D09-403170007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59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29D1F-5B08-D851-0755-4C2C4D7E3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C32C7C-6C27-383C-15D5-0EB26E264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516DA-8E61-77C6-59A1-1E02DA45D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32D2-4EB5-3EA8-CADD-4290B0096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76A78-EB3D-57FE-55A3-7F222FCB6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120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FB9DFD-1051-6A7F-1707-6B08F1F078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44B04-07AD-0AFC-3061-004C1BEA01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DF88E-EB30-EFD9-8AD7-2DCEA8FA8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F8286-D774-EA38-54B6-56D1227E6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5C0E9-DAD3-F221-16C6-300AAA138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67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79CD41-3DB3-F1CA-3C5A-DF48246FE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F8C256-E252-6AA9-63FA-D80B39050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4846A-B02E-8271-AB43-54953C3563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10A85F-93D0-4F6A-90CF-363D846DF318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D3DAE-1821-8E99-6B62-43F63B2DA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4D42-DEB6-849D-5B68-5FB869345B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780D3C-F5AA-44D7-B3B5-8104147A7C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038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C53FE-DC70-750B-4A02-A139913541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Bus-based Fabric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F520C67-669D-9EB3-7C9C-E536DC4DDF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Anuparna Ganguly</a:t>
            </a:r>
          </a:p>
          <a:p>
            <a:r>
              <a:rPr lang="en-US" b="1" dirty="0">
                <a:solidFill>
                  <a:srgbClr val="00B050"/>
                </a:solidFill>
              </a:rPr>
              <a:t>18/02/2026</a:t>
            </a:r>
          </a:p>
        </p:txBody>
      </p:sp>
    </p:spTree>
    <p:extLst>
      <p:ext uri="{BB962C8B-B14F-4D97-AF65-F5344CB8AC3E}">
        <p14:creationId xmlns:p14="http://schemas.microsoft.com/office/powerpoint/2010/main" val="1530144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7B81CD1-3FE8-F988-9731-F2B061B6DBE8}"/>
              </a:ext>
            </a:extLst>
          </p:cNvPr>
          <p:cNvSpPr txBox="1"/>
          <p:nvPr/>
        </p:nvSpPr>
        <p:spPr>
          <a:xfrm>
            <a:off x="0" y="3736180"/>
            <a:ext cx="45621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Buffer size = 12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IP6 is inactive and doesn’t send any packets into the fabric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65F924-A5FF-D779-AA64-3FA5421D55BE}"/>
              </a:ext>
            </a:extLst>
          </p:cNvPr>
          <p:cNvSpPr txBox="1"/>
          <p:nvPr/>
        </p:nvSpPr>
        <p:spPr>
          <a:xfrm>
            <a:off x="79963" y="59631"/>
            <a:ext cx="839675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Experiment 1 : </a:t>
            </a:r>
            <a:r>
              <a:rPr lang="en-US" sz="3200" b="1" dirty="0">
                <a:solidFill>
                  <a:srgbClr val="00B050"/>
                </a:solidFill>
              </a:rPr>
              <a:t>IP0-&gt;BF0-&gt;DIE0</a:t>
            </a:r>
            <a:r>
              <a:rPr lang="en-US" sz="3200" dirty="0"/>
              <a:t>; </a:t>
            </a:r>
            <a:r>
              <a:rPr lang="en-US" sz="3200" dirty="0">
                <a:solidFill>
                  <a:srgbClr val="FF0000"/>
                </a:solidFill>
              </a:rPr>
              <a:t>NO IP6</a:t>
            </a:r>
          </a:p>
          <a:p>
            <a:endParaRPr lang="en-IN" sz="32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40FCB0-03D1-D729-3D49-14E14926B4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904" y="845574"/>
            <a:ext cx="5255256" cy="23265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89F5F1-5A66-0A0C-91E2-E2C3737D99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513" y="850246"/>
            <a:ext cx="5466305" cy="2817402"/>
          </a:xfrm>
          <a:prstGeom prst="rect">
            <a:avLst/>
          </a:prstGeom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7E4011CD-46F3-2A68-384B-997A5A9E64C8}"/>
              </a:ext>
            </a:extLst>
          </p:cNvPr>
          <p:cNvSpPr/>
          <p:nvPr/>
        </p:nvSpPr>
        <p:spPr>
          <a:xfrm>
            <a:off x="8872695" y="3177791"/>
            <a:ext cx="381837" cy="359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D0795CF5-CE60-A603-AF5C-ED5B6C1A39DD}"/>
              </a:ext>
            </a:extLst>
          </p:cNvPr>
          <p:cNvSpPr/>
          <p:nvPr/>
        </p:nvSpPr>
        <p:spPr>
          <a:xfrm rot="5224030">
            <a:off x="5769332" y="4710749"/>
            <a:ext cx="381837" cy="359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2E103983-D4B7-FC68-C117-699B76051C4B}"/>
              </a:ext>
            </a:extLst>
          </p:cNvPr>
          <p:cNvSpPr/>
          <p:nvPr/>
        </p:nvSpPr>
        <p:spPr>
          <a:xfrm rot="10800000">
            <a:off x="1379530" y="5046726"/>
            <a:ext cx="648929" cy="67790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6933EF-A2C9-0537-BA79-CFD7EA315A5F}"/>
              </a:ext>
            </a:extLst>
          </p:cNvPr>
          <p:cNvSpPr txBox="1"/>
          <p:nvPr/>
        </p:nvSpPr>
        <p:spPr>
          <a:xfrm>
            <a:off x="3118933" y="4414859"/>
            <a:ext cx="32921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0000"/>
                </a:solidFill>
              </a:rPr>
              <a:t>o/p from </a:t>
            </a:r>
            <a:r>
              <a:rPr lang="en-IN" sz="2000" b="1" dirty="0" err="1">
                <a:solidFill>
                  <a:srgbClr val="FF0000"/>
                </a:solidFill>
              </a:rPr>
              <a:t>FlexNoC</a:t>
            </a:r>
            <a:r>
              <a:rPr lang="en-IN" sz="2000" b="1" dirty="0">
                <a:solidFill>
                  <a:srgbClr val="FF0000"/>
                </a:solidFill>
              </a:rPr>
              <a:t> </a:t>
            </a:r>
            <a:endParaRPr lang="en-IN" sz="1400" b="1" dirty="0">
              <a:solidFill>
                <a:srgbClr val="FF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3AB5FB-9BED-A212-1E35-C19A1D4315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4232" y="3692479"/>
            <a:ext cx="5467928" cy="29436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D9EE44-425C-6DFE-7889-AFA670E703B9}"/>
              </a:ext>
            </a:extLst>
          </p:cNvPr>
          <p:cNvSpPr txBox="1"/>
          <p:nvPr/>
        </p:nvSpPr>
        <p:spPr>
          <a:xfrm>
            <a:off x="8785477" y="5489206"/>
            <a:ext cx="25130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.</a:t>
            </a:r>
            <a:r>
              <a:rPr lang="en-IN" sz="2800" b="1" dirty="0">
                <a:solidFill>
                  <a:srgbClr val="FF0000"/>
                </a:solidFill>
              </a:rPr>
              <a:t>dot input file 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A712A5-8EDD-6551-0B7C-7FE02951C2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30" y="5750816"/>
            <a:ext cx="5626886" cy="94546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855BA21-BE25-A8F8-6211-C1F4351542D4}"/>
              </a:ext>
            </a:extLst>
          </p:cNvPr>
          <p:cNvSpPr txBox="1"/>
          <p:nvPr/>
        </p:nvSpPr>
        <p:spPr>
          <a:xfrm>
            <a:off x="176249" y="6377542"/>
            <a:ext cx="32921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0000"/>
                </a:solidFill>
              </a:rPr>
              <a:t>Autogenerated </a:t>
            </a:r>
            <a:r>
              <a:rPr lang="en-IN" sz="2000" b="1" dirty="0" err="1">
                <a:solidFill>
                  <a:srgbClr val="FF0000"/>
                </a:solidFill>
              </a:rPr>
              <a:t>png</a:t>
            </a:r>
            <a:r>
              <a:rPr lang="en-IN" sz="2000" b="1" dirty="0">
                <a:solidFill>
                  <a:srgbClr val="FF0000"/>
                </a:solidFill>
              </a:rPr>
              <a:t> file </a:t>
            </a:r>
            <a:endParaRPr lang="en-IN" sz="1400" b="1" dirty="0">
              <a:solidFill>
                <a:srgbClr val="FF000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617E428-EC44-D785-81F1-5451196F700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57"/>
          <a:stretch>
            <a:fillRect/>
          </a:stretch>
        </p:blipFill>
        <p:spPr>
          <a:xfrm>
            <a:off x="2231286" y="4789198"/>
            <a:ext cx="3134162" cy="67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01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27A97-5A08-684B-0453-0BDAF243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6CCEB3-F7B9-1ADC-2399-25A86065E1DE}"/>
              </a:ext>
            </a:extLst>
          </p:cNvPr>
          <p:cNvSpPr txBox="1"/>
          <p:nvPr/>
        </p:nvSpPr>
        <p:spPr>
          <a:xfrm>
            <a:off x="-38452" y="3429000"/>
            <a:ext cx="456216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Buffer size = 12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IP0 is inactive and doesn’t send any packets into the fabric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6946C2-D776-2608-3553-AC82E956C22E}"/>
              </a:ext>
            </a:extLst>
          </p:cNvPr>
          <p:cNvSpPr txBox="1"/>
          <p:nvPr/>
        </p:nvSpPr>
        <p:spPr>
          <a:xfrm>
            <a:off x="79963" y="59631"/>
            <a:ext cx="83967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Experiment 2 : </a:t>
            </a:r>
            <a:r>
              <a:rPr lang="en-US" sz="3200" b="1" dirty="0">
                <a:solidFill>
                  <a:srgbClr val="00B050"/>
                </a:solidFill>
              </a:rPr>
              <a:t>IP6-&gt;BF6-&gt;BF0-&gt;DIE0</a:t>
            </a:r>
            <a:r>
              <a:rPr lang="en-US" sz="3200" dirty="0"/>
              <a:t>; </a:t>
            </a:r>
            <a:r>
              <a:rPr lang="en-US" sz="3200" b="1" dirty="0">
                <a:solidFill>
                  <a:srgbClr val="FF0000"/>
                </a:solidFill>
              </a:rPr>
              <a:t>NO IP0</a:t>
            </a:r>
          </a:p>
          <a:p>
            <a:endParaRPr lang="en-US" sz="3200" dirty="0">
              <a:solidFill>
                <a:srgbClr val="FF0000"/>
              </a:solidFill>
            </a:endParaRPr>
          </a:p>
          <a:p>
            <a:endParaRPr lang="en-IN" sz="32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803BF9-65F7-2BAD-F060-C34577B94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904" y="845574"/>
            <a:ext cx="5255256" cy="2326589"/>
          </a:xfrm>
          <a:prstGeom prst="rect">
            <a:avLst/>
          </a:prstGeom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CBD6CA47-1832-A58B-27DA-16DCA0182375}"/>
              </a:ext>
            </a:extLst>
          </p:cNvPr>
          <p:cNvSpPr/>
          <p:nvPr/>
        </p:nvSpPr>
        <p:spPr>
          <a:xfrm>
            <a:off x="8872695" y="3177791"/>
            <a:ext cx="381837" cy="359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CB0E2E8C-BEB9-2A49-72EA-2592DA23EB8E}"/>
              </a:ext>
            </a:extLst>
          </p:cNvPr>
          <p:cNvSpPr/>
          <p:nvPr/>
        </p:nvSpPr>
        <p:spPr>
          <a:xfrm rot="5224030">
            <a:off x="5769332" y="4710749"/>
            <a:ext cx="381837" cy="35922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CFA51FFA-1F96-80CE-AF97-F1F81DC2BC92}"/>
              </a:ext>
            </a:extLst>
          </p:cNvPr>
          <p:cNvSpPr/>
          <p:nvPr/>
        </p:nvSpPr>
        <p:spPr>
          <a:xfrm rot="10800000">
            <a:off x="1317523" y="4690505"/>
            <a:ext cx="648929" cy="677908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E7B8B9-D0F5-9C42-613F-0A12CE2BB9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21" y="797188"/>
            <a:ext cx="6074770" cy="2724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3A2FF76-82F3-19B0-7FF1-34DAE9464BDF}"/>
              </a:ext>
            </a:extLst>
          </p:cNvPr>
          <p:cNvSpPr txBox="1"/>
          <p:nvPr/>
        </p:nvSpPr>
        <p:spPr>
          <a:xfrm>
            <a:off x="3319306" y="4065690"/>
            <a:ext cx="32921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0000"/>
                </a:solidFill>
              </a:rPr>
              <a:t>o/p from </a:t>
            </a:r>
            <a:r>
              <a:rPr lang="en-IN" sz="2000" b="1" dirty="0" err="1">
                <a:solidFill>
                  <a:srgbClr val="FF0000"/>
                </a:solidFill>
              </a:rPr>
              <a:t>FlexNoC</a:t>
            </a:r>
            <a:r>
              <a:rPr lang="en-IN" sz="2000" b="1" dirty="0">
                <a:solidFill>
                  <a:srgbClr val="FF0000"/>
                </a:solidFill>
              </a:rPr>
              <a:t> </a:t>
            </a:r>
            <a:endParaRPr lang="en-IN" sz="1400" b="1" dirty="0">
              <a:solidFill>
                <a:srgbClr val="FF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B039E1-4C18-DE3A-7630-22936D4031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4714" y="3600710"/>
            <a:ext cx="5403070" cy="3057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0DA647-F5DA-298F-43DF-3F99A846DB57}"/>
              </a:ext>
            </a:extLst>
          </p:cNvPr>
          <p:cNvSpPr txBox="1"/>
          <p:nvPr/>
        </p:nvSpPr>
        <p:spPr>
          <a:xfrm>
            <a:off x="8872695" y="5508439"/>
            <a:ext cx="25130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.</a:t>
            </a:r>
            <a:r>
              <a:rPr lang="en-IN" sz="2800" b="1" dirty="0">
                <a:solidFill>
                  <a:srgbClr val="FF0000"/>
                </a:solidFill>
              </a:rPr>
              <a:t>dot input file 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8661876-9D3D-5440-70C7-C269CE5431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74" y="5769863"/>
            <a:ext cx="5938325" cy="7745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DEDB3C8-023D-159E-24AF-9C6DDCAD6260}"/>
              </a:ext>
            </a:extLst>
          </p:cNvPr>
          <p:cNvSpPr txBox="1"/>
          <p:nvPr/>
        </p:nvSpPr>
        <p:spPr>
          <a:xfrm>
            <a:off x="1534174" y="6410030"/>
            <a:ext cx="32921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FF0000"/>
                </a:solidFill>
              </a:rPr>
              <a:t>Autogenerated </a:t>
            </a:r>
            <a:r>
              <a:rPr lang="en-IN" sz="2000" b="1" dirty="0" err="1">
                <a:solidFill>
                  <a:srgbClr val="FF0000"/>
                </a:solidFill>
              </a:rPr>
              <a:t>png</a:t>
            </a:r>
            <a:r>
              <a:rPr lang="en-IN" sz="2000" b="1" dirty="0">
                <a:solidFill>
                  <a:srgbClr val="FF0000"/>
                </a:solidFill>
              </a:rPr>
              <a:t> file </a:t>
            </a:r>
            <a:endParaRPr lang="en-IN" sz="1400" b="1" dirty="0">
              <a:solidFill>
                <a:srgbClr val="FF00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FBB392F-A794-449B-3685-85BAFABAB9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6031" y="4425220"/>
            <a:ext cx="3466135" cy="1168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49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60B7F-4AA5-22D0-032E-D7D3EB7F9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056EAA-8F4A-A521-B67B-F6C98D54B4DA}"/>
              </a:ext>
            </a:extLst>
          </p:cNvPr>
          <p:cNvSpPr txBox="1"/>
          <p:nvPr/>
        </p:nvSpPr>
        <p:spPr>
          <a:xfrm>
            <a:off x="0" y="23735"/>
            <a:ext cx="7580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Experiment 3(a): </a:t>
            </a:r>
            <a:r>
              <a:rPr lang="en-US" sz="2000" dirty="0"/>
              <a:t>Both</a:t>
            </a:r>
            <a:r>
              <a:rPr lang="en-US" sz="2000" b="1" dirty="0"/>
              <a:t> </a:t>
            </a:r>
            <a:r>
              <a:rPr lang="en-US" b="1" dirty="0">
                <a:solidFill>
                  <a:srgbClr val="FF0000"/>
                </a:solidFill>
              </a:rPr>
              <a:t>IP6</a:t>
            </a:r>
            <a:r>
              <a:rPr lang="en-US" dirty="0"/>
              <a:t> &amp; </a:t>
            </a:r>
            <a:r>
              <a:rPr lang="en-US" b="1" dirty="0">
                <a:solidFill>
                  <a:srgbClr val="00B050"/>
                </a:solidFill>
              </a:rPr>
              <a:t>IP0</a:t>
            </a:r>
            <a:r>
              <a:rPr lang="en-US" dirty="0"/>
              <a:t>  has lower injection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AD6E7B-3847-7456-EEAF-AB293159C3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58"/>
          <a:stretch>
            <a:fillRect/>
          </a:stretch>
        </p:blipFill>
        <p:spPr>
          <a:xfrm>
            <a:off x="6802816" y="530036"/>
            <a:ext cx="5389184" cy="24633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EA1F00-CC7D-8D5F-4344-E5D9F8287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37" y="645754"/>
            <a:ext cx="5255256" cy="2326589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3AF330F-993C-3A54-D61C-FEDC941113DC}"/>
              </a:ext>
            </a:extLst>
          </p:cNvPr>
          <p:cNvSpPr/>
          <p:nvPr/>
        </p:nvSpPr>
        <p:spPr>
          <a:xfrm>
            <a:off x="5518953" y="1478462"/>
            <a:ext cx="1206002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7C13439-4A84-4810-A9F3-CE165A3D2821}"/>
              </a:ext>
            </a:extLst>
          </p:cNvPr>
          <p:cNvSpPr/>
          <p:nvPr/>
        </p:nvSpPr>
        <p:spPr>
          <a:xfrm>
            <a:off x="9317736" y="2920473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9C47287-E103-AFC6-BDD6-750F8DFCDD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3172969"/>
            <a:ext cx="5479370" cy="950976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C17FA116-FBD2-8952-ABBD-989CB9CB1A68}"/>
              </a:ext>
            </a:extLst>
          </p:cNvPr>
          <p:cNvSpPr/>
          <p:nvPr/>
        </p:nvSpPr>
        <p:spPr>
          <a:xfrm rot="5583788">
            <a:off x="6128854" y="3699581"/>
            <a:ext cx="301752" cy="2103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C4A7BFF5-E359-BD21-0864-E15FD66547DA}"/>
              </a:ext>
            </a:extLst>
          </p:cNvPr>
          <p:cNvSpPr/>
          <p:nvPr/>
        </p:nvSpPr>
        <p:spPr>
          <a:xfrm>
            <a:off x="4541753" y="4281704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AD14F5-1346-4EDB-A789-5170F77B0CFA}"/>
              </a:ext>
            </a:extLst>
          </p:cNvPr>
          <p:cNvSpPr txBox="1"/>
          <p:nvPr/>
        </p:nvSpPr>
        <p:spPr>
          <a:xfrm>
            <a:off x="53774" y="4246226"/>
            <a:ext cx="304032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Buffer_ size  = 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 has </a:t>
            </a:r>
            <a:r>
              <a:rPr lang="en-US" sz="1400" dirty="0">
                <a:solidFill>
                  <a:srgbClr val="00B050"/>
                </a:solidFill>
              </a:rPr>
              <a:t>higher priority </a:t>
            </a:r>
            <a:r>
              <a:rPr lang="en-US" sz="1400" dirty="0"/>
              <a:t>than IP6.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IP0 ‘s end-to-end latency </a:t>
            </a:r>
            <a:r>
              <a:rPr lang="en-US" sz="1400" dirty="0"/>
              <a:t>= queue waiting time + pipeline delay = 0(BF0 -&gt; DIE0) + 34 = 34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IP0’s waiting time 0 as IP0 has high priority, </a:t>
            </a:r>
            <a:r>
              <a:rPr lang="en-US" sz="1400" b="1" dirty="0"/>
              <a:t>need not to wait</a:t>
            </a:r>
            <a:r>
              <a:rPr lang="en-US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IP6 ‘s end-to-end latency </a:t>
            </a:r>
            <a:r>
              <a:rPr lang="en-US" sz="1400" dirty="0"/>
              <a:t>= queue waiting time + pipeline delay = 0.05 +25(BF6 -&gt; BF0) + 34 (BF0 -&gt; DIE0)= 59.05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7F5D513E-2FC7-E9FE-81AF-FCA87E1DDBDB}"/>
              </a:ext>
            </a:extLst>
          </p:cNvPr>
          <p:cNvSpPr/>
          <p:nvPr/>
        </p:nvSpPr>
        <p:spPr>
          <a:xfrm rot="5400000">
            <a:off x="2830690" y="4984102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F7D7A8-185E-0D08-0EF6-662AB282EE9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255" r="46487"/>
          <a:stretch>
            <a:fillRect/>
          </a:stretch>
        </p:blipFill>
        <p:spPr>
          <a:xfrm>
            <a:off x="3237521" y="4811737"/>
            <a:ext cx="3542984" cy="1061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E9EC3A-0189-B4E8-9345-04F9118B67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9598" y="3337560"/>
            <a:ext cx="5038628" cy="3364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016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566383-3AAE-0393-0751-DB435B6A65E6}"/>
              </a:ext>
            </a:extLst>
          </p:cNvPr>
          <p:cNvSpPr txBox="1"/>
          <p:nvPr/>
        </p:nvSpPr>
        <p:spPr>
          <a:xfrm>
            <a:off x="0" y="23735"/>
            <a:ext cx="7580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Experiment 3(b): </a:t>
            </a:r>
            <a:r>
              <a:rPr lang="en-US" b="1" dirty="0">
                <a:solidFill>
                  <a:srgbClr val="FF0000"/>
                </a:solidFill>
              </a:rPr>
              <a:t>IP6</a:t>
            </a:r>
            <a:r>
              <a:rPr lang="en-US" dirty="0"/>
              <a:t> has lower injection rate &amp; </a:t>
            </a:r>
            <a:r>
              <a:rPr lang="en-US" b="1" dirty="0">
                <a:solidFill>
                  <a:srgbClr val="00B050"/>
                </a:solidFill>
              </a:rPr>
              <a:t>IP0</a:t>
            </a:r>
            <a:r>
              <a:rPr lang="en-US" dirty="0"/>
              <a:t> has high injection rate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C46DF-2827-6BF8-06D3-CD6D1B7AD6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58"/>
          <a:stretch>
            <a:fillRect/>
          </a:stretch>
        </p:blipFill>
        <p:spPr>
          <a:xfrm>
            <a:off x="6802816" y="530036"/>
            <a:ext cx="5389184" cy="24633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BA2665-3B55-4F9A-CBCC-0B741DBC9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051" y="3236976"/>
            <a:ext cx="5479370" cy="32951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981D6D-5F18-9F06-81BE-FB154D957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37" y="645754"/>
            <a:ext cx="5255256" cy="2326589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2C0DD791-8509-DF21-CF24-8A2889D121A0}"/>
              </a:ext>
            </a:extLst>
          </p:cNvPr>
          <p:cNvSpPr/>
          <p:nvPr/>
        </p:nvSpPr>
        <p:spPr>
          <a:xfrm>
            <a:off x="5518953" y="1478462"/>
            <a:ext cx="1206002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8E1D6239-B3D6-911E-4BE0-3C02D5A2127D}"/>
              </a:ext>
            </a:extLst>
          </p:cNvPr>
          <p:cNvSpPr/>
          <p:nvPr/>
        </p:nvSpPr>
        <p:spPr>
          <a:xfrm>
            <a:off x="9317736" y="2920473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472372E-7BC1-CEC6-556A-30EC7137FD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3172969"/>
            <a:ext cx="5479370" cy="950976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4F9E6262-8711-5DE0-7962-DF1AB69E057D}"/>
              </a:ext>
            </a:extLst>
          </p:cNvPr>
          <p:cNvSpPr/>
          <p:nvPr/>
        </p:nvSpPr>
        <p:spPr>
          <a:xfrm rot="5583788">
            <a:off x="6128854" y="3699581"/>
            <a:ext cx="301752" cy="2103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0E745845-92D6-CB9B-1407-98A5BA941B12}"/>
              </a:ext>
            </a:extLst>
          </p:cNvPr>
          <p:cNvSpPr/>
          <p:nvPr/>
        </p:nvSpPr>
        <p:spPr>
          <a:xfrm>
            <a:off x="4541753" y="4281704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4ABC31D-4A7B-0A77-C954-6B1B6721E4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9350" y="4920365"/>
            <a:ext cx="3153452" cy="11050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3CC049A-533B-30A1-A421-2691DB1DBCDC}"/>
              </a:ext>
            </a:extLst>
          </p:cNvPr>
          <p:cNvSpPr txBox="1"/>
          <p:nvPr/>
        </p:nvSpPr>
        <p:spPr>
          <a:xfrm>
            <a:off x="53774" y="4246226"/>
            <a:ext cx="286825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Buffer_ size  = 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 has </a:t>
            </a:r>
            <a:r>
              <a:rPr lang="en-US" sz="1400" dirty="0">
                <a:solidFill>
                  <a:srgbClr val="00B050"/>
                </a:solidFill>
              </a:rPr>
              <a:t>higher priority </a:t>
            </a:r>
            <a:r>
              <a:rPr lang="en-US" sz="1400" dirty="0"/>
              <a:t>than IP6.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IP0 ‘s end-to-end latency </a:t>
            </a:r>
            <a:r>
              <a:rPr lang="en-US" sz="1400" dirty="0"/>
              <a:t>= queue waiting time + pipeline delay = 0(BF0 -&gt; DIE0) + 34 = 34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IP0’s waiting time 0 as IP0 has high priority, </a:t>
            </a:r>
            <a:r>
              <a:rPr lang="en-US" sz="1400" b="1" dirty="0"/>
              <a:t>need not to wait</a:t>
            </a:r>
            <a:r>
              <a:rPr lang="en-US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IP6 ‘s end-to-end latency </a:t>
            </a:r>
            <a:r>
              <a:rPr lang="en-US" sz="1400" dirty="0"/>
              <a:t>= queue waiting time + pipeline delay = 1.11 +25(BF6 -&gt; BF0) + 34 (BF0 -&gt; DIE0)= 60.11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AAD7476D-328F-2AF7-1916-B4C521708F06}"/>
              </a:ext>
            </a:extLst>
          </p:cNvPr>
          <p:cNvSpPr/>
          <p:nvPr/>
        </p:nvSpPr>
        <p:spPr>
          <a:xfrm rot="5400000">
            <a:off x="2830690" y="4984102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327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2020E-D85A-7B64-ED8B-2F5634CB1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2AEEC4-5E0A-99A6-BA52-AEBBEBEA717E}"/>
              </a:ext>
            </a:extLst>
          </p:cNvPr>
          <p:cNvSpPr txBox="1"/>
          <p:nvPr/>
        </p:nvSpPr>
        <p:spPr>
          <a:xfrm>
            <a:off x="0" y="23735"/>
            <a:ext cx="7580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Experiment 3(b): Both </a:t>
            </a:r>
            <a:r>
              <a:rPr lang="en-US" b="1" dirty="0">
                <a:solidFill>
                  <a:srgbClr val="FF0000"/>
                </a:solidFill>
              </a:rPr>
              <a:t>IP6</a:t>
            </a:r>
            <a:r>
              <a:rPr lang="en-US" dirty="0"/>
              <a:t> &amp; </a:t>
            </a:r>
            <a:r>
              <a:rPr lang="en-US" b="1" dirty="0">
                <a:solidFill>
                  <a:srgbClr val="00B050"/>
                </a:solidFill>
              </a:rPr>
              <a:t>IP0</a:t>
            </a:r>
            <a:r>
              <a:rPr lang="en-US" dirty="0"/>
              <a:t> has high injection rate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B6EC57-5052-9C35-15C0-6B67CF145A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58"/>
          <a:stretch>
            <a:fillRect/>
          </a:stretch>
        </p:blipFill>
        <p:spPr>
          <a:xfrm>
            <a:off x="6802816" y="530036"/>
            <a:ext cx="5389184" cy="24633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24BDC5-C456-428E-F24A-B932263FD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37" y="645754"/>
            <a:ext cx="5255256" cy="2326589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785F27C-3823-E734-D148-5E0B6A88E745}"/>
              </a:ext>
            </a:extLst>
          </p:cNvPr>
          <p:cNvSpPr/>
          <p:nvPr/>
        </p:nvSpPr>
        <p:spPr>
          <a:xfrm>
            <a:off x="5518953" y="1478462"/>
            <a:ext cx="1206002" cy="420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7E0DECE8-8555-53FC-7B01-7FA565CB4EB3}"/>
              </a:ext>
            </a:extLst>
          </p:cNvPr>
          <p:cNvSpPr/>
          <p:nvPr/>
        </p:nvSpPr>
        <p:spPr>
          <a:xfrm>
            <a:off x="9317736" y="2920473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5830CE-2BCB-33C4-C6B8-C6F15D406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3172969"/>
            <a:ext cx="5479370" cy="950976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0D7C85DA-7D0B-C66E-42B1-4E1DDBC7C959}"/>
              </a:ext>
            </a:extLst>
          </p:cNvPr>
          <p:cNvSpPr/>
          <p:nvPr/>
        </p:nvSpPr>
        <p:spPr>
          <a:xfrm rot="5583788">
            <a:off x="6128854" y="3699581"/>
            <a:ext cx="301752" cy="2103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0D0F8CD4-DF2F-2458-0040-33F41C8DC248}"/>
              </a:ext>
            </a:extLst>
          </p:cNvPr>
          <p:cNvSpPr/>
          <p:nvPr/>
        </p:nvSpPr>
        <p:spPr>
          <a:xfrm>
            <a:off x="4541753" y="4281704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6188CB-78D5-8525-0CDA-32E1FABC2120}"/>
              </a:ext>
            </a:extLst>
          </p:cNvPr>
          <p:cNvSpPr txBox="1"/>
          <p:nvPr/>
        </p:nvSpPr>
        <p:spPr>
          <a:xfrm>
            <a:off x="53774" y="4246226"/>
            <a:ext cx="286825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Buffer_ size  = 12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 has </a:t>
            </a:r>
            <a:r>
              <a:rPr lang="en-US" sz="1400" dirty="0">
                <a:solidFill>
                  <a:srgbClr val="00B050"/>
                </a:solidFill>
              </a:rPr>
              <a:t>higher priority </a:t>
            </a:r>
            <a:r>
              <a:rPr lang="en-US" sz="1400" dirty="0"/>
              <a:t>than IP6.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IP0 ‘s end-to-end latency </a:t>
            </a:r>
            <a:r>
              <a:rPr lang="en-US" sz="1400" dirty="0"/>
              <a:t>= queue waiting time + pipeline delay = 0(BF0 -&gt; DIE0) + 34 = 34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IP0’s waiting time 0 as IP0 has high priority, </a:t>
            </a:r>
            <a:r>
              <a:rPr lang="en-US" sz="1400" b="1" dirty="0"/>
              <a:t>need not to wait</a:t>
            </a:r>
            <a:r>
              <a:rPr lang="en-US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/>
              <a:t>IP6 ‘s end-to-end latency </a:t>
            </a:r>
            <a:r>
              <a:rPr lang="en-US" sz="1400" dirty="0"/>
              <a:t>= queue waiting time + pipeline delay = 5 +25(BF6 -&gt; BF0) + 34 (BF0 -&gt; DIE0)= 64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45A26599-F3DD-B432-1429-DB78CDB9621E}"/>
              </a:ext>
            </a:extLst>
          </p:cNvPr>
          <p:cNvSpPr/>
          <p:nvPr/>
        </p:nvSpPr>
        <p:spPr>
          <a:xfrm rot="5400000">
            <a:off x="2830690" y="4984102"/>
            <a:ext cx="274320" cy="2524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3C7C2F-E1E9-01D5-3D5A-83C6622086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731"/>
          <a:stretch>
            <a:fillRect/>
          </a:stretch>
        </p:blipFill>
        <p:spPr>
          <a:xfrm>
            <a:off x="3362161" y="4817375"/>
            <a:ext cx="3362794" cy="1160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FD7C6D-7C54-D899-E09F-47832F6D73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567" y="3285253"/>
            <a:ext cx="5331659" cy="3375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372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6EC6E1-1B29-18FF-DC28-710734E453AE}"/>
              </a:ext>
            </a:extLst>
          </p:cNvPr>
          <p:cNvSpPr/>
          <p:nvPr/>
        </p:nvSpPr>
        <p:spPr>
          <a:xfrm rot="5400000">
            <a:off x="2600250" y="1163266"/>
            <a:ext cx="1463039" cy="251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F9FD66-C36A-3220-C55F-5C101790CCE6}"/>
              </a:ext>
            </a:extLst>
          </p:cNvPr>
          <p:cNvGrpSpPr/>
          <p:nvPr/>
        </p:nvGrpSpPr>
        <p:grpSpPr>
          <a:xfrm rot="5400000">
            <a:off x="2118369" y="2290984"/>
            <a:ext cx="203896" cy="289293"/>
            <a:chOff x="5296757" y="6077632"/>
            <a:chExt cx="203896" cy="28929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FCE6A3-5AD4-21C6-4830-754B40D4863D}"/>
                </a:ext>
              </a:extLst>
            </p:cNvPr>
            <p:cNvSpPr/>
            <p:nvPr/>
          </p:nvSpPr>
          <p:spPr>
            <a:xfrm>
              <a:off x="5296757" y="6077632"/>
              <a:ext cx="203896" cy="2892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1F6FA80-A7B3-1517-0447-F7268CEEF7E9}"/>
                </a:ext>
              </a:extLst>
            </p:cNvPr>
            <p:cNvGrpSpPr/>
            <p:nvPr/>
          </p:nvGrpSpPr>
          <p:grpSpPr>
            <a:xfrm>
              <a:off x="5296757" y="6077632"/>
              <a:ext cx="203896" cy="281883"/>
              <a:chOff x="3659026" y="5581650"/>
              <a:chExt cx="203896" cy="281883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26F7B9F-F0C7-CF31-9F74-0543446A0060}"/>
                  </a:ext>
                </a:extLst>
              </p:cNvPr>
              <p:cNvSpPr/>
              <p:nvPr/>
            </p:nvSpPr>
            <p:spPr>
              <a:xfrm>
                <a:off x="3659026" y="5581650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614EBEB-DD3F-3673-90BB-584F22552A0C}"/>
                  </a:ext>
                </a:extLst>
              </p:cNvPr>
              <p:cNvSpPr/>
              <p:nvPr/>
            </p:nvSpPr>
            <p:spPr>
              <a:xfrm>
                <a:off x="3659026" y="5638162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439838A-BECF-D0E9-ADBA-6C6FF257C608}"/>
                  </a:ext>
                </a:extLst>
              </p:cNvPr>
              <p:cNvSpPr/>
              <p:nvPr/>
            </p:nvSpPr>
            <p:spPr>
              <a:xfrm>
                <a:off x="3659026" y="5694674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65795DC-1CC0-4A14-94CD-39BBB28709DB}"/>
                  </a:ext>
                </a:extLst>
              </p:cNvPr>
              <p:cNvSpPr/>
              <p:nvPr/>
            </p:nvSpPr>
            <p:spPr>
              <a:xfrm>
                <a:off x="3659026" y="5751186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75FD9D6-0A39-8DD0-2C99-304EDFDD3138}"/>
                  </a:ext>
                </a:extLst>
              </p:cNvPr>
              <p:cNvSpPr/>
              <p:nvPr/>
            </p:nvSpPr>
            <p:spPr>
              <a:xfrm>
                <a:off x="3659026" y="5816177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1452896-A453-9EEC-E993-81A45F5351B1}"/>
              </a:ext>
            </a:extLst>
          </p:cNvPr>
          <p:cNvGrpSpPr/>
          <p:nvPr/>
        </p:nvGrpSpPr>
        <p:grpSpPr>
          <a:xfrm rot="5400000">
            <a:off x="4320940" y="2290985"/>
            <a:ext cx="203896" cy="289293"/>
            <a:chOff x="5296757" y="6077632"/>
            <a:chExt cx="203896" cy="289293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9E76C1-65D8-C1D2-41F7-A3E2AF774382}"/>
                </a:ext>
              </a:extLst>
            </p:cNvPr>
            <p:cNvSpPr/>
            <p:nvPr/>
          </p:nvSpPr>
          <p:spPr>
            <a:xfrm>
              <a:off x="5296757" y="6077632"/>
              <a:ext cx="203896" cy="2892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DE000B2-A2CA-D719-F85A-146ABD4BC48D}"/>
                </a:ext>
              </a:extLst>
            </p:cNvPr>
            <p:cNvGrpSpPr/>
            <p:nvPr/>
          </p:nvGrpSpPr>
          <p:grpSpPr>
            <a:xfrm>
              <a:off x="5296757" y="6077632"/>
              <a:ext cx="203896" cy="281883"/>
              <a:chOff x="3659026" y="5581650"/>
              <a:chExt cx="203896" cy="281883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4C3D4B9-FD88-5D23-F0D5-70214B2A40FD}"/>
                  </a:ext>
                </a:extLst>
              </p:cNvPr>
              <p:cNvSpPr/>
              <p:nvPr/>
            </p:nvSpPr>
            <p:spPr>
              <a:xfrm>
                <a:off x="3659026" y="5581650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8A6695A-59FE-A83E-0687-6D880AB8266C}"/>
                  </a:ext>
                </a:extLst>
              </p:cNvPr>
              <p:cNvSpPr/>
              <p:nvPr/>
            </p:nvSpPr>
            <p:spPr>
              <a:xfrm>
                <a:off x="3659026" y="5638162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6ECE8F7-F359-DCEF-0E65-37760DB0D812}"/>
                  </a:ext>
                </a:extLst>
              </p:cNvPr>
              <p:cNvSpPr/>
              <p:nvPr/>
            </p:nvSpPr>
            <p:spPr>
              <a:xfrm>
                <a:off x="3659026" y="5694674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85D29BC-62CA-8DB6-EB5B-5466724F0582}"/>
                  </a:ext>
                </a:extLst>
              </p:cNvPr>
              <p:cNvSpPr/>
              <p:nvPr/>
            </p:nvSpPr>
            <p:spPr>
              <a:xfrm>
                <a:off x="3659026" y="5751186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64652D2-8563-BDE1-C7BF-42F8DD2A6A4B}"/>
                  </a:ext>
                </a:extLst>
              </p:cNvPr>
              <p:cNvSpPr/>
              <p:nvPr/>
            </p:nvSpPr>
            <p:spPr>
              <a:xfrm>
                <a:off x="3659026" y="5816177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77B1B83-3594-28B1-738B-B3E0C17E5026}"/>
              </a:ext>
            </a:extLst>
          </p:cNvPr>
          <p:cNvSpPr/>
          <p:nvPr/>
        </p:nvSpPr>
        <p:spPr>
          <a:xfrm>
            <a:off x="10401965" y="2130634"/>
            <a:ext cx="1016360" cy="559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DIE0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D8905B6-058A-594C-7478-336852C6FC18}"/>
              </a:ext>
            </a:extLst>
          </p:cNvPr>
          <p:cNvCxnSpPr>
            <a:cxnSpLocks/>
            <a:stCxn id="30" idx="0"/>
            <a:endCxn id="21" idx="1"/>
          </p:cNvCxnSpPr>
          <p:nvPr/>
        </p:nvCxnSpPr>
        <p:spPr>
          <a:xfrm flipV="1">
            <a:off x="8840870" y="2410244"/>
            <a:ext cx="1561095" cy="91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1A9AD03-94B6-EECC-7FE0-52B6748B8DA1}"/>
              </a:ext>
            </a:extLst>
          </p:cNvPr>
          <p:cNvSpPr txBox="1"/>
          <p:nvPr/>
        </p:nvSpPr>
        <p:spPr>
          <a:xfrm>
            <a:off x="2878109" y="137358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BF6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C5D127F-6622-9778-65E5-F00D2B714C30}"/>
              </a:ext>
            </a:extLst>
          </p:cNvPr>
          <p:cNvSpPr/>
          <p:nvPr/>
        </p:nvSpPr>
        <p:spPr>
          <a:xfrm>
            <a:off x="2878109" y="2290411"/>
            <a:ext cx="855799" cy="26343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ARB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B050CB3-FB68-BF7F-FBB0-714FD5F8DB0F}"/>
              </a:ext>
            </a:extLst>
          </p:cNvPr>
          <p:cNvCxnSpPr>
            <a:endCxn id="12" idx="2"/>
          </p:cNvCxnSpPr>
          <p:nvPr/>
        </p:nvCxnSpPr>
        <p:spPr>
          <a:xfrm>
            <a:off x="911692" y="2435631"/>
            <a:ext cx="11713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E80BB46-5413-0660-DC8F-DF809AD5F246}"/>
              </a:ext>
            </a:extLst>
          </p:cNvPr>
          <p:cNvSpPr txBox="1"/>
          <p:nvPr/>
        </p:nvSpPr>
        <p:spPr>
          <a:xfrm>
            <a:off x="2002055" y="1822585"/>
            <a:ext cx="90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Ingress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AD9146-719C-90AD-F74D-83A4407B6730}"/>
              </a:ext>
            </a:extLst>
          </p:cNvPr>
          <p:cNvSpPr txBox="1"/>
          <p:nvPr/>
        </p:nvSpPr>
        <p:spPr>
          <a:xfrm>
            <a:off x="3816480" y="1761302"/>
            <a:ext cx="838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egress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7C10075-E272-A397-26D6-B583A82386BA}"/>
              </a:ext>
            </a:extLst>
          </p:cNvPr>
          <p:cNvCxnSpPr>
            <a:stCxn id="10" idx="1"/>
          </p:cNvCxnSpPr>
          <p:nvPr/>
        </p:nvCxnSpPr>
        <p:spPr>
          <a:xfrm flipV="1">
            <a:off x="2228262" y="2054072"/>
            <a:ext cx="89346" cy="27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143962A-0E03-FEB7-B29B-4301BA324E8F}"/>
              </a:ext>
            </a:extLst>
          </p:cNvPr>
          <p:cNvCxnSpPr/>
          <p:nvPr/>
        </p:nvCxnSpPr>
        <p:spPr>
          <a:xfrm flipH="1" flipV="1">
            <a:off x="4285652" y="2007251"/>
            <a:ext cx="136246" cy="283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DEB23E-E61E-B01B-55CE-21728CC8B367}"/>
              </a:ext>
            </a:extLst>
          </p:cNvPr>
          <p:cNvSpPr/>
          <p:nvPr/>
        </p:nvSpPr>
        <p:spPr>
          <a:xfrm rot="5400000">
            <a:off x="6853253" y="1163266"/>
            <a:ext cx="1463039" cy="251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312B30-2ED9-8F3F-672B-19A6BC75F472}"/>
              </a:ext>
            </a:extLst>
          </p:cNvPr>
          <p:cNvGrpSpPr/>
          <p:nvPr/>
        </p:nvGrpSpPr>
        <p:grpSpPr>
          <a:xfrm rot="5400000">
            <a:off x="6371372" y="2290984"/>
            <a:ext cx="203896" cy="289293"/>
            <a:chOff x="5296757" y="6077632"/>
            <a:chExt cx="203896" cy="28929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300B81B-5912-30A4-30A2-888B6A847649}"/>
                </a:ext>
              </a:extLst>
            </p:cNvPr>
            <p:cNvSpPr/>
            <p:nvPr/>
          </p:nvSpPr>
          <p:spPr>
            <a:xfrm>
              <a:off x="5296757" y="6077632"/>
              <a:ext cx="203896" cy="2892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9FB8BB-DA75-E8BE-4A14-4200F8C99304}"/>
                </a:ext>
              </a:extLst>
            </p:cNvPr>
            <p:cNvGrpSpPr/>
            <p:nvPr/>
          </p:nvGrpSpPr>
          <p:grpSpPr>
            <a:xfrm>
              <a:off x="5296757" y="6077632"/>
              <a:ext cx="203896" cy="281883"/>
              <a:chOff x="3659026" y="5581650"/>
              <a:chExt cx="203896" cy="281883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91A5AED-0A4E-9AF2-6CDE-C5F0CD9FE067}"/>
                  </a:ext>
                </a:extLst>
              </p:cNvPr>
              <p:cNvSpPr/>
              <p:nvPr/>
            </p:nvSpPr>
            <p:spPr>
              <a:xfrm>
                <a:off x="3659026" y="5581650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CA6A77F8-1B47-AF86-1315-6E384E36EB74}"/>
                  </a:ext>
                </a:extLst>
              </p:cNvPr>
              <p:cNvSpPr/>
              <p:nvPr/>
            </p:nvSpPr>
            <p:spPr>
              <a:xfrm>
                <a:off x="3659026" y="5638162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6A070E2-CA65-93B7-4D5D-A651D61AEAF3}"/>
                  </a:ext>
                </a:extLst>
              </p:cNvPr>
              <p:cNvSpPr/>
              <p:nvPr/>
            </p:nvSpPr>
            <p:spPr>
              <a:xfrm>
                <a:off x="3659026" y="5694674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00E0FAB-336C-F489-18C7-C36D82988502}"/>
                  </a:ext>
                </a:extLst>
              </p:cNvPr>
              <p:cNvSpPr/>
              <p:nvPr/>
            </p:nvSpPr>
            <p:spPr>
              <a:xfrm>
                <a:off x="3659026" y="5751186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83B600A-4705-9024-E53C-7B2660479A7F}"/>
                  </a:ext>
                </a:extLst>
              </p:cNvPr>
              <p:cNvSpPr/>
              <p:nvPr/>
            </p:nvSpPr>
            <p:spPr>
              <a:xfrm>
                <a:off x="3659026" y="5816177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C24ACCC-5A6C-97B7-3F75-6B411D77CF54}"/>
              </a:ext>
            </a:extLst>
          </p:cNvPr>
          <p:cNvGrpSpPr/>
          <p:nvPr/>
        </p:nvGrpSpPr>
        <p:grpSpPr>
          <a:xfrm rot="5400000">
            <a:off x="8573943" y="2290985"/>
            <a:ext cx="203896" cy="289293"/>
            <a:chOff x="5296757" y="6077632"/>
            <a:chExt cx="203896" cy="28929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0A1D68-D5B0-5276-A131-56032E6B2FB5}"/>
                </a:ext>
              </a:extLst>
            </p:cNvPr>
            <p:cNvSpPr/>
            <p:nvPr/>
          </p:nvSpPr>
          <p:spPr>
            <a:xfrm>
              <a:off x="5296757" y="6077632"/>
              <a:ext cx="203896" cy="2892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811D1D0-E79D-D607-EBC6-DE210D42EB73}"/>
                </a:ext>
              </a:extLst>
            </p:cNvPr>
            <p:cNvGrpSpPr/>
            <p:nvPr/>
          </p:nvGrpSpPr>
          <p:grpSpPr>
            <a:xfrm>
              <a:off x="5296757" y="6077632"/>
              <a:ext cx="203896" cy="281883"/>
              <a:chOff x="3659026" y="5581650"/>
              <a:chExt cx="203896" cy="28188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737986-F7A3-204E-4911-07C99BA5E12D}"/>
                  </a:ext>
                </a:extLst>
              </p:cNvPr>
              <p:cNvSpPr/>
              <p:nvPr/>
            </p:nvSpPr>
            <p:spPr>
              <a:xfrm>
                <a:off x="3659026" y="5581650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B114669-4B3E-DF2C-4912-630F5F5A2484}"/>
                  </a:ext>
                </a:extLst>
              </p:cNvPr>
              <p:cNvSpPr/>
              <p:nvPr/>
            </p:nvSpPr>
            <p:spPr>
              <a:xfrm>
                <a:off x="3659026" y="5638162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2E579D5-5FAB-17E2-E9CA-7FFB7835D2A6}"/>
                  </a:ext>
                </a:extLst>
              </p:cNvPr>
              <p:cNvSpPr/>
              <p:nvPr/>
            </p:nvSpPr>
            <p:spPr>
              <a:xfrm>
                <a:off x="3659026" y="5694674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C5C012F-2E1C-A2EE-9319-2A5835470542}"/>
                  </a:ext>
                </a:extLst>
              </p:cNvPr>
              <p:cNvSpPr/>
              <p:nvPr/>
            </p:nvSpPr>
            <p:spPr>
              <a:xfrm>
                <a:off x="3659026" y="5751186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F637535-CA89-B8B6-78A0-AE029AFD723C}"/>
                  </a:ext>
                </a:extLst>
              </p:cNvPr>
              <p:cNvSpPr/>
              <p:nvPr/>
            </p:nvSpPr>
            <p:spPr>
              <a:xfrm>
                <a:off x="3659026" y="5816177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20FC877-F4C1-F1E8-9B4D-27279AD73CD4}"/>
              </a:ext>
            </a:extLst>
          </p:cNvPr>
          <p:cNvSpPr txBox="1"/>
          <p:nvPr/>
        </p:nvSpPr>
        <p:spPr>
          <a:xfrm>
            <a:off x="7131112" y="137358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BF0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9364D8E-50B2-772C-1837-EE32045292DE}"/>
              </a:ext>
            </a:extLst>
          </p:cNvPr>
          <p:cNvSpPr/>
          <p:nvPr/>
        </p:nvSpPr>
        <p:spPr>
          <a:xfrm>
            <a:off x="7131112" y="2290411"/>
            <a:ext cx="855799" cy="26343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ARB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9AFBD4-758D-42D6-6A5F-7A5155B42D85}"/>
              </a:ext>
            </a:extLst>
          </p:cNvPr>
          <p:cNvSpPr txBox="1"/>
          <p:nvPr/>
        </p:nvSpPr>
        <p:spPr>
          <a:xfrm>
            <a:off x="6255058" y="1822585"/>
            <a:ext cx="90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Ingress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1D5BCC-CFA0-20F5-D065-AAEBF8B4E101}"/>
              </a:ext>
            </a:extLst>
          </p:cNvPr>
          <p:cNvSpPr txBox="1"/>
          <p:nvPr/>
        </p:nvSpPr>
        <p:spPr>
          <a:xfrm>
            <a:off x="8069483" y="1761302"/>
            <a:ext cx="838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egress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49DD27C-2BBA-FB27-958C-C36078365B89}"/>
              </a:ext>
            </a:extLst>
          </p:cNvPr>
          <p:cNvCxnSpPr>
            <a:stCxn id="36" idx="1"/>
          </p:cNvCxnSpPr>
          <p:nvPr/>
        </p:nvCxnSpPr>
        <p:spPr>
          <a:xfrm flipV="1">
            <a:off x="6481265" y="2054072"/>
            <a:ext cx="89346" cy="27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5FA17CB-F2F9-DD7A-696A-5C508BC436B7}"/>
              </a:ext>
            </a:extLst>
          </p:cNvPr>
          <p:cNvCxnSpPr/>
          <p:nvPr/>
        </p:nvCxnSpPr>
        <p:spPr>
          <a:xfrm flipH="1" flipV="1">
            <a:off x="8538655" y="2007251"/>
            <a:ext cx="136246" cy="283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E4B1B2F-57C4-B915-1B65-292A7FBBD984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4567535" y="2435631"/>
            <a:ext cx="17685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883D0B0-2F5C-2EDF-5A29-4F85A9BBA983}"/>
              </a:ext>
            </a:extLst>
          </p:cNvPr>
          <p:cNvSpPr txBox="1"/>
          <p:nvPr/>
        </p:nvSpPr>
        <p:spPr>
          <a:xfrm>
            <a:off x="4876486" y="4032162"/>
            <a:ext cx="27571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Avg Latency = 59cyl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D4FF2E5-D34E-D56D-855C-7094BD6136E5}"/>
              </a:ext>
            </a:extLst>
          </p:cNvPr>
          <p:cNvCxnSpPr>
            <a:cxnSpLocks/>
          </p:cNvCxnSpPr>
          <p:nvPr/>
        </p:nvCxnSpPr>
        <p:spPr>
          <a:xfrm>
            <a:off x="2002055" y="3977270"/>
            <a:ext cx="8247245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EE505CC-D865-5B37-71E6-9D1A9E1BF583}"/>
              </a:ext>
            </a:extLst>
          </p:cNvPr>
          <p:cNvCxnSpPr/>
          <p:nvPr/>
        </p:nvCxnSpPr>
        <p:spPr>
          <a:xfrm>
            <a:off x="4791070" y="1288488"/>
            <a:ext cx="0" cy="333034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1539B71-1FA3-03F5-DB7E-EC426FC1649E}"/>
              </a:ext>
            </a:extLst>
          </p:cNvPr>
          <p:cNvCxnSpPr/>
          <p:nvPr/>
        </p:nvCxnSpPr>
        <p:spPr>
          <a:xfrm>
            <a:off x="10266945" y="1288489"/>
            <a:ext cx="0" cy="333034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DDD9F201-0C4A-BAF9-5411-1BFAE6A13757}"/>
              </a:ext>
            </a:extLst>
          </p:cNvPr>
          <p:cNvCxnSpPr>
            <a:cxnSpLocks/>
          </p:cNvCxnSpPr>
          <p:nvPr/>
        </p:nvCxnSpPr>
        <p:spPr>
          <a:xfrm>
            <a:off x="6217920" y="3300305"/>
            <a:ext cx="278650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4F2EDF0-6BA7-803B-0F4C-2C277F47C9E2}"/>
              </a:ext>
            </a:extLst>
          </p:cNvPr>
          <p:cNvCxnSpPr>
            <a:cxnSpLocks/>
          </p:cNvCxnSpPr>
          <p:nvPr/>
        </p:nvCxnSpPr>
        <p:spPr>
          <a:xfrm>
            <a:off x="4791070" y="3300305"/>
            <a:ext cx="138834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A88963D-27A6-A4FE-64F1-039B1D009AA8}"/>
              </a:ext>
            </a:extLst>
          </p:cNvPr>
          <p:cNvCxnSpPr>
            <a:cxnSpLocks/>
          </p:cNvCxnSpPr>
          <p:nvPr/>
        </p:nvCxnSpPr>
        <p:spPr>
          <a:xfrm>
            <a:off x="9022069" y="3300305"/>
            <a:ext cx="12448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F4B3286-1C84-C83C-5C8D-CC5A7F023988}"/>
              </a:ext>
            </a:extLst>
          </p:cNvPr>
          <p:cNvSpPr txBox="1"/>
          <p:nvPr/>
        </p:nvSpPr>
        <p:spPr>
          <a:xfrm>
            <a:off x="5135789" y="3327296"/>
            <a:ext cx="786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10cyl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57EE6B8-2B0E-B160-01D7-FB8874B9D7AC}"/>
              </a:ext>
            </a:extLst>
          </p:cNvPr>
          <p:cNvCxnSpPr/>
          <p:nvPr/>
        </p:nvCxnSpPr>
        <p:spPr>
          <a:xfrm>
            <a:off x="6166406" y="1288489"/>
            <a:ext cx="0" cy="333034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588A401-5A19-94EB-D4A6-30E194A97A74}"/>
              </a:ext>
            </a:extLst>
          </p:cNvPr>
          <p:cNvSpPr txBox="1"/>
          <p:nvPr/>
        </p:nvSpPr>
        <p:spPr>
          <a:xfrm>
            <a:off x="6380664" y="3309499"/>
            <a:ext cx="2444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1+1+3+3+1+3+3=15cyl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475DFC-FC0D-9AB4-6BAE-FDC34895E932}"/>
              </a:ext>
            </a:extLst>
          </p:cNvPr>
          <p:cNvSpPr txBox="1"/>
          <p:nvPr/>
        </p:nvSpPr>
        <p:spPr>
          <a:xfrm>
            <a:off x="8885367" y="3335709"/>
            <a:ext cx="14264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17+2 = 19cyl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024BFE-5381-2F4D-3AEE-6A3169166E54}"/>
              </a:ext>
            </a:extLst>
          </p:cNvPr>
          <p:cNvCxnSpPr/>
          <p:nvPr/>
        </p:nvCxnSpPr>
        <p:spPr>
          <a:xfrm>
            <a:off x="9004424" y="1288489"/>
            <a:ext cx="0" cy="333034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8D9A4BF-8917-5969-F490-5CEC587CA7B7}"/>
              </a:ext>
            </a:extLst>
          </p:cNvPr>
          <p:cNvCxnSpPr>
            <a:cxnSpLocks/>
          </p:cNvCxnSpPr>
          <p:nvPr/>
        </p:nvCxnSpPr>
        <p:spPr>
          <a:xfrm>
            <a:off x="2024396" y="3312863"/>
            <a:ext cx="278650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82FD5D2-DEFA-A788-3203-46D4A260061E}"/>
              </a:ext>
            </a:extLst>
          </p:cNvPr>
          <p:cNvCxnSpPr/>
          <p:nvPr/>
        </p:nvCxnSpPr>
        <p:spPr>
          <a:xfrm>
            <a:off x="1972882" y="1301047"/>
            <a:ext cx="0" cy="333034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393C7D4E-9535-0F20-A201-44F84658F3E1}"/>
              </a:ext>
            </a:extLst>
          </p:cNvPr>
          <p:cNvSpPr txBox="1"/>
          <p:nvPr/>
        </p:nvSpPr>
        <p:spPr>
          <a:xfrm>
            <a:off x="2187140" y="3322057"/>
            <a:ext cx="2444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1+1+3+3+1+3+3=15cyl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8E4DC64-0311-535D-A7ED-EBD20372D63C}"/>
              </a:ext>
            </a:extLst>
          </p:cNvPr>
          <p:cNvGrpSpPr/>
          <p:nvPr/>
        </p:nvGrpSpPr>
        <p:grpSpPr>
          <a:xfrm rot="5400000">
            <a:off x="6367807" y="2738595"/>
            <a:ext cx="203896" cy="289293"/>
            <a:chOff x="5296757" y="6077632"/>
            <a:chExt cx="203896" cy="289293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5AC0A349-3B8C-65BC-A6D3-72E1D9159D35}"/>
                </a:ext>
              </a:extLst>
            </p:cNvPr>
            <p:cNvSpPr/>
            <p:nvPr/>
          </p:nvSpPr>
          <p:spPr>
            <a:xfrm>
              <a:off x="5296757" y="6077632"/>
              <a:ext cx="203896" cy="2892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A68CBFF2-002B-EBBA-BF7C-07B2F1D569C9}"/>
                </a:ext>
              </a:extLst>
            </p:cNvPr>
            <p:cNvGrpSpPr/>
            <p:nvPr/>
          </p:nvGrpSpPr>
          <p:grpSpPr>
            <a:xfrm>
              <a:off x="5296757" y="6077632"/>
              <a:ext cx="203896" cy="281883"/>
              <a:chOff x="3659026" y="5581650"/>
              <a:chExt cx="203896" cy="281883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85EA7A7-4D5D-4C31-B708-174607B5852B}"/>
                  </a:ext>
                </a:extLst>
              </p:cNvPr>
              <p:cNvSpPr/>
              <p:nvPr/>
            </p:nvSpPr>
            <p:spPr>
              <a:xfrm>
                <a:off x="3659026" y="5581650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2EEA70D3-323C-5C4E-4468-04A676E6ADE0}"/>
                  </a:ext>
                </a:extLst>
              </p:cNvPr>
              <p:cNvSpPr/>
              <p:nvPr/>
            </p:nvSpPr>
            <p:spPr>
              <a:xfrm>
                <a:off x="3659026" y="5638162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8F176EA6-BFDE-9CC6-DEC8-6D652EF38BF3}"/>
                  </a:ext>
                </a:extLst>
              </p:cNvPr>
              <p:cNvSpPr/>
              <p:nvPr/>
            </p:nvSpPr>
            <p:spPr>
              <a:xfrm>
                <a:off x="3659026" y="5694674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5150CFD6-9EDB-CC75-25E5-A36F071B2D3C}"/>
                  </a:ext>
                </a:extLst>
              </p:cNvPr>
              <p:cNvSpPr/>
              <p:nvPr/>
            </p:nvSpPr>
            <p:spPr>
              <a:xfrm>
                <a:off x="3659026" y="5751186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1512DE97-832B-7C4D-78A9-08406CD0FFD8}"/>
                  </a:ext>
                </a:extLst>
              </p:cNvPr>
              <p:cNvSpPr/>
              <p:nvPr/>
            </p:nvSpPr>
            <p:spPr>
              <a:xfrm>
                <a:off x="3659026" y="5816177"/>
                <a:ext cx="203896" cy="47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0602D0-4BAA-FF0D-6F64-E584250B094B}"/>
              </a:ext>
            </a:extLst>
          </p:cNvPr>
          <p:cNvCxnSpPr>
            <a:cxnSpLocks/>
            <a:endCxn id="141" idx="2"/>
          </p:cNvCxnSpPr>
          <p:nvPr/>
        </p:nvCxnSpPr>
        <p:spPr>
          <a:xfrm flipV="1">
            <a:off x="5891792" y="2883242"/>
            <a:ext cx="440727" cy="1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CB46BC8F-239D-DE43-0F7C-CA00F53DC597}"/>
              </a:ext>
            </a:extLst>
          </p:cNvPr>
          <p:cNvCxnSpPr/>
          <p:nvPr/>
        </p:nvCxnSpPr>
        <p:spPr>
          <a:xfrm>
            <a:off x="6706496" y="2435630"/>
            <a:ext cx="424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5F9F0A-F768-E6F8-6A33-0FB587280CF4}"/>
              </a:ext>
            </a:extLst>
          </p:cNvPr>
          <p:cNvCxnSpPr>
            <a:cxnSpLocks/>
          </p:cNvCxnSpPr>
          <p:nvPr/>
        </p:nvCxnSpPr>
        <p:spPr>
          <a:xfrm flipV="1">
            <a:off x="6567046" y="2553847"/>
            <a:ext cx="590888" cy="329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0D6F06DD-17F3-91AB-FFA9-5F5EFEAD1C10}"/>
              </a:ext>
            </a:extLst>
          </p:cNvPr>
          <p:cNvSpPr/>
          <p:nvPr/>
        </p:nvSpPr>
        <p:spPr>
          <a:xfrm>
            <a:off x="171104" y="2156021"/>
            <a:ext cx="740588" cy="559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IP6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F6B34E31-0F61-90AD-3C7B-361EA645CA39}"/>
              </a:ext>
            </a:extLst>
          </p:cNvPr>
          <p:cNvSpPr/>
          <p:nvPr/>
        </p:nvSpPr>
        <p:spPr>
          <a:xfrm>
            <a:off x="5123078" y="2609612"/>
            <a:ext cx="740588" cy="559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IP0</a:t>
            </a:r>
          </a:p>
        </p:txBody>
      </p:sp>
      <p:sp>
        <p:nvSpPr>
          <p:cNvPr id="153" name="Content Placeholder 2">
            <a:extLst>
              <a:ext uri="{FF2B5EF4-FFF2-40B4-BE49-F238E27FC236}">
                <a16:creationId xmlns:a16="http://schemas.microsoft.com/office/drawing/2014/main" id="{29AB2614-E470-231B-BAFE-AAFD30F7ECEE}"/>
              </a:ext>
            </a:extLst>
          </p:cNvPr>
          <p:cNvSpPr txBox="1">
            <a:spLocks/>
          </p:cNvSpPr>
          <p:nvPr/>
        </p:nvSpPr>
        <p:spPr>
          <a:xfrm>
            <a:off x="838200" y="4781016"/>
            <a:ext cx="11353800" cy="17783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The breaks up are the same within the PSF as seen in IP0-&gt;BF0-&gt;DIE0</a:t>
            </a:r>
          </a:p>
          <a:p>
            <a:r>
              <a:rPr lang="en-US"/>
              <a:t>From BF6-&gt; BF0, there is 10 cycle delay </a:t>
            </a:r>
          </a:p>
          <a:p>
            <a:r>
              <a:rPr lang="en-US"/>
              <a:t>From BF0-&gt; DIE0, there is 19 cycle delay</a:t>
            </a:r>
            <a:endParaRPr lang="en-US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A6EE830F-47D9-5A53-F4CC-67A2E6C4B639}"/>
              </a:ext>
            </a:extLst>
          </p:cNvPr>
          <p:cNvSpPr txBox="1"/>
          <p:nvPr/>
        </p:nvSpPr>
        <p:spPr>
          <a:xfrm>
            <a:off x="612648" y="283464"/>
            <a:ext cx="25121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Back up</a:t>
            </a:r>
          </a:p>
        </p:txBody>
      </p:sp>
    </p:spTree>
    <p:extLst>
      <p:ext uri="{BB962C8B-B14F-4D97-AF65-F5344CB8AC3E}">
        <p14:creationId xmlns:p14="http://schemas.microsoft.com/office/powerpoint/2010/main" val="213333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423</Words>
  <Application>Microsoft Office PowerPoint</Application>
  <PresentationFormat>Widescreen</PresentationFormat>
  <Paragraphs>55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Bus-based Fabric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Anuparna Ganguly</dc:creator>
  <cp:lastModifiedBy>Anuparna Ganguly</cp:lastModifiedBy>
  <cp:revision>2</cp:revision>
  <dcterms:created xsi:type="dcterms:W3CDTF">2026-02-18T09:40:10Z</dcterms:created>
  <dcterms:modified xsi:type="dcterms:W3CDTF">2026-02-19T03:53:19Z</dcterms:modified>
</cp:coreProperties>
</file>