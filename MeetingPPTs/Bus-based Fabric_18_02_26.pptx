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260" r:id="rId3"/>
    <p:sldId id="261" r:id="rId4"/>
    <p:sldId id="258" r:id="rId5"/>
    <p:sldId id="257" r:id="rId6"/>
    <p:sldId id="259" r:id="rId7"/>
    <p:sldId id="25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315FD-A8B1-40C0-88BF-57F339EC5A36}" v="5" dt="2026-03-11T17:29:08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88862-0398-42F6-99D2-BF1DBE77D5C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41806-5B8B-4009-BE05-6575C77F2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62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469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DF48-BDC2-7C2A-618D-8D5D67B7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6BBB7-C86D-F7A5-DC00-2898840A9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DC2B0-1325-6590-9F22-49AB80472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9DB8-05CE-F5A6-4E6A-3F4AD095E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34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63D9-7020-CCC9-289E-D56F8A773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8115B-43D7-E5CE-C632-A5A28D2D1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C3568-965E-39C7-8B7E-23DDA43D5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720D3-F0A0-7B25-762D-AF3FC8AB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69C2F-A82C-0553-D388-2A1B57FA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00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D38A-E4B4-C51A-C6DB-601F24A5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903AF-9C1A-AD24-B71D-B8EE9CAC0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A2C1D-13B3-9814-DADE-4C35C083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03845-4C45-2EC6-10C1-9E4683A8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D8EC0-8144-F726-EDB1-354A6A83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5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4BB5-8143-033F-4E0D-918F5E3A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14C73-876F-C023-2054-179EA6341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99E93-0D9D-D93E-EC0E-EB6477CDE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EF5A4-4390-0072-6D08-C6D7681D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1F517-B8B9-47CF-ABA1-8E24890D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8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4E40-2B53-9FA1-0D4E-EB84682B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73D4-AE30-92CC-0C20-7CBE4BB28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3C51E-1702-EAFE-0852-B1A7107E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90368-B1D6-D969-2110-FBA7690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4F362-7071-3437-F861-461D7A3E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DD77A-0ABE-33E6-099C-09A57C86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5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9A16-D98E-3BBF-20E2-81B3A4FA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834DE-7687-76AD-5ECA-2083EE22D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C508B-0797-003D-CEAD-C4645827A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322B6-E071-137F-720D-C043F6F3B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7FE7A-B934-3A9C-9504-400E6BB66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02469C-2005-EE34-EE50-C3300A1D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C448D-196B-0698-CEF7-0106F11C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63FDD0-1203-CF1B-49C1-47D71485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9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6400-3F70-CC8A-6F35-D5ECB1DAB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218B9-CF9A-D993-BC23-2B78C69B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7B8A1-3945-278E-D07F-ECF5DCB0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C3434-C3CC-796D-0936-FEC00C54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2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E4EE6-F3F0-1B25-93E3-6F1B0413A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5FEF5-9EE0-40DB-F38A-A8CE089C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007FE-DFBD-C8CF-0D79-065F738D7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8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9AA5-4127-EEB1-B5B1-B6D38037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6B9B1-134D-543F-5D6D-1DB0EFE31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CED58-FE76-E651-2D4E-A863A6C6F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28289-EBCB-1AE0-282D-42F2690C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9A210-6012-323C-8F15-6126DA8E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B098D-C004-6C41-DAC1-EA4A28ED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1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B4D3-8220-0132-D6FD-756A01B44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3C77A4-E0BB-4908-019A-E4CDD927A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D9E05-DEF2-7D70-EC74-25D8F6682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58F41-D655-43FA-15F9-0A02CB9F2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2C762-13DF-1A87-02D2-EE821304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B27D2-2C85-68DE-8D09-40317000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5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9D1F-5B08-D851-0755-4C2C4D7E3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32C7C-6C27-383C-15D5-0EB26E264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516DA-8E61-77C6-59A1-1E02DA45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032D2-4EB5-3EA8-CADD-4290B009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76A78-EB3D-57FE-55A3-7F222FCB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B9DFD-1051-6A7F-1707-6B08F1F07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44B04-07AD-0AFC-3061-004C1BEA0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F88E-EB30-EFD9-8AD7-2DCEA8FA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F8286-D774-EA38-54B6-56D1227E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5C0E9-DAD3-F221-16C6-300AAA13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6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79CD41-3DB3-F1CA-3C5A-DF48246F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8C256-E252-6AA9-63FA-D80B39050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4846A-B02E-8271-AB43-54953C356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0A85F-93D0-4F6A-90CF-363D846DF31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D3DAE-1821-8E99-6B62-43F63B2DA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4D42-DEB6-849D-5B68-5FB869345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80D3C-F5AA-44D7-B3B5-8104147A7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3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53FE-DC70-750B-4A02-A13991354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Bus-based Fabric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520C67-669D-9EB3-7C9C-E536DC4DDF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Anuparna Ganguly</a:t>
            </a:r>
          </a:p>
          <a:p>
            <a:r>
              <a:rPr lang="en-US" b="1">
                <a:solidFill>
                  <a:srgbClr val="00B050"/>
                </a:solidFill>
              </a:rPr>
              <a:t>18/02/2026</a:t>
            </a:r>
          </a:p>
        </p:txBody>
      </p:sp>
    </p:spTree>
    <p:extLst>
      <p:ext uri="{BB962C8B-B14F-4D97-AF65-F5344CB8AC3E}">
        <p14:creationId xmlns:p14="http://schemas.microsoft.com/office/powerpoint/2010/main" val="153014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B81CD1-3FE8-F988-9731-F2B061B6DBE8}"/>
              </a:ext>
            </a:extLst>
          </p:cNvPr>
          <p:cNvSpPr txBox="1"/>
          <p:nvPr/>
        </p:nvSpPr>
        <p:spPr>
          <a:xfrm>
            <a:off x="0" y="3736180"/>
            <a:ext cx="45621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Buffer size = 12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IP6 is inactive and doesn’t send any packets into the fabric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5F924-A5FF-D779-AA64-3FA5421D55BE}"/>
              </a:ext>
            </a:extLst>
          </p:cNvPr>
          <p:cNvSpPr txBox="1"/>
          <p:nvPr/>
        </p:nvSpPr>
        <p:spPr>
          <a:xfrm>
            <a:off x="79963" y="59631"/>
            <a:ext cx="8396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Experiment 1 : </a:t>
            </a:r>
            <a:r>
              <a:rPr lang="en-US" sz="3200" b="1">
                <a:solidFill>
                  <a:srgbClr val="00B050"/>
                </a:solidFill>
              </a:rPr>
              <a:t>IP0-&gt;BF0-&gt;DIE0</a:t>
            </a:r>
            <a:r>
              <a:rPr lang="en-US" sz="3200"/>
              <a:t>; </a:t>
            </a:r>
            <a:r>
              <a:rPr lang="en-US" sz="3200">
                <a:solidFill>
                  <a:srgbClr val="FF0000"/>
                </a:solidFill>
              </a:rPr>
              <a:t>NO IP6</a:t>
            </a:r>
          </a:p>
          <a:p>
            <a:endParaRPr lang="en-IN" sz="3200" b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0FCB0-03D1-D729-3D49-14E14926B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904" y="845574"/>
            <a:ext cx="5255256" cy="23265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89F5F1-5A66-0A0C-91E2-E2C3737D9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13" y="850246"/>
            <a:ext cx="5466305" cy="2817402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7E4011CD-46F3-2A68-384B-997A5A9E64C8}"/>
              </a:ext>
            </a:extLst>
          </p:cNvPr>
          <p:cNvSpPr/>
          <p:nvPr/>
        </p:nvSpPr>
        <p:spPr>
          <a:xfrm>
            <a:off x="8872695" y="3177791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0795CF5-CE60-A603-AF5C-ED5B6C1A39DD}"/>
              </a:ext>
            </a:extLst>
          </p:cNvPr>
          <p:cNvSpPr/>
          <p:nvPr/>
        </p:nvSpPr>
        <p:spPr>
          <a:xfrm rot="5224030">
            <a:off x="5769332" y="4710749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2E103983-D4B7-FC68-C117-699B76051C4B}"/>
              </a:ext>
            </a:extLst>
          </p:cNvPr>
          <p:cNvSpPr/>
          <p:nvPr/>
        </p:nvSpPr>
        <p:spPr>
          <a:xfrm rot="10800000">
            <a:off x="1379530" y="5046726"/>
            <a:ext cx="648929" cy="67790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6933EF-A2C9-0537-BA79-CFD7EA315A5F}"/>
              </a:ext>
            </a:extLst>
          </p:cNvPr>
          <p:cNvSpPr txBox="1"/>
          <p:nvPr/>
        </p:nvSpPr>
        <p:spPr>
          <a:xfrm>
            <a:off x="3118933" y="4414859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FF0000"/>
                </a:solidFill>
              </a:rPr>
              <a:t>o/p from </a:t>
            </a:r>
            <a:r>
              <a:rPr lang="en-IN" sz="2000" b="1" err="1">
                <a:solidFill>
                  <a:srgbClr val="FF0000"/>
                </a:solidFill>
              </a:rPr>
              <a:t>FlexNoC</a:t>
            </a:r>
            <a:r>
              <a:rPr lang="en-IN" sz="2000" b="1">
                <a:solidFill>
                  <a:srgbClr val="FF0000"/>
                </a:solidFill>
              </a:rPr>
              <a:t> </a:t>
            </a:r>
            <a:endParaRPr lang="en-IN" sz="1400" b="1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3AB5FB-9BED-A212-1E35-C19A1D431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232" y="3692479"/>
            <a:ext cx="5467928" cy="2943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D9EE44-425C-6DFE-7889-AFA670E703B9}"/>
              </a:ext>
            </a:extLst>
          </p:cNvPr>
          <p:cNvSpPr txBox="1"/>
          <p:nvPr/>
        </p:nvSpPr>
        <p:spPr>
          <a:xfrm>
            <a:off x="7895303" y="5489206"/>
            <a:ext cx="340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../test/busFabricExp1.dot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A712A5-8EDD-6551-0B7C-7FE02951C2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30" y="5750816"/>
            <a:ext cx="5626886" cy="9454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55BA21-BE25-A8F8-6211-C1F4351542D4}"/>
              </a:ext>
            </a:extLst>
          </p:cNvPr>
          <p:cNvSpPr txBox="1"/>
          <p:nvPr/>
        </p:nvSpPr>
        <p:spPr>
          <a:xfrm>
            <a:off x="176249" y="6377542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FF0000"/>
                </a:solidFill>
              </a:rPr>
              <a:t>Autogenerated </a:t>
            </a:r>
            <a:r>
              <a:rPr lang="en-IN" sz="2000" b="1" err="1">
                <a:solidFill>
                  <a:srgbClr val="FF0000"/>
                </a:solidFill>
              </a:rPr>
              <a:t>png</a:t>
            </a:r>
            <a:r>
              <a:rPr lang="en-IN" sz="2000" b="1">
                <a:solidFill>
                  <a:srgbClr val="FF0000"/>
                </a:solidFill>
              </a:rPr>
              <a:t> file </a:t>
            </a:r>
            <a:endParaRPr lang="en-IN" sz="1400" b="1">
              <a:solidFill>
                <a:srgbClr val="FF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17E428-EC44-D785-81F1-5451196F70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757"/>
          <a:stretch>
            <a:fillRect/>
          </a:stretch>
        </p:blipFill>
        <p:spPr>
          <a:xfrm>
            <a:off x="2231286" y="4789198"/>
            <a:ext cx="3134162" cy="67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1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27A97-5A08-684B-0453-0BDAF243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6CCEB3-F7B9-1ADC-2399-25A86065E1DE}"/>
              </a:ext>
            </a:extLst>
          </p:cNvPr>
          <p:cNvSpPr txBox="1"/>
          <p:nvPr/>
        </p:nvSpPr>
        <p:spPr>
          <a:xfrm>
            <a:off x="-38452" y="3429000"/>
            <a:ext cx="45621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Buffer size = 12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IP0 is inactive and doesn’t send any packets into the fabric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946C2-D776-2608-3553-AC82E956C22E}"/>
              </a:ext>
            </a:extLst>
          </p:cNvPr>
          <p:cNvSpPr txBox="1"/>
          <p:nvPr/>
        </p:nvSpPr>
        <p:spPr>
          <a:xfrm>
            <a:off x="79963" y="59631"/>
            <a:ext cx="8396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Experiment 2 : </a:t>
            </a:r>
            <a:r>
              <a:rPr lang="en-US" sz="3200" b="1">
                <a:solidFill>
                  <a:srgbClr val="00B050"/>
                </a:solidFill>
              </a:rPr>
              <a:t>IP6-&gt;BF6-&gt;BF0-&gt;DIE0</a:t>
            </a:r>
            <a:r>
              <a:rPr lang="en-US" sz="3200"/>
              <a:t>; </a:t>
            </a:r>
            <a:r>
              <a:rPr lang="en-US" sz="3200" b="1">
                <a:solidFill>
                  <a:srgbClr val="FF0000"/>
                </a:solidFill>
              </a:rPr>
              <a:t>NO IP0</a:t>
            </a:r>
          </a:p>
          <a:p>
            <a:endParaRPr lang="en-US" sz="3200">
              <a:solidFill>
                <a:srgbClr val="FF0000"/>
              </a:solidFill>
            </a:endParaRPr>
          </a:p>
          <a:p>
            <a:endParaRPr lang="en-IN" sz="3200" b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803BF9-65F7-2BAD-F060-C34577B94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904" y="845574"/>
            <a:ext cx="5255256" cy="2326589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CBD6CA47-1832-A58B-27DA-16DCA0182375}"/>
              </a:ext>
            </a:extLst>
          </p:cNvPr>
          <p:cNvSpPr/>
          <p:nvPr/>
        </p:nvSpPr>
        <p:spPr>
          <a:xfrm>
            <a:off x="8872695" y="3177791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B0E2E8C-BEB9-2A49-72EA-2592DA23EB8E}"/>
              </a:ext>
            </a:extLst>
          </p:cNvPr>
          <p:cNvSpPr/>
          <p:nvPr/>
        </p:nvSpPr>
        <p:spPr>
          <a:xfrm rot="5224030">
            <a:off x="5769332" y="4710749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CFA51FFA-1F96-80CE-AF97-F1F81DC2BC92}"/>
              </a:ext>
            </a:extLst>
          </p:cNvPr>
          <p:cNvSpPr/>
          <p:nvPr/>
        </p:nvSpPr>
        <p:spPr>
          <a:xfrm rot="10800000">
            <a:off x="1317523" y="4690505"/>
            <a:ext cx="648929" cy="67790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E7B8B9-D0F5-9C42-613F-0A12CE2BB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21" y="797188"/>
            <a:ext cx="6074770" cy="27245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3A2FF76-82F3-19B0-7FF1-34DAE9464BDF}"/>
              </a:ext>
            </a:extLst>
          </p:cNvPr>
          <p:cNvSpPr txBox="1"/>
          <p:nvPr/>
        </p:nvSpPr>
        <p:spPr>
          <a:xfrm>
            <a:off x="3319306" y="4065690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FF0000"/>
                </a:solidFill>
              </a:rPr>
              <a:t>o/p from </a:t>
            </a:r>
            <a:r>
              <a:rPr lang="en-IN" sz="2000" b="1" err="1">
                <a:solidFill>
                  <a:srgbClr val="FF0000"/>
                </a:solidFill>
              </a:rPr>
              <a:t>FlexNoC</a:t>
            </a:r>
            <a:r>
              <a:rPr lang="en-IN" sz="2000" b="1">
                <a:solidFill>
                  <a:srgbClr val="FF0000"/>
                </a:solidFill>
              </a:rPr>
              <a:t> </a:t>
            </a:r>
            <a:endParaRPr lang="en-IN" sz="1400" b="1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039E1-4C18-DE3A-7630-22936D403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714" y="3600710"/>
            <a:ext cx="5403070" cy="30572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661876-9D3D-5440-70C7-C269CE5431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74" y="5769863"/>
            <a:ext cx="5938325" cy="7745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DEDB3C8-023D-159E-24AF-9C6DDCAD6260}"/>
              </a:ext>
            </a:extLst>
          </p:cNvPr>
          <p:cNvSpPr txBox="1"/>
          <p:nvPr/>
        </p:nvSpPr>
        <p:spPr>
          <a:xfrm>
            <a:off x="1534174" y="6410030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rgbClr val="FF0000"/>
                </a:solidFill>
              </a:rPr>
              <a:t>Autogenerated </a:t>
            </a:r>
            <a:r>
              <a:rPr lang="en-IN" sz="2000" b="1" err="1">
                <a:solidFill>
                  <a:srgbClr val="FF0000"/>
                </a:solidFill>
              </a:rPr>
              <a:t>png</a:t>
            </a:r>
            <a:r>
              <a:rPr lang="en-IN" sz="2000" b="1">
                <a:solidFill>
                  <a:srgbClr val="FF0000"/>
                </a:solidFill>
              </a:rPr>
              <a:t> file </a:t>
            </a:r>
            <a:endParaRPr lang="en-IN" sz="1400" b="1">
              <a:solidFill>
                <a:srgbClr val="FF000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BB392F-A794-449B-3685-85BAFABAB9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6031" y="4425220"/>
            <a:ext cx="3466135" cy="11684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3CB553-78E5-DCB9-DEA5-FF93204579A5}"/>
              </a:ext>
            </a:extLst>
          </p:cNvPr>
          <p:cNvSpPr txBox="1"/>
          <p:nvPr/>
        </p:nvSpPr>
        <p:spPr>
          <a:xfrm>
            <a:off x="8478926" y="5508439"/>
            <a:ext cx="340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../test/busFabricExp2.dot</a:t>
            </a:r>
          </a:p>
        </p:txBody>
      </p:sp>
    </p:spTree>
    <p:extLst>
      <p:ext uri="{BB962C8B-B14F-4D97-AF65-F5344CB8AC3E}">
        <p14:creationId xmlns:p14="http://schemas.microsoft.com/office/powerpoint/2010/main" val="418434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0B7F-4AA5-22D0-032E-D7D3EB7F9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056EAA-8F4A-A521-B67B-F6C98D54B4DA}"/>
              </a:ext>
            </a:extLst>
          </p:cNvPr>
          <p:cNvSpPr txBox="1"/>
          <p:nvPr/>
        </p:nvSpPr>
        <p:spPr>
          <a:xfrm>
            <a:off x="0" y="23735"/>
            <a:ext cx="7580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Experiment 3(a): </a:t>
            </a:r>
            <a:r>
              <a:rPr lang="en-US" sz="2000"/>
              <a:t>Both</a:t>
            </a:r>
            <a:r>
              <a:rPr lang="en-US" sz="2000" b="1"/>
              <a:t> </a:t>
            </a:r>
            <a:r>
              <a:rPr lang="en-US" b="1">
                <a:solidFill>
                  <a:srgbClr val="FF0000"/>
                </a:solidFill>
              </a:rPr>
              <a:t>IP6</a:t>
            </a:r>
            <a:r>
              <a:rPr lang="en-US"/>
              <a:t> &amp; </a:t>
            </a:r>
            <a:r>
              <a:rPr lang="en-US" b="1">
                <a:solidFill>
                  <a:srgbClr val="00B050"/>
                </a:solidFill>
              </a:rPr>
              <a:t>IP0</a:t>
            </a:r>
            <a:r>
              <a:rPr lang="en-US"/>
              <a:t>  has lower injection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D6E7B-3847-7456-EEAF-AB293159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8"/>
          <a:stretch>
            <a:fillRect/>
          </a:stretch>
        </p:blipFill>
        <p:spPr>
          <a:xfrm>
            <a:off x="6802816" y="530036"/>
            <a:ext cx="5389184" cy="2463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EA1F00-CC7D-8D5F-4344-E5D9F8287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7" y="645754"/>
            <a:ext cx="5255256" cy="232658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3AF330F-993C-3A54-D61C-FEDC941113DC}"/>
              </a:ext>
            </a:extLst>
          </p:cNvPr>
          <p:cNvSpPr/>
          <p:nvPr/>
        </p:nvSpPr>
        <p:spPr>
          <a:xfrm>
            <a:off x="5518953" y="1478462"/>
            <a:ext cx="1206002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7C13439-4A84-4810-A9F3-CE165A3D2821}"/>
              </a:ext>
            </a:extLst>
          </p:cNvPr>
          <p:cNvSpPr/>
          <p:nvPr/>
        </p:nvSpPr>
        <p:spPr>
          <a:xfrm>
            <a:off x="9317736" y="2920473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C47287-E103-AFC6-BDD6-750F8DFCD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3172969"/>
            <a:ext cx="5479370" cy="950976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C17FA116-FBD2-8952-ABBD-989CB9CB1A68}"/>
              </a:ext>
            </a:extLst>
          </p:cNvPr>
          <p:cNvSpPr/>
          <p:nvPr/>
        </p:nvSpPr>
        <p:spPr>
          <a:xfrm rot="5583788">
            <a:off x="6128854" y="3699581"/>
            <a:ext cx="301752" cy="2103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4A7BFF5-E359-BD21-0864-E15FD66547DA}"/>
              </a:ext>
            </a:extLst>
          </p:cNvPr>
          <p:cNvSpPr/>
          <p:nvPr/>
        </p:nvSpPr>
        <p:spPr>
          <a:xfrm>
            <a:off x="4541753" y="4281704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D14F5-1346-4EDB-A789-5170F77B0CFA}"/>
              </a:ext>
            </a:extLst>
          </p:cNvPr>
          <p:cNvSpPr txBox="1"/>
          <p:nvPr/>
        </p:nvSpPr>
        <p:spPr>
          <a:xfrm>
            <a:off x="53774" y="4246226"/>
            <a:ext cx="304032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Buffer_ size 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IP0 has </a:t>
            </a:r>
            <a:r>
              <a:rPr lang="en-US" sz="1400">
                <a:solidFill>
                  <a:srgbClr val="00B050"/>
                </a:solidFill>
              </a:rPr>
              <a:t>higher priority </a:t>
            </a:r>
            <a:r>
              <a:rPr lang="en-US" sz="1400"/>
              <a:t>than IP6.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IP0 ‘s end-to-end latency </a:t>
            </a:r>
            <a:r>
              <a:rPr lang="en-US" sz="1400"/>
              <a:t>= queue waiting time + pipeline delay = 0(BF0 -&gt; DIE0) + 34 = 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IP0’s waiting time 0 as IP0 has high priority, </a:t>
            </a:r>
            <a:r>
              <a:rPr lang="en-US" sz="1400" b="1"/>
              <a:t>need not to wait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IP6 ‘s end-to-end latency </a:t>
            </a:r>
            <a:r>
              <a:rPr lang="en-US" sz="1400"/>
              <a:t>= queue waiting time + pipeline delay = 0.05 +25(BF6 -&gt; BF0) + 34 (BF0 -&gt; DIE0)= 59.05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7F5D513E-2FC7-E9FE-81AF-FCA87E1DDBDB}"/>
              </a:ext>
            </a:extLst>
          </p:cNvPr>
          <p:cNvSpPr/>
          <p:nvPr/>
        </p:nvSpPr>
        <p:spPr>
          <a:xfrm rot="5400000">
            <a:off x="2830690" y="4984102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F7D7A8-185E-0D08-0EF6-662AB282EE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255" r="46487"/>
          <a:stretch>
            <a:fillRect/>
          </a:stretch>
        </p:blipFill>
        <p:spPr>
          <a:xfrm>
            <a:off x="3237521" y="4811737"/>
            <a:ext cx="3542984" cy="1061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E9EC3A-0189-B4E8-9345-04F9118B6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598" y="3337560"/>
            <a:ext cx="5038628" cy="33649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BAA43F-B119-CFE8-FB51-05B5098E6536}"/>
              </a:ext>
            </a:extLst>
          </p:cNvPr>
          <p:cNvSpPr txBox="1"/>
          <p:nvPr/>
        </p:nvSpPr>
        <p:spPr>
          <a:xfrm>
            <a:off x="8504903" y="5503984"/>
            <a:ext cx="340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../test/busFabricExp3.dot</a:t>
            </a:r>
          </a:p>
        </p:txBody>
      </p:sp>
    </p:spTree>
    <p:extLst>
      <p:ext uri="{BB962C8B-B14F-4D97-AF65-F5344CB8AC3E}">
        <p14:creationId xmlns:p14="http://schemas.microsoft.com/office/powerpoint/2010/main" val="233701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566383-3AAE-0393-0751-DB435B6A65E6}"/>
              </a:ext>
            </a:extLst>
          </p:cNvPr>
          <p:cNvSpPr txBox="1"/>
          <p:nvPr/>
        </p:nvSpPr>
        <p:spPr>
          <a:xfrm>
            <a:off x="0" y="23735"/>
            <a:ext cx="7580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Experiment 3(b): </a:t>
            </a:r>
            <a:r>
              <a:rPr lang="en-US" b="1">
                <a:solidFill>
                  <a:srgbClr val="FF0000"/>
                </a:solidFill>
              </a:rPr>
              <a:t>IP6</a:t>
            </a:r>
            <a:r>
              <a:rPr lang="en-US"/>
              <a:t> has lower injection rate &amp; </a:t>
            </a:r>
            <a:r>
              <a:rPr lang="en-US" b="1">
                <a:solidFill>
                  <a:srgbClr val="00B050"/>
                </a:solidFill>
              </a:rPr>
              <a:t>IP0</a:t>
            </a:r>
            <a:r>
              <a:rPr lang="en-US"/>
              <a:t> has high injection rate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C46DF-2827-6BF8-06D3-CD6D1B7AD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8"/>
          <a:stretch>
            <a:fillRect/>
          </a:stretch>
        </p:blipFill>
        <p:spPr>
          <a:xfrm>
            <a:off x="6802816" y="530036"/>
            <a:ext cx="5389184" cy="2463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BA2665-3B55-4F9A-CBCC-0B741DBC9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051" y="3236976"/>
            <a:ext cx="5479370" cy="3295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981D6D-5F18-9F06-81BE-FB154D957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37" y="645754"/>
            <a:ext cx="5255256" cy="232658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C0DD791-8509-DF21-CF24-8A2889D121A0}"/>
              </a:ext>
            </a:extLst>
          </p:cNvPr>
          <p:cNvSpPr/>
          <p:nvPr/>
        </p:nvSpPr>
        <p:spPr>
          <a:xfrm>
            <a:off x="5518953" y="1478462"/>
            <a:ext cx="1206002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E1D6239-B3D6-911E-4BE0-3C02D5A2127D}"/>
              </a:ext>
            </a:extLst>
          </p:cNvPr>
          <p:cNvSpPr/>
          <p:nvPr/>
        </p:nvSpPr>
        <p:spPr>
          <a:xfrm>
            <a:off x="9317736" y="2920473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72372E-7BC1-CEC6-556A-30EC7137F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3172969"/>
            <a:ext cx="5479370" cy="950976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4F9E6262-8711-5DE0-7962-DF1AB69E057D}"/>
              </a:ext>
            </a:extLst>
          </p:cNvPr>
          <p:cNvSpPr/>
          <p:nvPr/>
        </p:nvSpPr>
        <p:spPr>
          <a:xfrm rot="5583788">
            <a:off x="6128854" y="3699581"/>
            <a:ext cx="301752" cy="2103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E745845-92D6-CB9B-1407-98A5BA941B12}"/>
              </a:ext>
            </a:extLst>
          </p:cNvPr>
          <p:cNvSpPr/>
          <p:nvPr/>
        </p:nvSpPr>
        <p:spPr>
          <a:xfrm>
            <a:off x="4541753" y="4281704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ABC31D-4A7B-0A77-C954-6B1B6721E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9350" y="4920365"/>
            <a:ext cx="3153452" cy="11050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3CC049A-533B-30A1-A421-2691DB1DBCDC}"/>
              </a:ext>
            </a:extLst>
          </p:cNvPr>
          <p:cNvSpPr txBox="1"/>
          <p:nvPr/>
        </p:nvSpPr>
        <p:spPr>
          <a:xfrm>
            <a:off x="53774" y="4246226"/>
            <a:ext cx="28682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Buffer_ size 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IP0 has </a:t>
            </a:r>
            <a:r>
              <a:rPr lang="en-US" sz="1400">
                <a:solidFill>
                  <a:srgbClr val="00B050"/>
                </a:solidFill>
              </a:rPr>
              <a:t>higher priority </a:t>
            </a:r>
            <a:r>
              <a:rPr lang="en-US" sz="1400"/>
              <a:t>than IP6.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IP0 ‘s end-to-end latency </a:t>
            </a:r>
            <a:r>
              <a:rPr lang="en-US" sz="1400"/>
              <a:t>= queue waiting time + pipeline delay = 0(BF0 -&gt; DIE0) + 34 = 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IP0’s waiting time 0 as IP0 has high priority, </a:t>
            </a:r>
            <a:r>
              <a:rPr lang="en-US" sz="1400" b="1"/>
              <a:t>need not to wait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IP6 ‘s end-to-end latency </a:t>
            </a:r>
            <a:r>
              <a:rPr lang="en-US" sz="1400"/>
              <a:t>= queue waiting time + pipeline delay = 1.11 +25(BF6 -&gt; BF0) + 34 (BF0 -&gt; DIE0)= 60.11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AD7476D-328F-2AF7-1916-B4C521708F06}"/>
              </a:ext>
            </a:extLst>
          </p:cNvPr>
          <p:cNvSpPr/>
          <p:nvPr/>
        </p:nvSpPr>
        <p:spPr>
          <a:xfrm rot="5400000">
            <a:off x="2830690" y="4984102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F174DC-1045-DF7F-FB19-34DFA9383558}"/>
              </a:ext>
            </a:extLst>
          </p:cNvPr>
          <p:cNvSpPr txBox="1"/>
          <p:nvPr/>
        </p:nvSpPr>
        <p:spPr>
          <a:xfrm>
            <a:off x="7895303" y="5489206"/>
            <a:ext cx="340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../test/busFabricExp3.dot</a:t>
            </a:r>
          </a:p>
        </p:txBody>
      </p:sp>
    </p:spTree>
    <p:extLst>
      <p:ext uri="{BB962C8B-B14F-4D97-AF65-F5344CB8AC3E}">
        <p14:creationId xmlns:p14="http://schemas.microsoft.com/office/powerpoint/2010/main" val="243032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2020E-D85A-7B64-ED8B-2F5634CB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AEEC4-5E0A-99A6-BA52-AEBBEBEA717E}"/>
              </a:ext>
            </a:extLst>
          </p:cNvPr>
          <p:cNvSpPr txBox="1"/>
          <p:nvPr/>
        </p:nvSpPr>
        <p:spPr>
          <a:xfrm>
            <a:off x="0" y="23735"/>
            <a:ext cx="7580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Experiment 3(b): Both </a:t>
            </a:r>
            <a:r>
              <a:rPr lang="en-US" b="1">
                <a:solidFill>
                  <a:srgbClr val="FF0000"/>
                </a:solidFill>
              </a:rPr>
              <a:t>IP6</a:t>
            </a:r>
            <a:r>
              <a:rPr lang="en-US"/>
              <a:t> &amp; </a:t>
            </a:r>
            <a:r>
              <a:rPr lang="en-US" b="1">
                <a:solidFill>
                  <a:srgbClr val="00B050"/>
                </a:solidFill>
              </a:rPr>
              <a:t>IP0</a:t>
            </a:r>
            <a:r>
              <a:rPr lang="en-US"/>
              <a:t> has high injection rate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6EC57-5052-9C35-15C0-6B67CF14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8"/>
          <a:stretch>
            <a:fillRect/>
          </a:stretch>
        </p:blipFill>
        <p:spPr>
          <a:xfrm>
            <a:off x="6802816" y="530036"/>
            <a:ext cx="5389184" cy="2463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24BDC5-C456-428E-F24A-B932263F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7" y="645754"/>
            <a:ext cx="5255256" cy="232658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785F27C-3823-E734-D148-5E0B6A88E745}"/>
              </a:ext>
            </a:extLst>
          </p:cNvPr>
          <p:cNvSpPr/>
          <p:nvPr/>
        </p:nvSpPr>
        <p:spPr>
          <a:xfrm>
            <a:off x="5518953" y="1478462"/>
            <a:ext cx="1206002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E0DECE8-8555-53FC-7B01-7FA565CB4EB3}"/>
              </a:ext>
            </a:extLst>
          </p:cNvPr>
          <p:cNvSpPr/>
          <p:nvPr/>
        </p:nvSpPr>
        <p:spPr>
          <a:xfrm>
            <a:off x="9317736" y="2920473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5830CE-2BCB-33C4-C6B8-C6F15D406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3172969"/>
            <a:ext cx="5479370" cy="950976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0D7C85DA-7D0B-C66E-42B1-4E1DDBC7C959}"/>
              </a:ext>
            </a:extLst>
          </p:cNvPr>
          <p:cNvSpPr/>
          <p:nvPr/>
        </p:nvSpPr>
        <p:spPr>
          <a:xfrm rot="5583788">
            <a:off x="6128854" y="3699581"/>
            <a:ext cx="301752" cy="2103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D0F8CD4-DF2F-2458-0040-33F41C8DC248}"/>
              </a:ext>
            </a:extLst>
          </p:cNvPr>
          <p:cNvSpPr/>
          <p:nvPr/>
        </p:nvSpPr>
        <p:spPr>
          <a:xfrm>
            <a:off x="4541753" y="4281704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6188CB-78D5-8525-0CDA-32E1FABC2120}"/>
              </a:ext>
            </a:extLst>
          </p:cNvPr>
          <p:cNvSpPr txBox="1"/>
          <p:nvPr/>
        </p:nvSpPr>
        <p:spPr>
          <a:xfrm>
            <a:off x="53774" y="4246226"/>
            <a:ext cx="28682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Buffer_ size 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IP0 has </a:t>
            </a:r>
            <a:r>
              <a:rPr lang="en-US" sz="1400">
                <a:solidFill>
                  <a:srgbClr val="00B050"/>
                </a:solidFill>
              </a:rPr>
              <a:t>higher priority </a:t>
            </a:r>
            <a:r>
              <a:rPr lang="en-US" sz="1400"/>
              <a:t>than IP6.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IP0 ‘s end-to-end latency </a:t>
            </a:r>
            <a:r>
              <a:rPr lang="en-US" sz="1400"/>
              <a:t>= queue waiting time + pipeline delay = 0(BF0 -&gt; DIE0) + 34 = 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IP0’s waiting time 0 as IP0 has high priority, </a:t>
            </a:r>
            <a:r>
              <a:rPr lang="en-US" sz="1400" b="1"/>
              <a:t>need not to wait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IP6 ‘s end-to-end latency </a:t>
            </a:r>
            <a:r>
              <a:rPr lang="en-US" sz="1400"/>
              <a:t>= queue waiting time + pipeline delay = 5 +25(BF6 -&gt; BF0) + 34 (BF0 -&gt; DIE0)= 64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5A26599-F3DD-B432-1429-DB78CDB9621E}"/>
              </a:ext>
            </a:extLst>
          </p:cNvPr>
          <p:cNvSpPr/>
          <p:nvPr/>
        </p:nvSpPr>
        <p:spPr>
          <a:xfrm rot="5400000">
            <a:off x="2830690" y="4984102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3C7C2F-E1E9-01D5-3D5A-83C6622086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731"/>
          <a:stretch>
            <a:fillRect/>
          </a:stretch>
        </p:blipFill>
        <p:spPr>
          <a:xfrm>
            <a:off x="3362161" y="4817375"/>
            <a:ext cx="3362794" cy="1160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FD7C6D-7C54-D899-E09F-47832F6D7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6567" y="3285253"/>
            <a:ext cx="5331659" cy="33758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E9FA9F-16A8-6553-C0E4-D55405F5E1E7}"/>
              </a:ext>
            </a:extLst>
          </p:cNvPr>
          <p:cNvSpPr txBox="1"/>
          <p:nvPr/>
        </p:nvSpPr>
        <p:spPr>
          <a:xfrm>
            <a:off x="8622890" y="5397827"/>
            <a:ext cx="340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../test/busFabricExp3.dot</a:t>
            </a:r>
          </a:p>
        </p:txBody>
      </p:sp>
    </p:spTree>
    <p:extLst>
      <p:ext uri="{BB962C8B-B14F-4D97-AF65-F5344CB8AC3E}">
        <p14:creationId xmlns:p14="http://schemas.microsoft.com/office/powerpoint/2010/main" val="316737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6EC6E1-1B29-18FF-DC28-710734E453AE}"/>
              </a:ext>
            </a:extLst>
          </p:cNvPr>
          <p:cNvSpPr/>
          <p:nvPr/>
        </p:nvSpPr>
        <p:spPr>
          <a:xfrm rot="5400000">
            <a:off x="2600250" y="1163266"/>
            <a:ext cx="1463039" cy="25121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F9FD66-C36A-3220-C55F-5C101790CCE6}"/>
              </a:ext>
            </a:extLst>
          </p:cNvPr>
          <p:cNvGrpSpPr/>
          <p:nvPr/>
        </p:nvGrpSpPr>
        <p:grpSpPr>
          <a:xfrm rot="5400000">
            <a:off x="2118369" y="2290984"/>
            <a:ext cx="203896" cy="289293"/>
            <a:chOff x="5296757" y="6077632"/>
            <a:chExt cx="203896" cy="28929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FCE6A3-5AD4-21C6-4830-754B40D4863D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1F6FA80-A7B3-1517-0447-F7268CEEF7E9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6F7B9F-F0C7-CF31-9F74-0543446A0060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614EBEB-DD3F-3673-90BB-584F22552A0C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439838A-BECF-D0E9-ADBA-6C6FF257C608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65795DC-1CC0-4A14-94CD-39BBB28709DB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75FD9D6-0A39-8DD0-2C99-304EDFDD3138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452896-A453-9EEC-E993-81A45F5351B1}"/>
              </a:ext>
            </a:extLst>
          </p:cNvPr>
          <p:cNvGrpSpPr/>
          <p:nvPr/>
        </p:nvGrpSpPr>
        <p:grpSpPr>
          <a:xfrm rot="5400000">
            <a:off x="4320940" y="2290985"/>
            <a:ext cx="203896" cy="289293"/>
            <a:chOff x="5296757" y="6077632"/>
            <a:chExt cx="203896" cy="28929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9E76C1-65D8-C1D2-41F7-A3E2AF774382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DE000B2-A2CA-D719-F85A-146ABD4BC48D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4C3D4B9-FD88-5D23-F0D5-70214B2A40FD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8A6695A-59FE-A83E-0687-6D880AB8266C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6ECE8F7-F359-DCEF-0E65-37760DB0D812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85D29BC-62CA-8DB6-EB5B-5466724F0582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64652D2-8563-BDE1-C7BF-42F8DD2A6A4B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7B1B83-3594-28B1-738B-B3E0C17E5026}"/>
              </a:ext>
            </a:extLst>
          </p:cNvPr>
          <p:cNvSpPr/>
          <p:nvPr/>
        </p:nvSpPr>
        <p:spPr>
          <a:xfrm>
            <a:off x="10401965" y="2130634"/>
            <a:ext cx="1016360" cy="559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DIE0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8905B6-058A-594C-7478-336852C6FC18}"/>
              </a:ext>
            </a:extLst>
          </p:cNvPr>
          <p:cNvCxnSpPr>
            <a:cxnSpLocks/>
            <a:stCxn id="30" idx="0"/>
            <a:endCxn id="21" idx="1"/>
          </p:cNvCxnSpPr>
          <p:nvPr/>
        </p:nvCxnSpPr>
        <p:spPr>
          <a:xfrm flipV="1">
            <a:off x="8840870" y="2410244"/>
            <a:ext cx="1561095" cy="9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A9AD03-94B6-EECC-7FE0-52B6748B8DA1}"/>
              </a:ext>
            </a:extLst>
          </p:cNvPr>
          <p:cNvSpPr txBox="1"/>
          <p:nvPr/>
        </p:nvSpPr>
        <p:spPr>
          <a:xfrm>
            <a:off x="2878109" y="137358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BF6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5D127F-6622-9778-65E5-F00D2B714C30}"/>
              </a:ext>
            </a:extLst>
          </p:cNvPr>
          <p:cNvSpPr/>
          <p:nvPr/>
        </p:nvSpPr>
        <p:spPr>
          <a:xfrm>
            <a:off x="2878109" y="2290411"/>
            <a:ext cx="855799" cy="26343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ARB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050CB3-FB68-BF7F-FBB0-714FD5F8DB0F}"/>
              </a:ext>
            </a:extLst>
          </p:cNvPr>
          <p:cNvCxnSpPr>
            <a:endCxn id="12" idx="2"/>
          </p:cNvCxnSpPr>
          <p:nvPr/>
        </p:nvCxnSpPr>
        <p:spPr>
          <a:xfrm>
            <a:off x="911692" y="2435631"/>
            <a:ext cx="11713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80BB46-5413-0660-DC8F-DF809AD5F246}"/>
              </a:ext>
            </a:extLst>
          </p:cNvPr>
          <p:cNvSpPr txBox="1"/>
          <p:nvPr/>
        </p:nvSpPr>
        <p:spPr>
          <a:xfrm>
            <a:off x="2002055" y="1822585"/>
            <a:ext cx="90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Ingress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AD9146-719C-90AD-F74D-83A4407B6730}"/>
              </a:ext>
            </a:extLst>
          </p:cNvPr>
          <p:cNvSpPr txBox="1"/>
          <p:nvPr/>
        </p:nvSpPr>
        <p:spPr>
          <a:xfrm>
            <a:off x="3816480" y="1761302"/>
            <a:ext cx="83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egress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C10075-E272-A397-26D6-B583A82386BA}"/>
              </a:ext>
            </a:extLst>
          </p:cNvPr>
          <p:cNvCxnSpPr>
            <a:stCxn id="10" idx="1"/>
          </p:cNvCxnSpPr>
          <p:nvPr/>
        </p:nvCxnSpPr>
        <p:spPr>
          <a:xfrm flipV="1">
            <a:off x="2228262" y="2054072"/>
            <a:ext cx="89346" cy="279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143962A-0E03-FEB7-B29B-4301BA324E8F}"/>
              </a:ext>
            </a:extLst>
          </p:cNvPr>
          <p:cNvCxnSpPr/>
          <p:nvPr/>
        </p:nvCxnSpPr>
        <p:spPr>
          <a:xfrm flipH="1" flipV="1">
            <a:off x="4285652" y="2007251"/>
            <a:ext cx="136246" cy="283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FDEB23E-E61E-B01B-55CE-21728CC8B367}"/>
              </a:ext>
            </a:extLst>
          </p:cNvPr>
          <p:cNvSpPr/>
          <p:nvPr/>
        </p:nvSpPr>
        <p:spPr>
          <a:xfrm rot="5400000">
            <a:off x="6853253" y="1163266"/>
            <a:ext cx="1463039" cy="25121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312B30-2ED9-8F3F-672B-19A6BC75F472}"/>
              </a:ext>
            </a:extLst>
          </p:cNvPr>
          <p:cNvGrpSpPr/>
          <p:nvPr/>
        </p:nvGrpSpPr>
        <p:grpSpPr>
          <a:xfrm rot="5400000">
            <a:off x="6371372" y="2290984"/>
            <a:ext cx="203896" cy="289293"/>
            <a:chOff x="5296757" y="6077632"/>
            <a:chExt cx="203896" cy="28929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300B81B-5912-30A4-30A2-888B6A847649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D9FB8BB-DA75-E8BE-4A14-4200F8C99304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91A5AED-0A4E-9AF2-6CDE-C5F0CD9FE067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A6A77F8-1B47-AF86-1315-6E384E36EB74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6A070E2-CA65-93B7-4D5D-A651D61AEAF3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00E0FAB-336C-F489-18C7-C36D82988502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83B600A-4705-9024-E53C-7B2660479A7F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C24ACCC-5A6C-97B7-3F75-6B411D77CF54}"/>
              </a:ext>
            </a:extLst>
          </p:cNvPr>
          <p:cNvGrpSpPr/>
          <p:nvPr/>
        </p:nvGrpSpPr>
        <p:grpSpPr>
          <a:xfrm rot="5400000">
            <a:off x="8573943" y="2290985"/>
            <a:ext cx="203896" cy="289293"/>
            <a:chOff x="5296757" y="6077632"/>
            <a:chExt cx="203896" cy="28929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E0A1D68-D5B0-5276-A131-56032E6B2FB5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811D1D0-E79D-D607-EBC6-DE210D42EB73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5737986-F7A3-204E-4911-07C99BA5E12D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B114669-4B3E-DF2C-4912-630F5F5A2484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2E579D5-5FAB-17E2-E9CA-7FFB7835D2A6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C5C012F-2E1C-A2EE-9319-2A5835470542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F637535-CA89-B8B6-78A0-AE029AFD723C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20FC877-F4C1-F1E8-9B4D-27279AD73CD4}"/>
              </a:ext>
            </a:extLst>
          </p:cNvPr>
          <p:cNvSpPr txBox="1"/>
          <p:nvPr/>
        </p:nvSpPr>
        <p:spPr>
          <a:xfrm>
            <a:off x="7131112" y="137358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BF0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9364D8E-50B2-772C-1837-EE32045292DE}"/>
              </a:ext>
            </a:extLst>
          </p:cNvPr>
          <p:cNvSpPr/>
          <p:nvPr/>
        </p:nvSpPr>
        <p:spPr>
          <a:xfrm>
            <a:off x="7131112" y="2290411"/>
            <a:ext cx="855799" cy="26343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ARB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9AFBD4-758D-42D6-6A5F-7A5155B42D85}"/>
              </a:ext>
            </a:extLst>
          </p:cNvPr>
          <p:cNvSpPr txBox="1"/>
          <p:nvPr/>
        </p:nvSpPr>
        <p:spPr>
          <a:xfrm>
            <a:off x="6255058" y="1822585"/>
            <a:ext cx="90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Ingress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1D5BCC-CFA0-20F5-D065-AAEBF8B4E101}"/>
              </a:ext>
            </a:extLst>
          </p:cNvPr>
          <p:cNvSpPr txBox="1"/>
          <p:nvPr/>
        </p:nvSpPr>
        <p:spPr>
          <a:xfrm>
            <a:off x="8069483" y="1761302"/>
            <a:ext cx="83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egress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49DD27C-2BBA-FB27-958C-C36078365B89}"/>
              </a:ext>
            </a:extLst>
          </p:cNvPr>
          <p:cNvCxnSpPr>
            <a:stCxn id="36" idx="1"/>
          </p:cNvCxnSpPr>
          <p:nvPr/>
        </p:nvCxnSpPr>
        <p:spPr>
          <a:xfrm flipV="1">
            <a:off x="6481265" y="2054072"/>
            <a:ext cx="89346" cy="279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5FA17CB-F2F9-DD7A-696A-5C508BC436B7}"/>
              </a:ext>
            </a:extLst>
          </p:cNvPr>
          <p:cNvCxnSpPr/>
          <p:nvPr/>
        </p:nvCxnSpPr>
        <p:spPr>
          <a:xfrm flipH="1" flipV="1">
            <a:off x="8538655" y="2007251"/>
            <a:ext cx="136246" cy="283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E4B1B2F-57C4-B915-1B65-292A7FBBD984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567535" y="2435631"/>
            <a:ext cx="1768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883D0B0-2F5C-2EDF-5A29-4F85A9BBA983}"/>
              </a:ext>
            </a:extLst>
          </p:cNvPr>
          <p:cNvSpPr txBox="1"/>
          <p:nvPr/>
        </p:nvSpPr>
        <p:spPr>
          <a:xfrm>
            <a:off x="4876486" y="4032162"/>
            <a:ext cx="2757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Avg Latency = 59cyl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D4FF2E5-D34E-D56D-855C-7094BD6136E5}"/>
              </a:ext>
            </a:extLst>
          </p:cNvPr>
          <p:cNvCxnSpPr>
            <a:cxnSpLocks/>
          </p:cNvCxnSpPr>
          <p:nvPr/>
        </p:nvCxnSpPr>
        <p:spPr>
          <a:xfrm>
            <a:off x="2002055" y="3977270"/>
            <a:ext cx="824724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EE505CC-D865-5B37-71E6-9D1A9E1BF583}"/>
              </a:ext>
            </a:extLst>
          </p:cNvPr>
          <p:cNvCxnSpPr/>
          <p:nvPr/>
        </p:nvCxnSpPr>
        <p:spPr>
          <a:xfrm>
            <a:off x="4791070" y="1288488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1539B71-1FA3-03F5-DB7E-EC426FC1649E}"/>
              </a:ext>
            </a:extLst>
          </p:cNvPr>
          <p:cNvCxnSpPr/>
          <p:nvPr/>
        </p:nvCxnSpPr>
        <p:spPr>
          <a:xfrm>
            <a:off x="10266945" y="1288489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DD9F201-0C4A-BAF9-5411-1BFAE6A13757}"/>
              </a:ext>
            </a:extLst>
          </p:cNvPr>
          <p:cNvCxnSpPr>
            <a:cxnSpLocks/>
          </p:cNvCxnSpPr>
          <p:nvPr/>
        </p:nvCxnSpPr>
        <p:spPr>
          <a:xfrm>
            <a:off x="6217920" y="3300305"/>
            <a:ext cx="278650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4F2EDF0-6BA7-803B-0F4C-2C277F47C9E2}"/>
              </a:ext>
            </a:extLst>
          </p:cNvPr>
          <p:cNvCxnSpPr>
            <a:cxnSpLocks/>
          </p:cNvCxnSpPr>
          <p:nvPr/>
        </p:nvCxnSpPr>
        <p:spPr>
          <a:xfrm>
            <a:off x="4791070" y="3300305"/>
            <a:ext cx="138834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A88963D-27A6-A4FE-64F1-039B1D009AA8}"/>
              </a:ext>
            </a:extLst>
          </p:cNvPr>
          <p:cNvCxnSpPr>
            <a:cxnSpLocks/>
          </p:cNvCxnSpPr>
          <p:nvPr/>
        </p:nvCxnSpPr>
        <p:spPr>
          <a:xfrm>
            <a:off x="9022069" y="3300305"/>
            <a:ext cx="124487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F4B3286-1C84-C83C-5C8D-CC5A7F023988}"/>
              </a:ext>
            </a:extLst>
          </p:cNvPr>
          <p:cNvSpPr txBox="1"/>
          <p:nvPr/>
        </p:nvSpPr>
        <p:spPr>
          <a:xfrm>
            <a:off x="5135789" y="3327296"/>
            <a:ext cx="786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10cyl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57EE6B8-2B0E-B160-01D7-FB8874B9D7AC}"/>
              </a:ext>
            </a:extLst>
          </p:cNvPr>
          <p:cNvCxnSpPr/>
          <p:nvPr/>
        </p:nvCxnSpPr>
        <p:spPr>
          <a:xfrm>
            <a:off x="6166406" y="1288489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588A401-5A19-94EB-D4A6-30E194A97A74}"/>
              </a:ext>
            </a:extLst>
          </p:cNvPr>
          <p:cNvSpPr txBox="1"/>
          <p:nvPr/>
        </p:nvSpPr>
        <p:spPr>
          <a:xfrm>
            <a:off x="6380664" y="3309499"/>
            <a:ext cx="244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1+1+3+3+1+3+3=15cyl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475DFC-FC0D-9AB4-6BAE-FDC34895E932}"/>
              </a:ext>
            </a:extLst>
          </p:cNvPr>
          <p:cNvSpPr txBox="1"/>
          <p:nvPr/>
        </p:nvSpPr>
        <p:spPr>
          <a:xfrm>
            <a:off x="8885367" y="3335709"/>
            <a:ext cx="142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17+2 = 19cyl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024BFE-5381-2F4D-3AEE-6A3169166E54}"/>
              </a:ext>
            </a:extLst>
          </p:cNvPr>
          <p:cNvCxnSpPr/>
          <p:nvPr/>
        </p:nvCxnSpPr>
        <p:spPr>
          <a:xfrm>
            <a:off x="9004424" y="1288489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8D9A4BF-8917-5969-F490-5CEC587CA7B7}"/>
              </a:ext>
            </a:extLst>
          </p:cNvPr>
          <p:cNvCxnSpPr>
            <a:cxnSpLocks/>
          </p:cNvCxnSpPr>
          <p:nvPr/>
        </p:nvCxnSpPr>
        <p:spPr>
          <a:xfrm>
            <a:off x="2024396" y="3312863"/>
            <a:ext cx="278650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82FD5D2-DEFA-A788-3203-46D4A260061E}"/>
              </a:ext>
            </a:extLst>
          </p:cNvPr>
          <p:cNvCxnSpPr/>
          <p:nvPr/>
        </p:nvCxnSpPr>
        <p:spPr>
          <a:xfrm>
            <a:off x="1972882" y="1301047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93C7D4E-9535-0F20-A201-44F84658F3E1}"/>
              </a:ext>
            </a:extLst>
          </p:cNvPr>
          <p:cNvSpPr txBox="1"/>
          <p:nvPr/>
        </p:nvSpPr>
        <p:spPr>
          <a:xfrm>
            <a:off x="2187140" y="3322057"/>
            <a:ext cx="244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1+1+3+3+1+3+3=15cyl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8E4DC64-0311-535D-A7ED-EBD20372D63C}"/>
              </a:ext>
            </a:extLst>
          </p:cNvPr>
          <p:cNvGrpSpPr/>
          <p:nvPr/>
        </p:nvGrpSpPr>
        <p:grpSpPr>
          <a:xfrm rot="5400000">
            <a:off x="6367807" y="2738595"/>
            <a:ext cx="203896" cy="289293"/>
            <a:chOff x="5296757" y="6077632"/>
            <a:chExt cx="203896" cy="28929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5AC0A349-3B8C-65BC-A6D3-72E1D9159D35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A68CBFF2-002B-EBBA-BF7C-07B2F1D569C9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85EA7A7-4D5D-4C31-B708-174607B5852B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2EEA70D3-323C-5C4E-4468-04A676E6ADE0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8F176EA6-BFDE-9CC6-DEC8-6D652EF38BF3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5150CFD6-9EDB-CC75-25E5-A36F071B2D3C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1512DE97-832B-7C4D-78A9-08406CD0FFD8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3E0602D0-4BAA-FF0D-6F64-E584250B094B}"/>
              </a:ext>
            </a:extLst>
          </p:cNvPr>
          <p:cNvCxnSpPr>
            <a:cxnSpLocks/>
            <a:endCxn id="141" idx="2"/>
          </p:cNvCxnSpPr>
          <p:nvPr/>
        </p:nvCxnSpPr>
        <p:spPr>
          <a:xfrm flipV="1">
            <a:off x="5891792" y="2883242"/>
            <a:ext cx="440727" cy="1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B46BC8F-239D-DE43-0F7C-CA00F53DC597}"/>
              </a:ext>
            </a:extLst>
          </p:cNvPr>
          <p:cNvCxnSpPr/>
          <p:nvPr/>
        </p:nvCxnSpPr>
        <p:spPr>
          <a:xfrm>
            <a:off x="6706496" y="2435630"/>
            <a:ext cx="4246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F5F9F0A-F768-E6F8-6A33-0FB587280CF4}"/>
              </a:ext>
            </a:extLst>
          </p:cNvPr>
          <p:cNvCxnSpPr>
            <a:cxnSpLocks/>
          </p:cNvCxnSpPr>
          <p:nvPr/>
        </p:nvCxnSpPr>
        <p:spPr>
          <a:xfrm flipV="1">
            <a:off x="6567046" y="2553847"/>
            <a:ext cx="590888" cy="329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0D6F06DD-17F3-91AB-FFA9-5F5EFEAD1C10}"/>
              </a:ext>
            </a:extLst>
          </p:cNvPr>
          <p:cNvSpPr/>
          <p:nvPr/>
        </p:nvSpPr>
        <p:spPr>
          <a:xfrm>
            <a:off x="171104" y="2156021"/>
            <a:ext cx="740588" cy="559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IP6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F6B34E31-0F61-90AD-3C7B-361EA645CA39}"/>
              </a:ext>
            </a:extLst>
          </p:cNvPr>
          <p:cNvSpPr/>
          <p:nvPr/>
        </p:nvSpPr>
        <p:spPr>
          <a:xfrm>
            <a:off x="5123078" y="2609612"/>
            <a:ext cx="740588" cy="559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IP0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6EE830F-47D9-5A53-F4CC-67A2E6C4B639}"/>
              </a:ext>
            </a:extLst>
          </p:cNvPr>
          <p:cNvSpPr txBox="1"/>
          <p:nvPr/>
        </p:nvSpPr>
        <p:spPr>
          <a:xfrm>
            <a:off x="612648" y="283464"/>
            <a:ext cx="2512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Back up</a:t>
            </a:r>
          </a:p>
        </p:txBody>
      </p:sp>
    </p:spTree>
    <p:extLst>
      <p:ext uri="{BB962C8B-B14F-4D97-AF65-F5344CB8AC3E}">
        <p14:creationId xmlns:p14="http://schemas.microsoft.com/office/powerpoint/2010/main" val="2133337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8F3AF8-5354-F57F-E43C-6351FD3F5859}"/>
              </a:ext>
            </a:extLst>
          </p:cNvPr>
          <p:cNvSpPr/>
          <p:nvPr/>
        </p:nvSpPr>
        <p:spPr>
          <a:xfrm rot="5400000">
            <a:off x="2405322" y="1020448"/>
            <a:ext cx="1463039" cy="2797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1933A6-4A5A-B2F9-5620-4AFF27FC9056}"/>
              </a:ext>
            </a:extLst>
          </p:cNvPr>
          <p:cNvGrpSpPr/>
          <p:nvPr/>
        </p:nvGrpSpPr>
        <p:grpSpPr>
          <a:xfrm rot="5400000">
            <a:off x="1902469" y="2290984"/>
            <a:ext cx="203896" cy="289293"/>
            <a:chOff x="5296757" y="6077632"/>
            <a:chExt cx="203896" cy="28929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3E7141-A5F3-1831-26BD-59F7A8653A29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B4FEDFE-315A-4580-D54F-4D051AF886DA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CCDBDEC-622D-50AF-7BA5-721B064DF666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2ADBFF3-5688-AA0A-33AC-22BB701D8F6B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9B1D13A-ED5F-33B6-DB4C-5C61BF4F70C5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A7EEF9-A4B6-875E-D9F1-87AA1B935FBB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31CED93-5770-7A1F-1C60-784EDAA60E82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C2AA27-AE5B-F659-DED0-F462BB5A9805}"/>
              </a:ext>
            </a:extLst>
          </p:cNvPr>
          <p:cNvGrpSpPr/>
          <p:nvPr/>
        </p:nvGrpSpPr>
        <p:grpSpPr>
          <a:xfrm rot="5400000">
            <a:off x="4320940" y="2290985"/>
            <a:ext cx="203896" cy="289293"/>
            <a:chOff x="5296757" y="6077632"/>
            <a:chExt cx="203896" cy="28929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A19D9B-5B6D-BF59-68B0-0AEF57CF8F17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6E2656A-421B-F9EC-04B1-D63F6A2132A0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C0B69FB-4D1D-1A75-79EE-090D6801312B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241DB16-B822-C38D-FE31-AF61EFB23F8A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35667EA-7C25-92BF-052D-CD3E134AF848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CBFC04C-F6FF-B9CD-BFFA-68612AA2F437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A821328-4190-727E-1D72-BEF54F32EFB3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F23F1F-D479-3B5E-FB52-A9D84F74736E}"/>
              </a:ext>
            </a:extLst>
          </p:cNvPr>
          <p:cNvSpPr/>
          <p:nvPr/>
        </p:nvSpPr>
        <p:spPr>
          <a:xfrm>
            <a:off x="10902836" y="2169024"/>
            <a:ext cx="1016360" cy="559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DIE0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C27C05-FC6A-E29F-7AB0-F6F1861EBDA1}"/>
              </a:ext>
            </a:extLst>
          </p:cNvPr>
          <p:cNvCxnSpPr>
            <a:cxnSpLocks/>
            <a:stCxn id="30" idx="0"/>
            <a:endCxn id="21" idx="1"/>
          </p:cNvCxnSpPr>
          <p:nvPr/>
        </p:nvCxnSpPr>
        <p:spPr>
          <a:xfrm>
            <a:off x="9115176" y="2419364"/>
            <a:ext cx="1787660" cy="29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145CB54-74B4-A661-FECB-7A344BF37305}"/>
              </a:ext>
            </a:extLst>
          </p:cNvPr>
          <p:cNvSpPr txBox="1"/>
          <p:nvPr/>
        </p:nvSpPr>
        <p:spPr>
          <a:xfrm>
            <a:off x="2878109" y="137358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BF6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3A8F9B-7073-421D-16C4-6D9E6D8079AE}"/>
              </a:ext>
            </a:extLst>
          </p:cNvPr>
          <p:cNvSpPr/>
          <p:nvPr/>
        </p:nvSpPr>
        <p:spPr>
          <a:xfrm>
            <a:off x="2662277" y="2300690"/>
            <a:ext cx="855799" cy="26343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ARB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78EE07-E517-C86E-80A0-19231C7AF70E}"/>
              </a:ext>
            </a:extLst>
          </p:cNvPr>
          <p:cNvCxnSpPr>
            <a:cxnSpLocks/>
          </p:cNvCxnSpPr>
          <p:nvPr/>
        </p:nvCxnSpPr>
        <p:spPr>
          <a:xfrm>
            <a:off x="924392" y="2435631"/>
            <a:ext cx="929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955477D-B497-1267-5927-E357D792C0E9}"/>
              </a:ext>
            </a:extLst>
          </p:cNvPr>
          <p:cNvSpPr txBox="1"/>
          <p:nvPr/>
        </p:nvSpPr>
        <p:spPr>
          <a:xfrm>
            <a:off x="2002055" y="1822585"/>
            <a:ext cx="90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Ingress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587CC7-E287-1A62-1DFF-C1C6E328D257}"/>
              </a:ext>
            </a:extLst>
          </p:cNvPr>
          <p:cNvSpPr txBox="1"/>
          <p:nvPr/>
        </p:nvSpPr>
        <p:spPr>
          <a:xfrm>
            <a:off x="3816480" y="1761302"/>
            <a:ext cx="83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egress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C94B16-D00B-2A22-D8B8-C3FDCA3E42FD}"/>
              </a:ext>
            </a:extLst>
          </p:cNvPr>
          <p:cNvCxnSpPr>
            <a:stCxn id="10" idx="1"/>
          </p:cNvCxnSpPr>
          <p:nvPr/>
        </p:nvCxnSpPr>
        <p:spPr>
          <a:xfrm flipV="1">
            <a:off x="2012362" y="2054072"/>
            <a:ext cx="89346" cy="279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CE5D9F8-8C37-A214-6C64-8480AEE47CFF}"/>
              </a:ext>
            </a:extLst>
          </p:cNvPr>
          <p:cNvCxnSpPr/>
          <p:nvPr/>
        </p:nvCxnSpPr>
        <p:spPr>
          <a:xfrm flipH="1" flipV="1">
            <a:off x="4285652" y="2007251"/>
            <a:ext cx="136246" cy="283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6A5B4BE-1C44-AE58-8787-C6BDCCD3D9BF}"/>
              </a:ext>
            </a:extLst>
          </p:cNvPr>
          <p:cNvSpPr/>
          <p:nvPr/>
        </p:nvSpPr>
        <p:spPr>
          <a:xfrm rot="5400000">
            <a:off x="6990406" y="1026113"/>
            <a:ext cx="1463039" cy="2786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66A2960-31A8-7769-F8F4-B67123269595}"/>
              </a:ext>
            </a:extLst>
          </p:cNvPr>
          <p:cNvGrpSpPr/>
          <p:nvPr/>
        </p:nvGrpSpPr>
        <p:grpSpPr>
          <a:xfrm rot="5400000">
            <a:off x="8840643" y="2290985"/>
            <a:ext cx="203896" cy="289293"/>
            <a:chOff x="5296757" y="6077632"/>
            <a:chExt cx="203896" cy="28929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EC36FA4-CDD8-D146-64DB-BFA8F00815D8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988FC8D-640B-F66B-9549-870617672A90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2FCE070-116E-680E-EA39-4B9675801EA5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A0F3005-F396-4EFA-F158-7CE9A6E22896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CF30D08-43EE-35AC-863C-11E99E65C2B6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5811F71-9603-906E-26CA-6F43EE3DEE61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AAF4706-C09D-8629-70B0-9FE8CB55791E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6187983-D9FA-3AF4-D4C8-079E35873E13}"/>
              </a:ext>
            </a:extLst>
          </p:cNvPr>
          <p:cNvSpPr txBox="1"/>
          <p:nvPr/>
        </p:nvSpPr>
        <p:spPr>
          <a:xfrm>
            <a:off x="7131112" y="137358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BF0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5CB1775-0C16-F78C-420F-502FF1F74D75}"/>
              </a:ext>
            </a:extLst>
          </p:cNvPr>
          <p:cNvSpPr/>
          <p:nvPr/>
        </p:nvSpPr>
        <p:spPr>
          <a:xfrm>
            <a:off x="7131112" y="2290411"/>
            <a:ext cx="855799" cy="26343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ARB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F85AAF-140A-F108-6FF8-33C1E2E04F02}"/>
              </a:ext>
            </a:extLst>
          </p:cNvPr>
          <p:cNvSpPr txBox="1"/>
          <p:nvPr/>
        </p:nvSpPr>
        <p:spPr>
          <a:xfrm>
            <a:off x="8069483" y="1761302"/>
            <a:ext cx="83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egress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69CE83C-BDBC-5617-C713-FB703213BE9B}"/>
              </a:ext>
            </a:extLst>
          </p:cNvPr>
          <p:cNvCxnSpPr/>
          <p:nvPr/>
        </p:nvCxnSpPr>
        <p:spPr>
          <a:xfrm flipH="1" flipV="1">
            <a:off x="8652955" y="2045351"/>
            <a:ext cx="136246" cy="283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E167456-35AD-3478-AA53-AB7AB48CC6EE}"/>
              </a:ext>
            </a:extLst>
          </p:cNvPr>
          <p:cNvCxnSpPr>
            <a:cxnSpLocks/>
          </p:cNvCxnSpPr>
          <p:nvPr/>
        </p:nvCxnSpPr>
        <p:spPr>
          <a:xfrm flipV="1">
            <a:off x="4567535" y="2410244"/>
            <a:ext cx="2563577" cy="25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B857D49-31B9-3686-D46D-A5C781C2ED39}"/>
              </a:ext>
            </a:extLst>
          </p:cNvPr>
          <p:cNvSpPr txBox="1"/>
          <p:nvPr/>
        </p:nvSpPr>
        <p:spPr>
          <a:xfrm>
            <a:off x="4876486" y="4032162"/>
            <a:ext cx="2757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Avg Latency = 59cyl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16903D6-7BE2-6F1B-8E71-396614D94B1F}"/>
              </a:ext>
            </a:extLst>
          </p:cNvPr>
          <p:cNvCxnSpPr>
            <a:cxnSpLocks/>
          </p:cNvCxnSpPr>
          <p:nvPr/>
        </p:nvCxnSpPr>
        <p:spPr>
          <a:xfrm>
            <a:off x="2002055" y="3977270"/>
            <a:ext cx="864589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5221EFA-65EE-911D-F89F-293112BF9B1C}"/>
              </a:ext>
            </a:extLst>
          </p:cNvPr>
          <p:cNvCxnSpPr/>
          <p:nvPr/>
        </p:nvCxnSpPr>
        <p:spPr>
          <a:xfrm>
            <a:off x="4791070" y="1288488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25FAA7E-FE74-D716-366A-CBB719581A41}"/>
              </a:ext>
            </a:extLst>
          </p:cNvPr>
          <p:cNvCxnSpPr/>
          <p:nvPr/>
        </p:nvCxnSpPr>
        <p:spPr>
          <a:xfrm>
            <a:off x="10647945" y="1288488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1813FC4-6CC4-6B69-C4A9-96CB4EFC258D}"/>
              </a:ext>
            </a:extLst>
          </p:cNvPr>
          <p:cNvCxnSpPr>
            <a:cxnSpLocks/>
          </p:cNvCxnSpPr>
          <p:nvPr/>
        </p:nvCxnSpPr>
        <p:spPr>
          <a:xfrm>
            <a:off x="6217920" y="3300305"/>
            <a:ext cx="278650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8FAE374-C06D-3F15-0555-15FC29D4B59D}"/>
              </a:ext>
            </a:extLst>
          </p:cNvPr>
          <p:cNvCxnSpPr>
            <a:cxnSpLocks/>
          </p:cNvCxnSpPr>
          <p:nvPr/>
        </p:nvCxnSpPr>
        <p:spPr>
          <a:xfrm>
            <a:off x="4791070" y="3300305"/>
            <a:ext cx="138834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B5CA8A-0B7B-091F-F549-BD4B247D3030}"/>
              </a:ext>
            </a:extLst>
          </p:cNvPr>
          <p:cNvCxnSpPr>
            <a:cxnSpLocks/>
          </p:cNvCxnSpPr>
          <p:nvPr/>
        </p:nvCxnSpPr>
        <p:spPr>
          <a:xfrm>
            <a:off x="9415769" y="3300305"/>
            <a:ext cx="124487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9ED8DEF-4A26-0E34-187B-D72B36BF5A5E}"/>
              </a:ext>
            </a:extLst>
          </p:cNvPr>
          <p:cNvSpPr txBox="1"/>
          <p:nvPr/>
        </p:nvSpPr>
        <p:spPr>
          <a:xfrm>
            <a:off x="5135789" y="3327296"/>
            <a:ext cx="786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10cyl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C5B74BF-AE28-41F8-D6A6-637AEAB4166C}"/>
              </a:ext>
            </a:extLst>
          </p:cNvPr>
          <p:cNvCxnSpPr/>
          <p:nvPr/>
        </p:nvCxnSpPr>
        <p:spPr>
          <a:xfrm>
            <a:off x="6166406" y="1288489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53B4615-39C7-03B9-668C-1C22F0861CBB}"/>
              </a:ext>
            </a:extLst>
          </p:cNvPr>
          <p:cNvSpPr txBox="1"/>
          <p:nvPr/>
        </p:nvSpPr>
        <p:spPr>
          <a:xfrm>
            <a:off x="6380664" y="3309499"/>
            <a:ext cx="244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1+1+3+3+1+3+3=15cyl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D94992-DF8E-108F-79C5-455CC9DDFBBC}"/>
              </a:ext>
            </a:extLst>
          </p:cNvPr>
          <p:cNvSpPr txBox="1"/>
          <p:nvPr/>
        </p:nvSpPr>
        <p:spPr>
          <a:xfrm>
            <a:off x="9291652" y="3346035"/>
            <a:ext cx="142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17+2 = 19cyl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090A5F9-E3C8-FBEB-5C13-F9765D865703}"/>
              </a:ext>
            </a:extLst>
          </p:cNvPr>
          <p:cNvCxnSpPr/>
          <p:nvPr/>
        </p:nvCxnSpPr>
        <p:spPr>
          <a:xfrm>
            <a:off x="9317176" y="1288488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112CB74-FBB4-776B-D811-F8AA490E9D42}"/>
              </a:ext>
            </a:extLst>
          </p:cNvPr>
          <p:cNvCxnSpPr>
            <a:cxnSpLocks/>
          </p:cNvCxnSpPr>
          <p:nvPr/>
        </p:nvCxnSpPr>
        <p:spPr>
          <a:xfrm>
            <a:off x="2024396" y="3312863"/>
            <a:ext cx="278650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E5070F6-B0DD-B515-44CF-C2DFB8A25285}"/>
              </a:ext>
            </a:extLst>
          </p:cNvPr>
          <p:cNvCxnSpPr/>
          <p:nvPr/>
        </p:nvCxnSpPr>
        <p:spPr>
          <a:xfrm>
            <a:off x="1579540" y="1373589"/>
            <a:ext cx="0" cy="3330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03A9AD5-B0E1-79DB-5300-2D6C70535773}"/>
              </a:ext>
            </a:extLst>
          </p:cNvPr>
          <p:cNvSpPr txBox="1"/>
          <p:nvPr/>
        </p:nvSpPr>
        <p:spPr>
          <a:xfrm>
            <a:off x="2187140" y="3322057"/>
            <a:ext cx="244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1+1+3+3+1+3+3=15cyl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C25920A-D4E4-1CC2-D7E7-8DDEE9668AE4}"/>
              </a:ext>
            </a:extLst>
          </p:cNvPr>
          <p:cNvGrpSpPr/>
          <p:nvPr/>
        </p:nvGrpSpPr>
        <p:grpSpPr>
          <a:xfrm rot="5400000">
            <a:off x="6367807" y="2738595"/>
            <a:ext cx="203896" cy="289293"/>
            <a:chOff x="5296757" y="6077632"/>
            <a:chExt cx="203896" cy="28929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34B4F7D-CA2C-5C78-6C1C-5966A40520D0}"/>
                </a:ext>
              </a:extLst>
            </p:cNvPr>
            <p:cNvSpPr/>
            <p:nvPr/>
          </p:nvSpPr>
          <p:spPr>
            <a:xfrm>
              <a:off x="5296757" y="6077632"/>
              <a:ext cx="203896" cy="2892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A8E56AA-C5C3-F83A-49FD-E29148DAEBB2}"/>
                </a:ext>
              </a:extLst>
            </p:cNvPr>
            <p:cNvGrpSpPr/>
            <p:nvPr/>
          </p:nvGrpSpPr>
          <p:grpSpPr>
            <a:xfrm>
              <a:off x="5296757" y="6077632"/>
              <a:ext cx="203896" cy="281883"/>
              <a:chOff x="3659026" y="5581650"/>
              <a:chExt cx="203896" cy="28188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B11EC57-4CC5-D8DD-2126-4FFEFF887B88}"/>
                  </a:ext>
                </a:extLst>
              </p:cNvPr>
              <p:cNvSpPr/>
              <p:nvPr/>
            </p:nvSpPr>
            <p:spPr>
              <a:xfrm>
                <a:off x="3659026" y="5581650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92CE81A-7E47-F4ED-4860-4E1B75AD1873}"/>
                  </a:ext>
                </a:extLst>
              </p:cNvPr>
              <p:cNvSpPr/>
              <p:nvPr/>
            </p:nvSpPr>
            <p:spPr>
              <a:xfrm>
                <a:off x="3659026" y="5638162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16F174E6-A378-7936-DD96-CD446BC9D387}"/>
                  </a:ext>
                </a:extLst>
              </p:cNvPr>
              <p:cNvSpPr/>
              <p:nvPr/>
            </p:nvSpPr>
            <p:spPr>
              <a:xfrm>
                <a:off x="3659026" y="5694674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96708A7-C688-041A-28F5-A6BB50054286}"/>
                  </a:ext>
                </a:extLst>
              </p:cNvPr>
              <p:cNvSpPr/>
              <p:nvPr/>
            </p:nvSpPr>
            <p:spPr>
              <a:xfrm>
                <a:off x="3659026" y="5751186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39A90D1-5721-89DE-A78E-508B92ED9A46}"/>
                  </a:ext>
                </a:extLst>
              </p:cNvPr>
              <p:cNvSpPr/>
              <p:nvPr/>
            </p:nvSpPr>
            <p:spPr>
              <a:xfrm>
                <a:off x="3659026" y="5816177"/>
                <a:ext cx="203896" cy="47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A8C4165-4833-741C-6096-AEBC827B41B8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5891792" y="2883242"/>
            <a:ext cx="440727" cy="1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A30CFED-39E1-54CE-831E-39B495FE889A}"/>
              </a:ext>
            </a:extLst>
          </p:cNvPr>
          <p:cNvCxnSpPr>
            <a:cxnSpLocks/>
          </p:cNvCxnSpPr>
          <p:nvPr/>
        </p:nvCxnSpPr>
        <p:spPr>
          <a:xfrm flipV="1">
            <a:off x="6567046" y="2553847"/>
            <a:ext cx="590888" cy="329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53B1F28-247E-CFD7-389B-835E9580746C}"/>
              </a:ext>
            </a:extLst>
          </p:cNvPr>
          <p:cNvSpPr/>
          <p:nvPr/>
        </p:nvSpPr>
        <p:spPr>
          <a:xfrm>
            <a:off x="171104" y="2156021"/>
            <a:ext cx="740588" cy="559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IP6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15D84F2-43E4-0DF6-4883-41AFAE040BFF}"/>
              </a:ext>
            </a:extLst>
          </p:cNvPr>
          <p:cNvSpPr/>
          <p:nvPr/>
        </p:nvSpPr>
        <p:spPr>
          <a:xfrm>
            <a:off x="5123078" y="2609612"/>
            <a:ext cx="740588" cy="559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IP0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0E9B920-AAA3-E3BE-9DCE-6475652A8896}"/>
              </a:ext>
            </a:extLst>
          </p:cNvPr>
          <p:cNvSpPr txBox="1"/>
          <p:nvPr/>
        </p:nvSpPr>
        <p:spPr>
          <a:xfrm>
            <a:off x="1181458" y="203044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A16D7D8-D423-69F6-833D-174C43D2101F}"/>
              </a:ext>
            </a:extLst>
          </p:cNvPr>
          <p:cNvCxnSpPr>
            <a:cxnSpLocks/>
          </p:cNvCxnSpPr>
          <p:nvPr/>
        </p:nvCxnSpPr>
        <p:spPr>
          <a:xfrm flipV="1">
            <a:off x="2181722" y="2423669"/>
            <a:ext cx="440727" cy="1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26F2A29-551F-CE3C-22F6-7908EDEC4F39}"/>
              </a:ext>
            </a:extLst>
          </p:cNvPr>
          <p:cNvSpPr txBox="1"/>
          <p:nvPr/>
        </p:nvSpPr>
        <p:spPr>
          <a:xfrm>
            <a:off x="2258628" y="24867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1 +3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F4D2542-24D8-1214-AA5E-E587556FBED8}"/>
              </a:ext>
            </a:extLst>
          </p:cNvPr>
          <p:cNvSpPr/>
          <p:nvPr/>
        </p:nvSpPr>
        <p:spPr>
          <a:xfrm>
            <a:off x="3821645" y="2399781"/>
            <a:ext cx="117377" cy="13779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8A3DB24-6056-3394-A027-E40713A253C7}"/>
              </a:ext>
            </a:extLst>
          </p:cNvPr>
          <p:cNvCxnSpPr>
            <a:cxnSpLocks/>
          </p:cNvCxnSpPr>
          <p:nvPr/>
        </p:nvCxnSpPr>
        <p:spPr>
          <a:xfrm>
            <a:off x="3518076" y="2448634"/>
            <a:ext cx="288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A44CA28-A265-2D1E-4E9F-88A4C3558402}"/>
              </a:ext>
            </a:extLst>
          </p:cNvPr>
          <p:cNvCxnSpPr>
            <a:cxnSpLocks/>
          </p:cNvCxnSpPr>
          <p:nvPr/>
        </p:nvCxnSpPr>
        <p:spPr>
          <a:xfrm>
            <a:off x="3962576" y="2461334"/>
            <a:ext cx="288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B7EBFBA-374A-B756-9C7E-0737A55995D2}"/>
              </a:ext>
            </a:extLst>
          </p:cNvPr>
          <p:cNvSpPr txBox="1"/>
          <p:nvPr/>
        </p:nvSpPr>
        <p:spPr>
          <a:xfrm>
            <a:off x="3641440" y="254889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3+1+3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0E9A25-6895-2689-1BA9-C96B97C57627}"/>
              </a:ext>
            </a:extLst>
          </p:cNvPr>
          <p:cNvSpPr txBox="1"/>
          <p:nvPr/>
        </p:nvSpPr>
        <p:spPr>
          <a:xfrm>
            <a:off x="4735536" y="1687351"/>
            <a:ext cx="1529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3+10+1+1+3=18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7C11025-7C0D-69F3-E036-B4C7D04B638A}"/>
              </a:ext>
            </a:extLst>
          </p:cNvPr>
          <p:cNvSpPr/>
          <p:nvPr/>
        </p:nvSpPr>
        <p:spPr>
          <a:xfrm>
            <a:off x="8308152" y="2374381"/>
            <a:ext cx="117377" cy="13779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DC8B066-A326-C71D-9612-47F6F2B31A69}"/>
              </a:ext>
            </a:extLst>
          </p:cNvPr>
          <p:cNvCxnSpPr>
            <a:cxnSpLocks/>
          </p:cNvCxnSpPr>
          <p:nvPr/>
        </p:nvCxnSpPr>
        <p:spPr>
          <a:xfrm>
            <a:off x="8004583" y="2448634"/>
            <a:ext cx="288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90B2D80-30F4-CB07-6686-9E34D46CE37A}"/>
              </a:ext>
            </a:extLst>
          </p:cNvPr>
          <p:cNvCxnSpPr>
            <a:cxnSpLocks/>
          </p:cNvCxnSpPr>
          <p:nvPr/>
        </p:nvCxnSpPr>
        <p:spPr>
          <a:xfrm>
            <a:off x="8449083" y="2435934"/>
            <a:ext cx="288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C85330B-A825-2329-B773-35A91AE62434}"/>
              </a:ext>
            </a:extLst>
          </p:cNvPr>
          <p:cNvSpPr txBox="1"/>
          <p:nvPr/>
        </p:nvSpPr>
        <p:spPr>
          <a:xfrm>
            <a:off x="9926209" y="200430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22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0D5808F-D186-3B95-1B9E-159A884F0F04}"/>
              </a:ext>
            </a:extLst>
          </p:cNvPr>
          <p:cNvSpPr txBox="1"/>
          <p:nvPr/>
        </p:nvSpPr>
        <p:spPr>
          <a:xfrm>
            <a:off x="5827550" y="252587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0FF6DA6-5F96-922C-E136-E71E46D17E18}"/>
              </a:ext>
            </a:extLst>
          </p:cNvPr>
          <p:cNvSpPr txBox="1"/>
          <p:nvPr/>
        </p:nvSpPr>
        <p:spPr>
          <a:xfrm>
            <a:off x="6756268" y="268996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1 +3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37BFCB4-00CD-7435-41CA-C19FFADCAEF9}"/>
              </a:ext>
            </a:extLst>
          </p:cNvPr>
          <p:cNvSpPr txBox="1"/>
          <p:nvPr/>
        </p:nvSpPr>
        <p:spPr>
          <a:xfrm>
            <a:off x="8304184" y="256240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75000"/>
                  </a:schemeClr>
                </a:solidFill>
              </a:rPr>
              <a:t>3+1+3</a:t>
            </a:r>
          </a:p>
        </p:txBody>
      </p:sp>
    </p:spTree>
    <p:extLst>
      <p:ext uri="{BB962C8B-B14F-4D97-AF65-F5344CB8AC3E}">
        <p14:creationId xmlns:p14="http://schemas.microsoft.com/office/powerpoint/2010/main" val="1785857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Widescreen</PresentationFormat>
  <Paragraphs>78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Bus-based Fabric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1</cp:revision>
  <dcterms:created xsi:type="dcterms:W3CDTF">2026-02-18T09:40:10Z</dcterms:created>
  <dcterms:modified xsi:type="dcterms:W3CDTF">2026-03-11T17:29:50Z</dcterms:modified>
</cp:coreProperties>
</file>