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2" r:id="rId5"/>
    <p:sldId id="261" r:id="rId6"/>
    <p:sldId id="257" r:id="rId7"/>
    <p:sldId id="258" r:id="rId8"/>
    <p:sldId id="259" r:id="rId9"/>
    <p:sldId id="260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364E57-75DA-4F31-8106-FF3E1FBBAAD8}" v="121" dt="2025-07-07T14:55:18.0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5871-964C-9EB2-9DD2-189F0B0BE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9F43B-945A-EC6E-8E5B-B983A4B27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06B37-C911-5CC6-D477-10502BF1A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F616C-C59A-BDAA-6DDF-919503995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EBD00-FC18-9C3F-B611-BF09303E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267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2CEE3-119F-C1CE-EC1C-D80CDCB11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D319A-BE18-5140-D00F-4DA697309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31A98-E36A-3FC7-D4DA-EC05162DA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D3C49-520C-70E2-1CCD-CAA615597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D8F1-4046-37BC-B4F8-76897C04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765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A69C-F623-3A12-4001-8E6D547CD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0613C-5DCA-72B2-F02B-EBCE2D91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ABEDE-53AD-812A-7581-DC711F13D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35C2C-1CD6-2A22-84FA-1CFD3B66C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9304C-13A3-8C99-A6D4-B277D1205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517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78A2F-E551-D39A-AB2F-6EC02AEA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F33FF-8126-520E-2419-944C10A4E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FC13E-4EF2-C6B0-84B7-9CA42A835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A2576-86AA-3454-2633-217601850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00D52-7930-2189-1894-34AE9091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9DBEE-BC3C-E8D6-8B37-54EEA1A9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704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16B4-6B5C-A88A-AB7F-F6082DF4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6B497-374A-5BB5-4E87-B62CDF3BD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AD813-819F-FAF1-0966-88B78D80D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22D668-0B10-B4A4-4BE4-8C1D41E3A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3477EA-8E64-82D5-CFC8-81B995A8A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3ED248-769A-B1F0-E45E-FE574C677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434361-BB23-B3A1-2CE7-C4ACDE558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811076-B266-C244-68C5-37D1E37E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683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65B05-38D7-FBF6-F3DD-D136126BC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43734-C346-1F36-C70E-CE24C7BF0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E7DB72-E8C9-7ADF-B3DC-896E9DD9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21ED8-7396-8498-2A61-6B5DB7C17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50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EBD32E-EE19-3255-9097-9992EEE3A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B03797-4D40-99DC-6BD6-9263D0CBE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8BEE8-35AD-3A1B-3661-7FF93CEE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895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E0C4F-9563-11EA-808D-9B5920866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CA9BB-781A-AB36-A822-1B10626F3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DC70C-2F23-11EC-6333-F3A4434BF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45118-9474-F591-0A8C-E3AAB0E08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5DDFF-3691-37F2-144D-802D87D9D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934A0-E820-59D1-F69B-72286E04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446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C65D3-F7E2-0DCA-0ADE-B387B91B1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9E35AF-3278-053A-9A17-8EBEB5B93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A969B-E9AC-3394-8CEF-0875C48EA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3B71A-15B2-28BE-4F50-AAF41AFE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E8C47-BC8E-12E6-8953-41441D5B1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40282-A0DE-903F-FB66-538AF17C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59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92C81-60F5-1784-DD59-9A7F7AC7E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85996-7C56-DAC5-53AD-121B60DCD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808E8-DCF0-A200-7094-D5605029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CBD3A-7AC6-7CE6-6FEF-19E92B22C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B1D70-0ECC-0636-1F9A-56010E7E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22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954AC-AD4C-E448-C5B3-9FC5CDEE1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E5DFD-8806-1EAB-628A-4C351275E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44B71-A886-17B8-C46F-8EBBEECB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B589-71A5-418A-AE11-4119F3FEBAAD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3B4D9-4ACD-9FC1-667E-2216F17DF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72FD7-18E2-54A2-F0FF-EC4153C5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201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4377B4-A44A-C394-F91C-386480A65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42796-C285-E074-7684-F41A0EA07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B515A-3E40-D66F-5808-50EEA89E6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6AB589-71A5-418A-AE11-4119F3FEBAAD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0CD34-FCA2-BE15-B668-30B25AD05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A9F44-620E-0C35-4C2F-6F2B3B530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F1C5D-D9CF-4C66-8897-1ABCE13E5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28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92C8-DD01-1E1B-5774-737D1C63C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DSL Productization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56F0F-195C-F01A-2512-D3DB8BC38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7144" y="4270248"/>
            <a:ext cx="3279648" cy="950976"/>
          </a:xfrm>
        </p:spPr>
        <p:txBody>
          <a:bodyPr>
            <a:normAutofit/>
          </a:bodyPr>
          <a:lstStyle/>
          <a:p>
            <a:r>
              <a:rPr lang="en-US" sz="1800" dirty="0"/>
              <a:t>Anuparna Ganguly</a:t>
            </a:r>
          </a:p>
          <a:p>
            <a:r>
              <a:rPr lang="en-US" sz="1800" dirty="0">
                <a:solidFill>
                  <a:srgbClr val="00B050"/>
                </a:solidFill>
              </a:rPr>
              <a:t>07/07/2025</a:t>
            </a:r>
          </a:p>
        </p:txBody>
      </p:sp>
    </p:spTree>
    <p:extLst>
      <p:ext uri="{BB962C8B-B14F-4D97-AF65-F5344CB8AC3E}">
        <p14:creationId xmlns:p14="http://schemas.microsoft.com/office/powerpoint/2010/main" val="45677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AF5A3-CE7C-F946-3BD0-2F1800C8F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75" y="365125"/>
            <a:ext cx="11471895" cy="480449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C000"/>
                </a:solidFill>
              </a:rPr>
              <a:t>Execution Time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41139-FE63-A374-9204-B50CCBA7F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30" y="983226"/>
            <a:ext cx="4356444" cy="5754458"/>
          </a:xfrm>
        </p:spPr>
        <p:txBody>
          <a:bodyPr>
            <a:normAutofit/>
          </a:bodyPr>
          <a:lstStyle/>
          <a:p>
            <a:r>
              <a:rPr lang="en-IN" sz="1800" b="1" dirty="0">
                <a:highlight>
                  <a:srgbClr val="FFFF00"/>
                </a:highlight>
              </a:rPr>
              <a:t>Phase 1: Parsing</a:t>
            </a:r>
          </a:p>
          <a:p>
            <a:pPr marL="0" indent="0">
              <a:buNone/>
            </a:pPr>
            <a:r>
              <a:rPr lang="en-US" sz="1800" dirty="0"/>
              <a:t>auto obj = new </a:t>
            </a:r>
            <a:r>
              <a:rPr lang="en-US" sz="1800" dirty="0" err="1"/>
              <a:t>dot_lang</a:t>
            </a:r>
            <a:r>
              <a:rPr lang="en-US" sz="1800" dirty="0"/>
              <a:t>::DOT(</a:t>
            </a:r>
            <a:r>
              <a:rPr lang="en-US" sz="1800" dirty="0" err="1"/>
              <a:t>file_path</a:t>
            </a:r>
            <a:r>
              <a:rPr lang="en-US" sz="1800" dirty="0"/>
              <a:t>);</a:t>
            </a:r>
          </a:p>
          <a:p>
            <a:pPr marL="0" indent="0">
              <a:buNone/>
            </a:pPr>
            <a:r>
              <a:rPr lang="en-US" sz="1800" dirty="0"/>
              <a:t>Parses the .dot file and initializes objects.</a:t>
            </a:r>
          </a:p>
          <a:p>
            <a:r>
              <a:rPr lang="en-US" sz="1800" b="1" dirty="0">
                <a:highlight>
                  <a:srgbClr val="FFFF00"/>
                </a:highlight>
              </a:rPr>
              <a:t>Phase 2: Forward + Backward Pass</a:t>
            </a:r>
          </a:p>
          <a:p>
            <a:pPr marL="0" indent="0">
              <a:buNone/>
            </a:pPr>
            <a:r>
              <a:rPr lang="en-US" sz="1800" dirty="0"/>
              <a:t>Build networks, computes individual waiting times.</a:t>
            </a:r>
          </a:p>
          <a:p>
            <a:r>
              <a:rPr lang="en-US" sz="1800" b="1" dirty="0">
                <a:highlight>
                  <a:srgbClr val="FFFF00"/>
                </a:highlight>
              </a:rPr>
              <a:t>Aggregation(Final waiting time calc):</a:t>
            </a:r>
          </a:p>
          <a:p>
            <a:pPr marL="0" indent="0">
              <a:buNone/>
            </a:pPr>
            <a:r>
              <a:rPr lang="en-US" sz="1800" dirty="0"/>
              <a:t>Sums up queue waiting times to compute total latency of any injector.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</a:rPr>
              <a:t>Timer:</a:t>
            </a:r>
          </a:p>
          <a:p>
            <a:pPr marL="0" indent="0">
              <a:buNone/>
            </a:pPr>
            <a:r>
              <a:rPr lang="en-US" sz="1800" dirty="0"/>
              <a:t>1.Parser Time.</a:t>
            </a:r>
          </a:p>
          <a:p>
            <a:pPr marL="0" indent="0">
              <a:buNone/>
            </a:pPr>
            <a:r>
              <a:rPr lang="en-US" sz="1800" dirty="0"/>
              <a:t>2.Analytical Core(</a:t>
            </a:r>
            <a:r>
              <a:rPr lang="en-US" sz="1800" dirty="0" err="1"/>
              <a:t>Fwd</a:t>
            </a:r>
            <a:r>
              <a:rPr lang="en-US" sz="1800" dirty="0"/>
              <a:t>/</a:t>
            </a:r>
            <a:r>
              <a:rPr lang="en-US" sz="1800" dirty="0" err="1"/>
              <a:t>Bwd</a:t>
            </a:r>
            <a:r>
              <a:rPr lang="en-US" sz="1800" dirty="0"/>
              <a:t> pass)</a:t>
            </a:r>
          </a:p>
          <a:p>
            <a:pPr marL="0" indent="0">
              <a:buNone/>
            </a:pPr>
            <a:r>
              <a:rPr lang="en-US" sz="1800" dirty="0"/>
              <a:t>3.Aggregation(Final calc)</a:t>
            </a:r>
          </a:p>
          <a:p>
            <a:pPr marL="0" indent="0">
              <a:buNone/>
            </a:pPr>
            <a:r>
              <a:rPr lang="en-US" sz="1800" dirty="0"/>
              <a:t>4.</a:t>
            </a:r>
            <a:r>
              <a:rPr lang="en-US" sz="1800" dirty="0">
                <a:highlight>
                  <a:srgbClr val="FFFF00"/>
                </a:highlight>
              </a:rPr>
              <a:t>Total Analytical </a:t>
            </a:r>
            <a:r>
              <a:rPr lang="en-US" sz="1800" dirty="0"/>
              <a:t>= Analytical Core(</a:t>
            </a:r>
            <a:r>
              <a:rPr lang="en-US" sz="1800" dirty="0" err="1"/>
              <a:t>Fwd</a:t>
            </a:r>
            <a:r>
              <a:rPr lang="en-US" sz="1800" dirty="0"/>
              <a:t>/</a:t>
            </a:r>
            <a:r>
              <a:rPr lang="en-US" sz="1800" dirty="0" err="1"/>
              <a:t>Bwd</a:t>
            </a:r>
            <a:r>
              <a:rPr lang="en-US" sz="1800" dirty="0"/>
              <a:t> pass) + Aggregation(Final calc)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D492EF-1B6C-1272-38FA-B9D9AC368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956" y="4521631"/>
            <a:ext cx="6351638" cy="20651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3A9ACD-E3FC-BE7A-2BC7-DAB9B4509934}"/>
              </a:ext>
            </a:extLst>
          </p:cNvPr>
          <p:cNvSpPr txBox="1"/>
          <p:nvPr/>
        </p:nvSpPr>
        <p:spPr>
          <a:xfrm>
            <a:off x="9655276" y="4630994"/>
            <a:ext cx="2064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Output of  RR followed by PR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CCE08D-1297-B80C-9CD7-B7B87FDE3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147" y="1093999"/>
            <a:ext cx="6980904" cy="321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8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1618C-0684-D5E4-EC6D-5FE77735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365126"/>
            <a:ext cx="11257936" cy="519130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Execution Time Analysis( RR followed by PR)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334E7-3D28-C73F-9647-7C1D6B3AE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2" y="1407292"/>
            <a:ext cx="5152103" cy="5085582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390CF8-D37B-52D3-09E1-1A648ED33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402389"/>
              </p:ext>
            </p:extLst>
          </p:nvPr>
        </p:nvGraphicFramePr>
        <p:xfrm>
          <a:off x="462116" y="1318759"/>
          <a:ext cx="3755923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747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130176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742000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 Analytical Model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0.003909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0.003892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0.004338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0.004125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0.0041373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0.0002067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142228-A35C-AFC5-5267-80E81E03B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554969"/>
              </p:ext>
            </p:extLst>
          </p:nvPr>
        </p:nvGraphicFramePr>
        <p:xfrm>
          <a:off x="4336026" y="1318759"/>
          <a:ext cx="3637938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85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094674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687279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 Analytical Model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0.000257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0.0044113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0.0002134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C5CA8E-C38D-AD08-837F-110E51908596}"/>
              </a:ext>
            </a:extLst>
          </p:cNvPr>
          <p:cNvSpPr txBox="1"/>
          <p:nvPr/>
        </p:nvSpPr>
        <p:spPr>
          <a:xfrm>
            <a:off x="699131" y="918649"/>
            <a:ext cx="4148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Without Print statements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E513F-A154-54DF-6ED5-C482155537FA}"/>
              </a:ext>
            </a:extLst>
          </p:cNvPr>
          <p:cNvSpPr txBox="1"/>
          <p:nvPr/>
        </p:nvSpPr>
        <p:spPr>
          <a:xfrm>
            <a:off x="4218039" y="95304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With Print statements</a:t>
            </a:r>
          </a:p>
        </p:txBody>
      </p:sp>
      <p:pic>
        <p:nvPicPr>
          <p:cNvPr id="7" name="Picture 6" descr="A diagram of a flowchart&#10;&#10;AI-generated content may be incorrect.">
            <a:extLst>
              <a:ext uri="{FF2B5EF4-FFF2-40B4-BE49-F238E27FC236}">
                <a16:creationId xmlns:a16="http://schemas.microsoft.com/office/drawing/2014/main" id="{ECC4DAE0-5BAB-FAEA-B353-8678B32FC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14" y="5278252"/>
            <a:ext cx="11257937" cy="1303155"/>
          </a:xfrm>
          <a:prstGeom prst="rect">
            <a:avLst/>
          </a:prstGeom>
        </p:spPr>
      </p:pic>
      <p:pic>
        <p:nvPicPr>
          <p:cNvPr id="11" name="Picture 10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96D32542-A942-DE15-AF55-8CAA806E4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951" y="1625622"/>
            <a:ext cx="4082624" cy="291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223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16F20-4AE9-7808-BFFD-F763E40B2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4A6D-DA47-06A4-C4F1-3B11F97B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365126"/>
            <a:ext cx="11257936" cy="519130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Execution Time Analysis( PR followed by RR)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22160-CF15-CCFC-FAA8-DEC3A7865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282" y="979544"/>
            <a:ext cx="4292699" cy="337979"/>
          </a:xfrm>
        </p:spPr>
        <p:txBody>
          <a:bodyPr>
            <a:normAutofit fontScale="92500" lnSpcReduction="10000"/>
          </a:bodyPr>
          <a:lstStyle/>
          <a:p>
            <a:r>
              <a:rPr lang="en-IN" sz="2000" dirty="0"/>
              <a:t>Without Print statements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C012EF-3D38-89F0-9CAD-F368B5801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481360"/>
              </p:ext>
            </p:extLst>
          </p:nvPr>
        </p:nvGraphicFramePr>
        <p:xfrm>
          <a:off x="404558" y="1317523"/>
          <a:ext cx="3738704" cy="401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483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136131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610090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Total Analytical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445353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0.003976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0.004313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0.003895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0.000205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0.002898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0.003901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0.003918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0.0039815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0.0002023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9B3FD6-F448-7ADD-8EBA-9E3AB1D77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759543"/>
              </p:ext>
            </p:extLst>
          </p:nvPr>
        </p:nvGraphicFramePr>
        <p:xfrm>
          <a:off x="4316361" y="1305234"/>
          <a:ext cx="3732379" cy="4209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803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134209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607367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500087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Total Analytical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429820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0.00419843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0.000213156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0.00444006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0.000213287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0.00448252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 0.000210042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0.00453139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0.000213076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0.00436324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0.000213897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0.00442218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 0.000211254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0.00448527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0.000219056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0.00445862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 0.000213577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0.00409371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0.000219046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294169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0.00445079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0.000211763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500087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0.004392621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0.000213815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26B5A3C-95DD-CCF1-1FA9-1F96C12F0159}"/>
              </a:ext>
            </a:extLst>
          </p:cNvPr>
          <p:cNvSpPr txBox="1"/>
          <p:nvPr/>
        </p:nvSpPr>
        <p:spPr>
          <a:xfrm>
            <a:off x="5054816" y="89931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With Print statements</a:t>
            </a:r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2183F145-7313-965A-18F6-9422F8EBE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42" y="5400845"/>
            <a:ext cx="11356258" cy="1317523"/>
          </a:xfrm>
          <a:prstGeom prst="rect">
            <a:avLst/>
          </a:prstGeom>
        </p:spPr>
      </p:pic>
      <p:pic>
        <p:nvPicPr>
          <p:cNvPr id="10" name="Picture 9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B4E4A87-7361-34EE-1601-1E1154A82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341" y="1659187"/>
            <a:ext cx="4041175" cy="330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931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0FF27-608E-D113-160F-909709D9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3E04-D896-82CA-FEF4-574E52777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365126"/>
            <a:ext cx="11257936" cy="519130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Execution Time Analysis( RR1 -&gt; PR1 -&gt; RR2 -&gt; PR2)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EF5567-94D7-DDF9-1195-481FF8196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299279"/>
              </p:ext>
            </p:extLst>
          </p:nvPr>
        </p:nvGraphicFramePr>
        <p:xfrm>
          <a:off x="373627" y="1250685"/>
          <a:ext cx="3903406" cy="401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205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186181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681020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327444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Total Analytical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445353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0.005478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0.005811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0.00556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0.005766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0.005598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0.005703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0.000365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FB1635-D717-4970-D2FF-AFC1EB481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96446"/>
              </p:ext>
            </p:extLst>
          </p:nvPr>
        </p:nvGraphicFramePr>
        <p:xfrm>
          <a:off x="4458928" y="1218316"/>
          <a:ext cx="3780504" cy="4224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579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148833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628092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Total Analytical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445353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0.00594467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0.000379441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0.00597244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0.000381094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0.00608743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0.000355836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0.00610621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0.000380674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0.00611014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0.000375666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0.00608787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0.000380143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0.00612777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0.000356787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0.00605418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0.000411049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0.00611573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0.000357327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0.00574792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0.000356817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0.006035436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0.000373483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158F52-2F61-423A-9CAE-6B83379DF547}"/>
              </a:ext>
            </a:extLst>
          </p:cNvPr>
          <p:cNvSpPr txBox="1"/>
          <p:nvPr/>
        </p:nvSpPr>
        <p:spPr>
          <a:xfrm>
            <a:off x="4547417" y="88678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With Print statements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83D9F8-305D-544C-1CC7-00E91BA0220D}"/>
              </a:ext>
            </a:extLst>
          </p:cNvPr>
          <p:cNvSpPr txBox="1"/>
          <p:nvPr/>
        </p:nvSpPr>
        <p:spPr>
          <a:xfrm>
            <a:off x="462116" y="85057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Without Print statements</a:t>
            </a:r>
          </a:p>
        </p:txBody>
      </p:sp>
      <p:pic>
        <p:nvPicPr>
          <p:cNvPr id="8" name="Picture 7" descr="A black and white image of a diagram&#10;&#10;AI-generated content may be incorrect.">
            <a:extLst>
              <a:ext uri="{FF2B5EF4-FFF2-40B4-BE49-F238E27FC236}">
                <a16:creationId xmlns:a16="http://schemas.microsoft.com/office/drawing/2014/main" id="{706FA33D-8F03-CDF8-EA89-42119FC07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7" y="5443189"/>
            <a:ext cx="11611896" cy="1334709"/>
          </a:xfrm>
          <a:prstGeom prst="rect">
            <a:avLst/>
          </a:prstGeom>
        </p:spPr>
      </p:pic>
      <p:pic>
        <p:nvPicPr>
          <p:cNvPr id="10" name="Picture 9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AE5214BD-BBEC-265B-CA85-CC04ACF57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845" y="1633954"/>
            <a:ext cx="3711677" cy="331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24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FD1DF-878E-85A9-BDB6-6B7A4520D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B5CF-609D-9885-BC3D-6BEEAFC7A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365126"/>
            <a:ext cx="11257936" cy="519130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Execution Time Analysis( RR1-&gt; PR1-&gt;PR2-&gt;RR2)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C1A403-BA33-E0E9-DE8A-76984C4C2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761531"/>
              </p:ext>
            </p:extLst>
          </p:nvPr>
        </p:nvGraphicFramePr>
        <p:xfrm>
          <a:off x="286946" y="1352215"/>
          <a:ext cx="3831864" cy="401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213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164441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650210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Total Analytical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445353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0.005715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0.005604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0.000365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E11E92-21E4-14BF-4439-49205FF73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72718"/>
              </p:ext>
            </p:extLst>
          </p:nvPr>
        </p:nvGraphicFramePr>
        <p:xfrm>
          <a:off x="4241328" y="1362411"/>
          <a:ext cx="3831864" cy="401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213">
                  <a:extLst>
                    <a:ext uri="{9D8B030D-6E8A-4147-A177-3AD203B41FA5}">
                      <a16:colId xmlns:a16="http://schemas.microsoft.com/office/drawing/2014/main" val="4042113879"/>
                    </a:ext>
                  </a:extLst>
                </a:gridCol>
                <a:gridCol w="1164441">
                  <a:extLst>
                    <a:ext uri="{9D8B030D-6E8A-4147-A177-3AD203B41FA5}">
                      <a16:colId xmlns:a16="http://schemas.microsoft.com/office/drawing/2014/main" val="1476381715"/>
                    </a:ext>
                  </a:extLst>
                </a:gridCol>
                <a:gridCol w="1650210">
                  <a:extLst>
                    <a:ext uri="{9D8B030D-6E8A-4147-A177-3AD203B41FA5}">
                      <a16:colId xmlns:a16="http://schemas.microsoft.com/office/drawing/2014/main" val="1127376417"/>
                    </a:ext>
                  </a:extLst>
                </a:gridCol>
              </a:tblGrid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Parser(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Total Analytical</a:t>
                      </a:r>
                    </a:p>
                    <a:p>
                      <a:r>
                        <a:rPr lang="en-IN" sz="1400" dirty="0"/>
                        <a:t>(</a:t>
                      </a:r>
                      <a:r>
                        <a:rPr lang="en-IN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 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432511"/>
                  </a:ext>
                </a:extLst>
              </a:tr>
              <a:tr h="445353">
                <a:tc>
                  <a:txBody>
                    <a:bodyPr/>
                    <a:lstStyle/>
                    <a:p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0.00610127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0.000357949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36806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0.00564132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0.000372491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303674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0.00569142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0.000354163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37873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0.00601796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0.000357047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4665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0.00613454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0.000379752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4827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0.00608975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0.000381505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4828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0.00585242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0.000377289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11119"/>
                  </a:ext>
                </a:extLst>
              </a:tr>
              <a:tr h="179671">
                <a:tc>
                  <a:txBody>
                    <a:bodyPr/>
                    <a:lstStyle/>
                    <a:p>
                      <a:r>
                        <a:rPr lang="en-IN" sz="14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0.000338329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790497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0.00599963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0.000387864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487681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0.00576694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0.000380363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6992"/>
                  </a:ext>
                </a:extLst>
              </a:tr>
              <a:tr h="171236">
                <a:tc>
                  <a:txBody>
                    <a:bodyPr/>
                    <a:lstStyle/>
                    <a:p>
                      <a:r>
                        <a:rPr lang="en-IN" sz="14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0.00576694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0.000368675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65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7F79B35-B4A5-C816-E68B-C517CE417B60}"/>
              </a:ext>
            </a:extLst>
          </p:cNvPr>
          <p:cNvSpPr txBox="1"/>
          <p:nvPr/>
        </p:nvSpPr>
        <p:spPr>
          <a:xfrm>
            <a:off x="4218493" y="99772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With Print statements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B283AD-B338-0142-4C2D-FFCC4A64D1F1}"/>
              </a:ext>
            </a:extLst>
          </p:cNvPr>
          <p:cNvSpPr txBox="1"/>
          <p:nvPr/>
        </p:nvSpPr>
        <p:spPr>
          <a:xfrm>
            <a:off x="363793" y="97249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Without Print statements</a:t>
            </a:r>
          </a:p>
        </p:txBody>
      </p:sp>
      <p:pic>
        <p:nvPicPr>
          <p:cNvPr id="8" name="Picture 7" descr="A black and white diagram&#10;&#10;AI-generated content may be incorrect.">
            <a:extLst>
              <a:ext uri="{FF2B5EF4-FFF2-40B4-BE49-F238E27FC236}">
                <a16:creationId xmlns:a16="http://schemas.microsoft.com/office/drawing/2014/main" id="{AFB5B16E-4440-FD7A-A0B1-3A38591C7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93" y="5384121"/>
            <a:ext cx="11670891" cy="1329021"/>
          </a:xfrm>
          <a:prstGeom prst="rect">
            <a:avLst/>
          </a:prstGeom>
        </p:spPr>
      </p:pic>
      <p:pic>
        <p:nvPicPr>
          <p:cNvPr id="10" name="Picture 9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F28096E1-7FC7-C0C3-324C-41219B4DB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146" y="1868362"/>
            <a:ext cx="4049353" cy="332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371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07A1-7F5D-EAF3-5C1B-D422BCDB9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990" y="452284"/>
            <a:ext cx="10872019" cy="710586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C000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65C53-F1B2-AC7A-9E92-E8E159C3C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So far, we have analyzed how much </a:t>
            </a:r>
            <a:r>
              <a:rPr lang="en-US" sz="2000" b="1" dirty="0"/>
              <a:t>time</a:t>
            </a:r>
            <a:r>
              <a:rPr lang="en-US" sz="2000" dirty="0"/>
              <a:t> our model takes for different configurations.</a:t>
            </a:r>
          </a:p>
          <a:p>
            <a:r>
              <a:rPr lang="en-US" sz="2000" dirty="0"/>
              <a:t>In the next phase, we will focus on </a:t>
            </a:r>
            <a:r>
              <a:rPr lang="en-US" sz="2000" b="1" dirty="0"/>
              <a:t>memory usage</a:t>
            </a:r>
            <a:r>
              <a:rPr lang="en-US" sz="2000" dirty="0"/>
              <a:t>.</a:t>
            </a:r>
          </a:p>
          <a:p>
            <a:r>
              <a:rPr lang="en-US" sz="2000" dirty="0"/>
              <a:t>We plan to </a:t>
            </a:r>
            <a:r>
              <a:rPr lang="en-US" sz="2000" b="1" dirty="0"/>
              <a:t>profile memory consumption</a:t>
            </a:r>
            <a:r>
              <a:rPr lang="en-US" sz="2000" dirty="0"/>
              <a:t> during parsing and analytical processing.</a:t>
            </a:r>
          </a:p>
          <a:p>
            <a:r>
              <a:rPr lang="en-US" sz="2000" dirty="0"/>
              <a:t>This will help us understand how much </a:t>
            </a:r>
            <a:r>
              <a:rPr lang="en-US" sz="2000" b="1" dirty="0"/>
              <a:t>RAM</a:t>
            </a:r>
            <a:r>
              <a:rPr lang="en-US" sz="2000" dirty="0"/>
              <a:t> is used and </a:t>
            </a:r>
            <a:r>
              <a:rPr lang="en-US" sz="2000" b="1" dirty="0"/>
              <a:t>optimize</a:t>
            </a:r>
            <a:r>
              <a:rPr lang="en-US" sz="2000" dirty="0"/>
              <a:t> the model further</a:t>
            </a:r>
          </a:p>
          <a:p>
            <a:endParaRPr lang="en-IN" sz="2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2757FE-4D32-FB05-A0FB-C4F3233A3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plan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profile memory consumption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during parsing and analytical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0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52C38875BF54E8BECD10629132D8D" ma:contentTypeVersion="6" ma:contentTypeDescription="Create a new document." ma:contentTypeScope="" ma:versionID="2117dcca7870b83d47d794a40c6ad2fb">
  <xsd:schema xmlns:xsd="http://www.w3.org/2001/XMLSchema" xmlns:xs="http://www.w3.org/2001/XMLSchema" xmlns:p="http://schemas.microsoft.com/office/2006/metadata/properties" xmlns:ns3="cf6b262d-64b1-48de-8710-0fc3c93bfca9" targetNamespace="http://schemas.microsoft.com/office/2006/metadata/properties" ma:root="true" ma:fieldsID="add902ff20dc9683d596800b2ea73817" ns3:_="">
    <xsd:import namespace="cf6b262d-64b1-48de-8710-0fc3c93bfc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262d-64b1-48de-8710-0fc3c93bfc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6b262d-64b1-48de-8710-0fc3c93bfca9" xsi:nil="true"/>
  </documentManagement>
</p:properties>
</file>

<file path=customXml/itemProps1.xml><?xml version="1.0" encoding="utf-8"?>
<ds:datastoreItem xmlns:ds="http://schemas.openxmlformats.org/officeDocument/2006/customXml" ds:itemID="{A6BDAB20-8A60-438E-B045-00D375C5B7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6b262d-64b1-48de-8710-0fc3c93bf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DF40D9-60B5-407E-BEBD-21B5AD3AA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763C3E-E154-4F7E-A5A2-8DC32B8E9614}">
  <ds:schemaRefs>
    <ds:schemaRef ds:uri="http://www.w3.org/XML/1998/namespace"/>
    <ds:schemaRef ds:uri="http://purl.org/dc/elements/1.1/"/>
    <ds:schemaRef ds:uri="http://schemas.microsoft.com/office/2006/documentManagement/types"/>
    <ds:schemaRef ds:uri="cf6b262d-64b1-48de-8710-0fc3c93bfca9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6f15cd97-f6a7-41e3-b2c5-ad4193976476}" enabled="0" method="" siteId="{6f15cd97-f6a7-41e3-b2c5-ad41939764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713</Words>
  <Application>Microsoft Office PowerPoint</Application>
  <PresentationFormat>Widescreen</PresentationFormat>
  <Paragraphs>333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Office Theme</vt:lpstr>
      <vt:lpstr>DSL Productization</vt:lpstr>
      <vt:lpstr>Execution Time Analysis</vt:lpstr>
      <vt:lpstr>Execution Time Analysis( RR followed by PR)</vt:lpstr>
      <vt:lpstr>Execution Time Analysis( PR followed by RR)</vt:lpstr>
      <vt:lpstr>Execution Time Analysis( RR1 -&gt; PR1 -&gt; RR2 -&gt; PR2)</vt:lpstr>
      <vt:lpstr>Execution Time Analysis( RR1-&gt; PR1-&gt;PR2-&gt;RR2)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4</cp:revision>
  <dcterms:created xsi:type="dcterms:W3CDTF">2025-07-05T14:22:40Z</dcterms:created>
  <dcterms:modified xsi:type="dcterms:W3CDTF">2025-07-10T13:58:03Z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0x0101009A552C38875BF54E8BECD10629132D8D</vt:lpwstr>
  </property>
</Properties>
</file>