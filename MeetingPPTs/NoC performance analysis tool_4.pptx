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64" r:id="rId6"/>
    <p:sldId id="259" r:id="rId7"/>
    <p:sldId id="260" r:id="rId8"/>
    <p:sldId id="261" r:id="rId9"/>
    <p:sldId id="262" r:id="rId10"/>
    <p:sldId id="263" r:id="rId11"/>
    <p:sldId id="27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C9F931-95AA-42E8-8A82-73E41F0A2FB0}" v="251" dt="2025-03-31T10:31:17.2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99F87-DA09-0E0A-FFE2-1F1C45A33E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EB27D0-B75D-3384-F38E-2C1CBD966C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AEE2C8-70FC-C139-9CFB-128A99295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98B2B-2C29-4FD9-9FCD-C0BF8E76BD3C}" type="datetimeFigureOut">
              <a:rPr lang="en-IN" smtClean="0"/>
              <a:t>11-06-2025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E47ED0-1250-B24F-B931-743E4F677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D8DAFE-996C-FD17-12FE-753321853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7F143-14E5-40B9-AD02-F198851F8A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778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7404B-DC25-3F88-25BB-08D26C0F6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1D2BE-3380-F750-38BD-2F67FC7DC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8D1F3-019D-D004-17D4-855CBE143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98B2B-2C29-4FD9-9FCD-C0BF8E76BD3C}" type="datetimeFigureOut">
              <a:rPr lang="en-IN" smtClean="0"/>
              <a:t>11-06-2025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C7A9D-B48F-3A98-DC28-C3AA01408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D70EC3-2AB2-5708-A815-8AD797B2B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7F143-14E5-40B9-AD02-F198851F8A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1210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C98CC-D708-19F1-B7BF-6E2E16522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448A4F-A59C-E898-B500-A6A7C1E2FD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37EF20-5BCF-7FFE-BFAF-20EE5947E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98B2B-2C29-4FD9-9FCD-C0BF8E76BD3C}" type="datetimeFigureOut">
              <a:rPr lang="en-IN" smtClean="0"/>
              <a:t>11-06-2025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CDA3C-D98E-D0D6-EDA6-D735CB4AB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471841-9D89-A1D8-556F-C2A6FCC13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7F143-14E5-40B9-AD02-F198851F8A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4758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CABFD-98FF-C75E-6A05-4DD90C222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3C318-AA19-EBDE-DEEE-6349EE3693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4147ED-443A-9BD4-3BD1-B5E6E92080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E5D191-A57C-CA11-0EE6-1B0C413FC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98B2B-2C29-4FD9-9FCD-C0BF8E76BD3C}" type="datetimeFigureOut">
              <a:rPr lang="en-IN" smtClean="0"/>
              <a:t>11-06-2025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93A7A3-CCD5-6E44-148F-71A0F84EC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489259-EB73-A1F0-88DC-FC9AA878B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7F143-14E5-40B9-AD02-F198851F8A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1049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DBAA7-3D8E-E140-98C0-1805F7F87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82EE2B-A9CE-23AA-CF74-ABD5962E4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06D819-E8F3-5FCC-BBC6-6EF684728E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33A737-137B-F647-DE3A-CFC96CDAA7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5E045B-D242-33AE-C96D-7C049B15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501BA-F608-6026-085A-368FDD6A0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98B2B-2C29-4FD9-9FCD-C0BF8E76BD3C}" type="datetimeFigureOut">
              <a:rPr lang="en-IN" smtClean="0"/>
              <a:t>11-06-2025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70A8B4-AD00-B732-63F7-DDCCBC88A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7EC894-1C70-CFF3-F802-A2444CC63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7F143-14E5-40B9-AD02-F198851F8A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7248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B46F8-5531-76A4-BB3F-C16101A6C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45F13A-1152-E943-E9FC-F37A32C3F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98B2B-2C29-4FD9-9FCD-C0BF8E76BD3C}" type="datetimeFigureOut">
              <a:rPr lang="en-IN" smtClean="0"/>
              <a:t>11-06-2025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B372F6-3D96-D310-77E8-E9179F578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8994A1-B096-9995-67FD-0A40CC0AA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7F143-14E5-40B9-AD02-F198851F8A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9289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3AE44E-D7FD-15BB-AB60-DF389E069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98B2B-2C29-4FD9-9FCD-C0BF8E76BD3C}" type="datetimeFigureOut">
              <a:rPr lang="en-IN" smtClean="0"/>
              <a:t>11-06-2025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832BFF-0F34-6BC6-3470-D4475BDB0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38534B-B7F4-DFA4-9943-37859247A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7F143-14E5-40B9-AD02-F198851F8A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6769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F94AC-22CE-0503-A567-A79D516EF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EB782-2829-DFC4-F486-00BA1AFA4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1A2097-2C5D-B55B-A938-7B6F4DBAB4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F95B59-D331-8BCE-FA7F-DF539A858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98B2B-2C29-4FD9-9FCD-C0BF8E76BD3C}" type="datetimeFigureOut">
              <a:rPr lang="en-IN" smtClean="0"/>
              <a:t>11-06-2025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64AB33-A854-C41D-68A4-EAB754167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8A6284-F538-59D0-2D8B-8B6F634E0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7F143-14E5-40B9-AD02-F198851F8A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8927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9333E-5F04-CE86-1902-570BB3723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7C46A4-83E0-7189-2297-7E5506C60D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010BFF-A895-ED39-8E4F-90EED310EB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9E476E-85DA-D78F-FB6A-B2EF4AC39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98B2B-2C29-4FD9-9FCD-C0BF8E76BD3C}" type="datetimeFigureOut">
              <a:rPr lang="en-IN" smtClean="0"/>
              <a:t>11-06-2025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2974E5-A16E-0E34-3571-300A8E8FF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69733B-8FA8-3952-D576-BDA1F1544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7F143-14E5-40B9-AD02-F198851F8A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3064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6271A-6E39-E39F-AD67-22EDB990C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5F85DA-E6F6-12B8-08AA-BCB28BC47E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FA7BA-48AC-EFB4-0F45-016106BFD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98B2B-2C29-4FD9-9FCD-C0BF8E76BD3C}" type="datetimeFigureOut">
              <a:rPr lang="en-IN" smtClean="0"/>
              <a:t>11-06-2025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261959-5342-60CA-4F36-C359DB376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70030E-E725-F636-1206-76BBBE1DD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7F143-14E5-40B9-AD02-F198851F8A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075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D5EFC1-415F-04EB-0714-00DAFCDB25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66B56A-4DBD-0666-1AD2-BAF9291011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04051E-8208-6612-9A6C-99095A3EA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98B2B-2C29-4FD9-9FCD-C0BF8E76BD3C}" type="datetimeFigureOut">
              <a:rPr lang="en-IN" smtClean="0"/>
              <a:t>11-06-2025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B02C8-C1D8-CB45-4CA4-2556DD502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DD158E-3EC6-C471-3163-24DDA1983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7F143-14E5-40B9-AD02-F198851F8A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4025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7AB27D-2E99-C223-28E3-D1E004038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F6F3CF-84F7-FF46-7ADB-0E25619BFA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F74E5-916D-147F-09FB-CB545F7FEE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698B2B-2C29-4FD9-9FCD-C0BF8E76BD3C}" type="datetimeFigureOut">
              <a:rPr lang="en-IN" smtClean="0"/>
              <a:t>11-06-2025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6E545E-5B56-FCA6-E8B7-2542E55674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DEAA3D-491A-15A3-5908-B91882D943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47F143-14E5-40B9-AD02-F198851F8A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2517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Box 143">
            <a:extLst>
              <a:ext uri="{FF2B5EF4-FFF2-40B4-BE49-F238E27FC236}">
                <a16:creationId xmlns:a16="http://schemas.microsoft.com/office/drawing/2014/main" id="{77F2B5A2-5988-EDD9-C889-B563E085F8BF}"/>
              </a:ext>
            </a:extLst>
          </p:cNvPr>
          <p:cNvSpPr txBox="1"/>
          <p:nvPr/>
        </p:nvSpPr>
        <p:spPr>
          <a:xfrm>
            <a:off x="798487" y="2715910"/>
            <a:ext cx="10265714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dirty="0"/>
              <a:t>NoC Performance Analysis Tool with Hybrid Arbitration</a:t>
            </a:r>
          </a:p>
        </p:txBody>
      </p:sp>
    </p:spTree>
    <p:extLst>
      <p:ext uri="{BB962C8B-B14F-4D97-AF65-F5344CB8AC3E}">
        <p14:creationId xmlns:p14="http://schemas.microsoft.com/office/powerpoint/2010/main" val="169213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1F32F-7AFB-94E3-BE91-13FC374FB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588604"/>
          </a:xfrm>
        </p:spPr>
        <p:txBody>
          <a:bodyPr>
            <a:normAutofit fontScale="90000"/>
          </a:bodyPr>
          <a:lstStyle/>
          <a:p>
            <a:r>
              <a:rPr lang="en-IN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DD861-895D-1D0F-FBB9-A15253A91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Overview of .Dot file changes</a:t>
            </a:r>
          </a:p>
          <a:p>
            <a:r>
              <a:rPr lang="en-IN" dirty="0"/>
              <a:t>Handling after saturation cases</a:t>
            </a:r>
          </a:p>
          <a:p>
            <a:r>
              <a:rPr lang="en-IN" dirty="0"/>
              <a:t>Next steps &amp; discussion</a:t>
            </a:r>
          </a:p>
        </p:txBody>
      </p:sp>
    </p:spTree>
    <p:extLst>
      <p:ext uri="{BB962C8B-B14F-4D97-AF65-F5344CB8AC3E}">
        <p14:creationId xmlns:p14="http://schemas.microsoft.com/office/powerpoint/2010/main" val="2895366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1DC17-DAC9-4BE3-8E75-DB35A70AB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Changes in .Dot File</a:t>
            </a:r>
          </a:p>
        </p:txBody>
      </p:sp>
      <p:pic>
        <p:nvPicPr>
          <p:cNvPr id="5" name="Content Placeholder 4" descr="A screen shot of a computer screen&#10;&#10;AI-generated content may be incorrect.">
            <a:extLst>
              <a:ext uri="{FF2B5EF4-FFF2-40B4-BE49-F238E27FC236}">
                <a16:creationId xmlns:a16="http://schemas.microsoft.com/office/drawing/2014/main" id="{CDDF278A-4D55-5E68-0B4D-A00CB8A1BF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4296" y="1262958"/>
            <a:ext cx="6903720" cy="43320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A2A28E9-BDF2-8156-605B-EED7AD94E53B}"/>
              </a:ext>
            </a:extLst>
          </p:cNvPr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Fn</a:t>
            </a:r>
            <a:r>
              <a:rPr lang="en-US" sz="1700"/>
              <a:t> [label="rate = ?, coeff_interarrival_time = ?“ ]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Qn</a:t>
            </a:r>
            <a:r>
              <a:rPr lang="en-US" sz="1700"/>
              <a:t> [label="buffer_size = ?, mode = ?“]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RRn</a:t>
            </a:r>
            <a:r>
              <a:rPr lang="en-US" sz="1700"/>
              <a:t> [label="zero_load_latency = ?“]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PRn</a:t>
            </a:r>
            <a:r>
              <a:rPr lang="en-US" sz="1700"/>
              <a:t> [label="zero_load_latency = ?“]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SRn</a:t>
            </a:r>
            <a:r>
              <a:rPr lang="en-US" sz="1700"/>
              <a:t> [label="Service_time = 1.0, coeff_service_time = 0.0"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Sink</a:t>
            </a:r>
            <a:r>
              <a:rPr lang="en-US" sz="1700"/>
              <a:t> [label="Sink“]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11997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975B0-0F0C-921A-395A-F2E74B31B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79" y="225553"/>
            <a:ext cx="11617407" cy="432815"/>
          </a:xfrm>
          <a:solidFill>
            <a:schemeClr val="tx1"/>
          </a:solidFill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rgbClr val="FFC000"/>
                </a:solidFill>
              </a:rPr>
              <a:t>Validate Connection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50EC07-D3B0-5FEF-D4D5-DE774D1A5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8175" y="3584448"/>
            <a:ext cx="7859222" cy="30782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F0AD49-2E0F-9CD8-6EC1-8FEED70327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14"/>
          <a:stretch/>
        </p:blipFill>
        <p:spPr>
          <a:xfrm>
            <a:off x="406908" y="4073619"/>
            <a:ext cx="2767223" cy="251495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D144B48-44CC-CDA3-E1A0-A978A07461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9665" y="1099995"/>
            <a:ext cx="7859222" cy="191752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E72FDCE-3A12-251A-FB60-7AD9D15FE006}"/>
              </a:ext>
            </a:extLst>
          </p:cNvPr>
          <p:cNvSpPr txBox="1"/>
          <p:nvPr/>
        </p:nvSpPr>
        <p:spPr>
          <a:xfrm>
            <a:off x="406908" y="1054811"/>
            <a:ext cx="3607308" cy="2954655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Injector(</a:t>
            </a:r>
            <a:r>
              <a:rPr lang="en-US" sz="1400" dirty="0" err="1"/>
              <a:t>Fn</a:t>
            </a:r>
            <a:r>
              <a:rPr lang="en-US" sz="1400" dirty="0"/>
              <a:t>)          Queue(Qn)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Queue(Qn)            Server</a:t>
            </a:r>
          </a:p>
          <a:p>
            <a:r>
              <a:rPr lang="en-US" sz="1400" dirty="0"/>
              <a:t>	                  Arbiter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Server(</a:t>
            </a:r>
            <a:r>
              <a:rPr lang="en-US" sz="1400" dirty="0" err="1"/>
              <a:t>SRn</a:t>
            </a:r>
            <a:r>
              <a:rPr lang="en-US" sz="1400" dirty="0"/>
              <a:t>)       Queue</a:t>
            </a:r>
          </a:p>
          <a:p>
            <a:r>
              <a:rPr lang="en-US" sz="1400" dirty="0"/>
              <a:t>	</a:t>
            </a:r>
            <a:r>
              <a:rPr lang="en-US" sz="1400" dirty="0">
                <a:solidFill>
                  <a:srgbClr val="FF0000"/>
                </a:solidFill>
              </a:rPr>
              <a:t>              </a:t>
            </a:r>
            <a:r>
              <a:rPr lang="en-US" sz="1400" dirty="0"/>
              <a:t> Sink</a:t>
            </a:r>
          </a:p>
          <a:p>
            <a:r>
              <a:rPr lang="en-US" sz="1400" dirty="0"/>
              <a:t>                                       Merge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Arbiter(</a:t>
            </a:r>
            <a:r>
              <a:rPr lang="en-US" sz="1400" dirty="0" err="1"/>
              <a:t>RRn</a:t>
            </a:r>
            <a:r>
              <a:rPr lang="en-US" sz="1400" dirty="0"/>
              <a:t> </a:t>
            </a:r>
          </a:p>
          <a:p>
            <a:r>
              <a:rPr lang="en-US" sz="1400" dirty="0"/>
              <a:t>          or </a:t>
            </a:r>
            <a:r>
              <a:rPr lang="en-US" sz="1400" dirty="0" err="1"/>
              <a:t>PRn</a:t>
            </a:r>
            <a:r>
              <a:rPr lang="en-US" sz="1400" dirty="0"/>
              <a:t>)                        Server(</a:t>
            </a:r>
            <a:r>
              <a:rPr lang="en-US" sz="1400" dirty="0" err="1"/>
              <a:t>SRn</a:t>
            </a:r>
            <a:r>
              <a:rPr lang="en-US" sz="14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Split                      Queue</a:t>
            </a:r>
          </a:p>
          <a:p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C653D03-9AB5-F41E-E4D1-9A58F6720D08}"/>
              </a:ext>
            </a:extLst>
          </p:cNvPr>
          <p:cNvCxnSpPr/>
          <p:nvPr/>
        </p:nvCxnSpPr>
        <p:spPr>
          <a:xfrm>
            <a:off x="1545336" y="3584448"/>
            <a:ext cx="2834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44F0D4B-1AA6-DDF5-3A97-2DB552FDC145}"/>
              </a:ext>
            </a:extLst>
          </p:cNvPr>
          <p:cNvCxnSpPr/>
          <p:nvPr/>
        </p:nvCxnSpPr>
        <p:spPr>
          <a:xfrm>
            <a:off x="1530145" y="3316224"/>
            <a:ext cx="2834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Left Brace 21">
            <a:extLst>
              <a:ext uri="{FF2B5EF4-FFF2-40B4-BE49-F238E27FC236}">
                <a16:creationId xmlns:a16="http://schemas.microsoft.com/office/drawing/2014/main" id="{78517298-4BFC-45F7-01BE-F69FCE3E6D17}"/>
              </a:ext>
            </a:extLst>
          </p:cNvPr>
          <p:cNvSpPr/>
          <p:nvPr/>
        </p:nvSpPr>
        <p:spPr>
          <a:xfrm>
            <a:off x="1828800" y="2212848"/>
            <a:ext cx="73152" cy="740664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Left Brace 22">
            <a:extLst>
              <a:ext uri="{FF2B5EF4-FFF2-40B4-BE49-F238E27FC236}">
                <a16:creationId xmlns:a16="http://schemas.microsoft.com/office/drawing/2014/main" id="{E5497379-806F-D969-9796-F6F484E5C21C}"/>
              </a:ext>
            </a:extLst>
          </p:cNvPr>
          <p:cNvSpPr/>
          <p:nvPr/>
        </p:nvSpPr>
        <p:spPr>
          <a:xfrm>
            <a:off x="1901952" y="1609344"/>
            <a:ext cx="73152" cy="326784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D576E28-9C81-F9F7-5BF0-3528242828E2}"/>
              </a:ext>
            </a:extLst>
          </p:cNvPr>
          <p:cNvCxnSpPr/>
          <p:nvPr/>
        </p:nvCxnSpPr>
        <p:spPr>
          <a:xfrm>
            <a:off x="1441704" y="2609088"/>
            <a:ext cx="2834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3E4A013-3D20-CFE4-D3F6-DD7B61ECB03C}"/>
              </a:ext>
            </a:extLst>
          </p:cNvPr>
          <p:cNvCxnSpPr/>
          <p:nvPr/>
        </p:nvCxnSpPr>
        <p:spPr>
          <a:xfrm>
            <a:off x="1507236" y="1813560"/>
            <a:ext cx="2834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4D57300-C837-032B-3A26-3286F04F872C}"/>
              </a:ext>
            </a:extLst>
          </p:cNvPr>
          <p:cNvCxnSpPr/>
          <p:nvPr/>
        </p:nvCxnSpPr>
        <p:spPr>
          <a:xfrm>
            <a:off x="1691640" y="1219200"/>
            <a:ext cx="2834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EE9D927-8976-F8F1-D8BD-7C5ACF871F14}"/>
              </a:ext>
            </a:extLst>
          </p:cNvPr>
          <p:cNvCxnSpPr>
            <a:cxnSpLocks/>
          </p:cNvCxnSpPr>
          <p:nvPr/>
        </p:nvCxnSpPr>
        <p:spPr>
          <a:xfrm>
            <a:off x="2551176" y="5440680"/>
            <a:ext cx="1618488" cy="89611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54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8A20B-B54D-A22A-A854-C31711F28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5" y="271467"/>
            <a:ext cx="11521434" cy="608269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IN" sz="2400" dirty="0">
                <a:solidFill>
                  <a:srgbClr val="FFC000"/>
                </a:solidFill>
              </a:rPr>
              <a:t>Waiting Time Calculation with </a:t>
            </a:r>
            <a:r>
              <a:rPr lang="en-IN" sz="2400" b="1" dirty="0">
                <a:solidFill>
                  <a:srgbClr val="FFC000"/>
                </a:solidFill>
              </a:rPr>
              <a:t>High Injection Rate </a:t>
            </a:r>
            <a:r>
              <a:rPr lang="en-IN" sz="2400" dirty="0">
                <a:solidFill>
                  <a:srgbClr val="FFC000"/>
                </a:solidFill>
              </a:rPr>
              <a:t>and </a:t>
            </a:r>
            <a:r>
              <a:rPr lang="en-IN" sz="2400" b="1" dirty="0">
                <a:solidFill>
                  <a:srgbClr val="FFC000"/>
                </a:solidFill>
              </a:rPr>
              <a:t>Finite Buffer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BBCFFA-A355-DAE5-121C-9687E7F6F4FB}"/>
              </a:ext>
            </a:extLst>
          </p:cNvPr>
          <p:cNvSpPr/>
          <p:nvPr/>
        </p:nvSpPr>
        <p:spPr>
          <a:xfrm>
            <a:off x="6597445" y="1818968"/>
            <a:ext cx="1101213" cy="3048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156EA3-BD7C-E53A-8ED9-DFDE1A3DF71F}"/>
              </a:ext>
            </a:extLst>
          </p:cNvPr>
          <p:cNvSpPr/>
          <p:nvPr/>
        </p:nvSpPr>
        <p:spPr>
          <a:xfrm>
            <a:off x="6597445" y="2374491"/>
            <a:ext cx="1101213" cy="3048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661908-3BBC-16A6-C2EB-0B34147881CC}"/>
              </a:ext>
            </a:extLst>
          </p:cNvPr>
          <p:cNvSpPr/>
          <p:nvPr/>
        </p:nvSpPr>
        <p:spPr>
          <a:xfrm>
            <a:off x="6597444" y="2930014"/>
            <a:ext cx="1101213" cy="3048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Cube 6">
            <a:extLst>
              <a:ext uri="{FF2B5EF4-FFF2-40B4-BE49-F238E27FC236}">
                <a16:creationId xmlns:a16="http://schemas.microsoft.com/office/drawing/2014/main" id="{791A2D0F-B7DD-E641-D9B5-E8FC24BB7C34}"/>
              </a:ext>
            </a:extLst>
          </p:cNvPr>
          <p:cNvSpPr/>
          <p:nvPr/>
        </p:nvSpPr>
        <p:spPr>
          <a:xfrm>
            <a:off x="6693318" y="1868129"/>
            <a:ext cx="213842" cy="194187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2"/>
              </a:solidFill>
            </a:endParaRPr>
          </a:p>
        </p:txBody>
      </p:sp>
      <p:sp>
        <p:nvSpPr>
          <p:cNvPr id="8" name="Cube 7">
            <a:extLst>
              <a:ext uri="{FF2B5EF4-FFF2-40B4-BE49-F238E27FC236}">
                <a16:creationId xmlns:a16="http://schemas.microsoft.com/office/drawing/2014/main" id="{EBE89B41-C371-0AC2-1D1F-E55FCEC4D920}"/>
              </a:ext>
            </a:extLst>
          </p:cNvPr>
          <p:cNvSpPr/>
          <p:nvPr/>
        </p:nvSpPr>
        <p:spPr>
          <a:xfrm>
            <a:off x="7059167" y="1858297"/>
            <a:ext cx="193105" cy="204019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Cube 8">
            <a:extLst>
              <a:ext uri="{FF2B5EF4-FFF2-40B4-BE49-F238E27FC236}">
                <a16:creationId xmlns:a16="http://schemas.microsoft.com/office/drawing/2014/main" id="{0348FEF9-003E-FF0A-C554-C6443F03B242}"/>
              </a:ext>
            </a:extLst>
          </p:cNvPr>
          <p:cNvSpPr/>
          <p:nvPr/>
        </p:nvSpPr>
        <p:spPr>
          <a:xfrm>
            <a:off x="7430745" y="1855838"/>
            <a:ext cx="192696" cy="206478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Cube 9">
            <a:extLst>
              <a:ext uri="{FF2B5EF4-FFF2-40B4-BE49-F238E27FC236}">
                <a16:creationId xmlns:a16="http://schemas.microsoft.com/office/drawing/2014/main" id="{8D3071C7-8F3B-20E7-5A95-8E2470F8229F}"/>
              </a:ext>
            </a:extLst>
          </p:cNvPr>
          <p:cNvSpPr/>
          <p:nvPr/>
        </p:nvSpPr>
        <p:spPr>
          <a:xfrm>
            <a:off x="6693318" y="2438401"/>
            <a:ext cx="204010" cy="206473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Cube 10">
            <a:extLst>
              <a:ext uri="{FF2B5EF4-FFF2-40B4-BE49-F238E27FC236}">
                <a16:creationId xmlns:a16="http://schemas.microsoft.com/office/drawing/2014/main" id="{DBCFC509-2F6D-C7DA-EEAC-8D5DC6BED833}"/>
              </a:ext>
            </a:extLst>
          </p:cNvPr>
          <p:cNvSpPr/>
          <p:nvPr/>
        </p:nvSpPr>
        <p:spPr>
          <a:xfrm>
            <a:off x="7049339" y="2438397"/>
            <a:ext cx="204010" cy="206473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Cube 11">
            <a:extLst>
              <a:ext uri="{FF2B5EF4-FFF2-40B4-BE49-F238E27FC236}">
                <a16:creationId xmlns:a16="http://schemas.microsoft.com/office/drawing/2014/main" id="{FA7AD7D1-5D31-4A07-5346-A5EEBC18C2D1}"/>
              </a:ext>
            </a:extLst>
          </p:cNvPr>
          <p:cNvSpPr/>
          <p:nvPr/>
        </p:nvSpPr>
        <p:spPr>
          <a:xfrm>
            <a:off x="7430744" y="2438396"/>
            <a:ext cx="204010" cy="206473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Cube 12">
            <a:extLst>
              <a:ext uri="{FF2B5EF4-FFF2-40B4-BE49-F238E27FC236}">
                <a16:creationId xmlns:a16="http://schemas.microsoft.com/office/drawing/2014/main" id="{D26905A1-A7C0-EB08-23C5-A4EE43E8AB85}"/>
              </a:ext>
            </a:extLst>
          </p:cNvPr>
          <p:cNvSpPr/>
          <p:nvPr/>
        </p:nvSpPr>
        <p:spPr>
          <a:xfrm>
            <a:off x="7059167" y="3000708"/>
            <a:ext cx="221614" cy="184945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Cube 13">
            <a:extLst>
              <a:ext uri="{FF2B5EF4-FFF2-40B4-BE49-F238E27FC236}">
                <a16:creationId xmlns:a16="http://schemas.microsoft.com/office/drawing/2014/main" id="{F9E61AA2-0EED-27E3-F351-8489F05FA31C}"/>
              </a:ext>
            </a:extLst>
          </p:cNvPr>
          <p:cNvSpPr/>
          <p:nvPr/>
        </p:nvSpPr>
        <p:spPr>
          <a:xfrm>
            <a:off x="7430744" y="2979175"/>
            <a:ext cx="207692" cy="184945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0AE2712-30C1-C7DB-1E3F-F924296E1A72}"/>
              </a:ext>
            </a:extLst>
          </p:cNvPr>
          <p:cNvCxnSpPr>
            <a:stCxn id="4" idx="3"/>
          </p:cNvCxnSpPr>
          <p:nvPr/>
        </p:nvCxnSpPr>
        <p:spPr>
          <a:xfrm>
            <a:off x="7698658" y="1971368"/>
            <a:ext cx="4227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6FC3E62-FB95-2FA8-C365-E94BF2A5504A}"/>
              </a:ext>
            </a:extLst>
          </p:cNvPr>
          <p:cNvCxnSpPr/>
          <p:nvPr/>
        </p:nvCxnSpPr>
        <p:spPr>
          <a:xfrm>
            <a:off x="7703575" y="2507226"/>
            <a:ext cx="4227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98CA6AE-AB3C-EC1A-7B9B-B72303391B3D}"/>
              </a:ext>
            </a:extLst>
          </p:cNvPr>
          <p:cNvCxnSpPr/>
          <p:nvPr/>
        </p:nvCxnSpPr>
        <p:spPr>
          <a:xfrm>
            <a:off x="6971168" y="1818968"/>
            <a:ext cx="0" cy="304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9D16642-D182-E2EC-2389-1625D3412B65}"/>
              </a:ext>
            </a:extLst>
          </p:cNvPr>
          <p:cNvCxnSpPr/>
          <p:nvPr/>
        </p:nvCxnSpPr>
        <p:spPr>
          <a:xfrm>
            <a:off x="7364368" y="1818968"/>
            <a:ext cx="0" cy="304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4261A98-C6FB-CA26-0E89-6C51EC315BA6}"/>
              </a:ext>
            </a:extLst>
          </p:cNvPr>
          <p:cNvCxnSpPr/>
          <p:nvPr/>
        </p:nvCxnSpPr>
        <p:spPr>
          <a:xfrm>
            <a:off x="7364368" y="2374491"/>
            <a:ext cx="0" cy="304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D7047DC-5DF0-F2CB-D7F4-7E6E6B29BC35}"/>
              </a:ext>
            </a:extLst>
          </p:cNvPr>
          <p:cNvCxnSpPr/>
          <p:nvPr/>
        </p:nvCxnSpPr>
        <p:spPr>
          <a:xfrm>
            <a:off x="6971168" y="2374491"/>
            <a:ext cx="0" cy="304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ube 22">
            <a:extLst>
              <a:ext uri="{FF2B5EF4-FFF2-40B4-BE49-F238E27FC236}">
                <a16:creationId xmlns:a16="http://schemas.microsoft.com/office/drawing/2014/main" id="{444F028D-BDC3-7D06-6A8D-9B34F810D986}"/>
              </a:ext>
            </a:extLst>
          </p:cNvPr>
          <p:cNvSpPr/>
          <p:nvPr/>
        </p:nvSpPr>
        <p:spPr>
          <a:xfrm>
            <a:off x="6675718" y="2979175"/>
            <a:ext cx="231442" cy="206478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5EFA1EA-8975-3BA9-7134-224BEAA7308E}"/>
              </a:ext>
            </a:extLst>
          </p:cNvPr>
          <p:cNvCxnSpPr/>
          <p:nvPr/>
        </p:nvCxnSpPr>
        <p:spPr>
          <a:xfrm>
            <a:off x="7392200" y="2930014"/>
            <a:ext cx="0" cy="304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530930D-2FD9-92F5-EA0A-4589B1013B93}"/>
              </a:ext>
            </a:extLst>
          </p:cNvPr>
          <p:cNvCxnSpPr/>
          <p:nvPr/>
        </p:nvCxnSpPr>
        <p:spPr>
          <a:xfrm>
            <a:off x="7003619" y="2930014"/>
            <a:ext cx="0" cy="304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99F609E-F2F2-2348-2B17-D0564A76120F}"/>
              </a:ext>
            </a:extLst>
          </p:cNvPr>
          <p:cNvCxnSpPr/>
          <p:nvPr/>
        </p:nvCxnSpPr>
        <p:spPr>
          <a:xfrm>
            <a:off x="7698657" y="3098538"/>
            <a:ext cx="4227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lowchart: Connector 26">
            <a:extLst>
              <a:ext uri="{FF2B5EF4-FFF2-40B4-BE49-F238E27FC236}">
                <a16:creationId xmlns:a16="http://schemas.microsoft.com/office/drawing/2014/main" id="{C1616EC1-44E1-9F78-74F5-06FA0F35944B}"/>
              </a:ext>
            </a:extLst>
          </p:cNvPr>
          <p:cNvSpPr/>
          <p:nvPr/>
        </p:nvSpPr>
        <p:spPr>
          <a:xfrm>
            <a:off x="8121444" y="1868129"/>
            <a:ext cx="208740" cy="216309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FB31DB50-414E-9C31-6C63-7BFE82EA6F87}"/>
              </a:ext>
            </a:extLst>
          </p:cNvPr>
          <p:cNvSpPr/>
          <p:nvPr/>
        </p:nvSpPr>
        <p:spPr>
          <a:xfrm>
            <a:off x="8131279" y="2394844"/>
            <a:ext cx="208740" cy="216309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9" name="Flowchart: Connector 28">
            <a:extLst>
              <a:ext uri="{FF2B5EF4-FFF2-40B4-BE49-F238E27FC236}">
                <a16:creationId xmlns:a16="http://schemas.microsoft.com/office/drawing/2014/main" id="{1FFEAD92-48AA-8638-9F7F-9D22770F43AB}"/>
              </a:ext>
            </a:extLst>
          </p:cNvPr>
          <p:cNvSpPr/>
          <p:nvPr/>
        </p:nvSpPr>
        <p:spPr>
          <a:xfrm>
            <a:off x="8103847" y="2985025"/>
            <a:ext cx="208740" cy="216309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8A96780-5C46-43A0-84F8-71DB747B3C66}"/>
              </a:ext>
            </a:extLst>
          </p:cNvPr>
          <p:cNvCxnSpPr/>
          <p:nvPr/>
        </p:nvCxnSpPr>
        <p:spPr>
          <a:xfrm>
            <a:off x="8330875" y="1818968"/>
            <a:ext cx="0" cy="14158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5DB3421-06DC-BDDA-8917-65B16E34FC17}"/>
              </a:ext>
            </a:extLst>
          </p:cNvPr>
          <p:cNvCxnSpPr/>
          <p:nvPr/>
        </p:nvCxnSpPr>
        <p:spPr>
          <a:xfrm>
            <a:off x="8340019" y="2502998"/>
            <a:ext cx="4227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Flowchart: Connector 32">
            <a:extLst>
              <a:ext uri="{FF2B5EF4-FFF2-40B4-BE49-F238E27FC236}">
                <a16:creationId xmlns:a16="http://schemas.microsoft.com/office/drawing/2014/main" id="{F27DA5F6-AC6D-9938-6EE3-E1BA2761FB40}"/>
              </a:ext>
            </a:extLst>
          </p:cNvPr>
          <p:cNvSpPr/>
          <p:nvPr/>
        </p:nvSpPr>
        <p:spPr>
          <a:xfrm>
            <a:off x="8762806" y="2304289"/>
            <a:ext cx="330062" cy="375002"/>
          </a:xfrm>
          <a:prstGeom prst="flowChartConnector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B2AF9DD-FADD-6E68-6D3C-E0AB182BB324}"/>
              </a:ext>
            </a:extLst>
          </p:cNvPr>
          <p:cNvCxnSpPr/>
          <p:nvPr/>
        </p:nvCxnSpPr>
        <p:spPr>
          <a:xfrm>
            <a:off x="9092868" y="2502998"/>
            <a:ext cx="4227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E10624C0-6E00-66CB-D1D6-EA04BA8C2347}"/>
              </a:ext>
            </a:extLst>
          </p:cNvPr>
          <p:cNvSpPr/>
          <p:nvPr/>
        </p:nvSpPr>
        <p:spPr>
          <a:xfrm>
            <a:off x="9533353" y="2350598"/>
            <a:ext cx="845088" cy="3048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E8C805D-E154-4347-E8E4-7DCABD789F15}"/>
              </a:ext>
            </a:extLst>
          </p:cNvPr>
          <p:cNvCxnSpPr/>
          <p:nvPr/>
        </p:nvCxnSpPr>
        <p:spPr>
          <a:xfrm>
            <a:off x="9793224" y="2350598"/>
            <a:ext cx="0" cy="3286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1335D1C-6C17-15C2-287A-0AE79D4CA536}"/>
              </a:ext>
            </a:extLst>
          </p:cNvPr>
          <p:cNvCxnSpPr/>
          <p:nvPr/>
        </p:nvCxnSpPr>
        <p:spPr>
          <a:xfrm>
            <a:off x="10104120" y="2350598"/>
            <a:ext cx="0" cy="304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Cube 39">
            <a:extLst>
              <a:ext uri="{FF2B5EF4-FFF2-40B4-BE49-F238E27FC236}">
                <a16:creationId xmlns:a16="http://schemas.microsoft.com/office/drawing/2014/main" id="{CBFD0FB2-B439-3981-16B7-B86B046F2CCB}"/>
              </a:ext>
            </a:extLst>
          </p:cNvPr>
          <p:cNvSpPr/>
          <p:nvPr/>
        </p:nvSpPr>
        <p:spPr>
          <a:xfrm>
            <a:off x="6202844" y="1873929"/>
            <a:ext cx="192696" cy="206478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Cube 42">
            <a:extLst>
              <a:ext uri="{FF2B5EF4-FFF2-40B4-BE49-F238E27FC236}">
                <a16:creationId xmlns:a16="http://schemas.microsoft.com/office/drawing/2014/main" id="{A57522B7-0334-79AE-F3C0-E0D08B7DDAAF}"/>
              </a:ext>
            </a:extLst>
          </p:cNvPr>
          <p:cNvSpPr/>
          <p:nvPr/>
        </p:nvSpPr>
        <p:spPr>
          <a:xfrm>
            <a:off x="10146461" y="2409788"/>
            <a:ext cx="192696" cy="206478"/>
          </a:xfrm>
          <a:prstGeom prst="cub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BB3CBBB-99E9-07F3-90EA-971586706971}"/>
                  </a:ext>
                </a:extLst>
              </p:cNvPr>
              <p:cNvSpPr txBox="1"/>
              <p:nvPr/>
            </p:nvSpPr>
            <p:spPr>
              <a:xfrm>
                <a:off x="293128" y="1282859"/>
                <a:ext cx="5863831" cy="5210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dirty="0"/>
                  <a:t>Since, the system  is always full, every newly arriving  packets will experience a residual time which is always equal to the average service time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of the server  .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dirty="0"/>
                  <a:t>Every time the server finishes serving  a packet, a new packet enter the server.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dirty="0"/>
                  <a:t>Effective injection rate is equal to the departure rate.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dirty="0"/>
                  <a:t>Average Waiting Time </a:t>
                </a:r>
              </a:p>
              <a:p>
                <a:pPr lvl="1"/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 </m:t>
                    </m:r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acc>
                          <m:accPr>
                            <m:chr m:val="̂"/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acc>
                      </m:den>
                    </m:f>
                  </m:oMath>
                </a14:m>
                <a:r>
                  <a:rPr lang="en-US" dirty="0"/>
                  <a:t>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d>
                            <m:d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acc>
                                <m:accPr>
                                  <m:chr m:val="̂"/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𝐶𝑎</m:t>
                                      </m:r>
                                    </m:e>
                                    <m:sub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+ </m:t>
                              </m:r>
                              <m:acc>
                                <m:accPr>
                                  <m:chr m:val="̂"/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𝐶𝑠</m:t>
                                      </m:r>
                                    </m:e>
                                    <m:sub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</m:e>
                              </m:acc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acc>
                            <m:accPr>
                              <m:chr m:val="̂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acc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dirty="0"/>
              </a:p>
              <a:p>
                <a:pPr lvl="1"/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b="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acc>
                              <m:accPr>
                                <m:chr m:val="̂"/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𝐶𝑎</m:t>
                                    </m:r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acc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+ </m:t>
                            </m:r>
                            <m:acc>
                              <m:accPr>
                                <m:chr m:val="̂"/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𝐶𝑠</m:t>
                                    </m:r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</m:e>
                            </m:acc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  <m:acc>
                          <m:accPr>
                            <m:chr m:val="̂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acc>
                      </m:den>
                    </m:f>
                  </m:oMath>
                </a14:m>
                <a:endParaRPr lang="en-US" b="0" dirty="0"/>
              </a:p>
              <a:p>
                <a:br>
                  <a:rPr lang="en-US" b="0" dirty="0"/>
                </a:br>
                <a:endParaRPr lang="en-US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BB3CBBB-99E9-07F3-90EA-9715867069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128" y="1282859"/>
                <a:ext cx="5863831" cy="5210016"/>
              </a:xfrm>
              <a:prstGeom prst="rect">
                <a:avLst/>
              </a:prstGeom>
              <a:blipFill>
                <a:blip r:embed="rId2"/>
                <a:stretch>
                  <a:fillRect l="-624" r="-13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6562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6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65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2050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47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47" tmFilter="0, 0; 0.125,0.2665; 0.25,0.4; 0.375,0.465; 0.5,0.5;  0.625,0.535; 0.75,0.6; 0.875,0.7335; 1,1">
                                          <p:stCondLst>
                                            <p:cond delay="747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74" tmFilter="0, 0; 0.125,0.2665; 0.25,0.4; 0.375,0.465; 0.5,0.5;  0.625,0.535; 0.75,0.6; 0.875,0.7335; 1,1">
                                          <p:stCondLst>
                                            <p:cond delay="149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85" tmFilter="0, 0; 0.125,0.2665; 0.25,0.4; 0.375,0.465; 0.5,0.5;  0.625,0.535; 0.75,0.6; 0.875,0.7335; 1,1">
                                          <p:stCondLst>
                                            <p:cond delay="1863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29">
                                          <p:stCondLst>
                                            <p:cond delay="731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" dur="187" decel="50000">
                                          <p:stCondLst>
                                            <p:cond delay="761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9">
                                          <p:stCondLst>
                                            <p:cond delay="1476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" dur="187" decel="50000">
                                          <p:stCondLst>
                                            <p:cond delay="1505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9">
                                          <p:stCondLst>
                                            <p:cond delay="1847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" dur="187" decel="50000">
                                          <p:stCondLst>
                                            <p:cond delay="1876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9">
                                          <p:stCondLst>
                                            <p:cond delay="2034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" dur="187" decel="50000">
                                          <p:stCondLst>
                                            <p:cond delay="2063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750"/>
                            </p:stCondLst>
                            <p:childTnLst>
                              <p:par>
                                <p:cTn id="2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750"/>
                            </p:stCondLst>
                            <p:childTnLst>
                              <p:par>
                                <p:cTn id="29" presetID="1" presetClass="entr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6750"/>
                            </p:stCondLst>
                            <p:childTnLst>
                              <p:par>
                                <p:cTn id="3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7750"/>
                            </p:stCondLst>
                            <p:childTnLst>
                              <p:par>
                                <p:cTn id="35" presetID="1" presetClass="entr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8750"/>
                            </p:stCondLst>
                            <p:childTnLst>
                              <p:par>
                                <p:cTn id="40" presetID="1" presetClass="entr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40" grpId="0" animBg="1"/>
      <p:bldP spid="4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4C8DB-882D-1015-C12C-D751D7698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28894-8F46-221D-44B9-FD05E3336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65125"/>
            <a:ext cx="11311128" cy="457835"/>
          </a:xfrm>
          <a:solidFill>
            <a:schemeClr val="tx1"/>
          </a:solidFill>
        </p:spPr>
        <p:txBody>
          <a:bodyPr>
            <a:noAutofit/>
          </a:bodyPr>
          <a:lstStyle/>
          <a:p>
            <a:r>
              <a:rPr lang="en-US" sz="2800" dirty="0">
                <a:solidFill>
                  <a:srgbClr val="FFC000"/>
                </a:solidFill>
              </a:rPr>
              <a:t>Simulation Vs Analytical model  Result using modified concept(PR model)</a:t>
            </a:r>
          </a:p>
        </p:txBody>
      </p:sp>
      <p:pic>
        <p:nvPicPr>
          <p:cNvPr id="9" name="Content Placeholder 8" descr="A graph of a model and a graph of a model&#10;&#10;AI-generated content may be incorrect.">
            <a:extLst>
              <a:ext uri="{FF2B5EF4-FFF2-40B4-BE49-F238E27FC236}">
                <a16:creationId xmlns:a16="http://schemas.microsoft.com/office/drawing/2014/main" id="{6CB10005-06F2-8C95-3864-CF491B6427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8108" y="1053846"/>
            <a:ext cx="5334000" cy="4000500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25A30AA-B2AB-DC8A-3EA0-D8A8A013B174}"/>
                  </a:ext>
                </a:extLst>
              </p:cNvPr>
              <p:cNvSpPr txBox="1"/>
              <p:nvPr/>
            </p:nvSpPr>
            <p:spPr>
              <a:xfrm>
                <a:off x="348997" y="895011"/>
                <a:ext cx="5955792" cy="43181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Computing Effective Injection Rate 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acc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/>
                  <a:t> at high Traffic Injection Rate.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sz="1400" dirty="0"/>
              </a:p>
              <a:p>
                <a:r>
                  <a:rPr lang="en-US" sz="1400" dirty="0"/>
                  <a:t>	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acc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f>
                              <m:f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den>
                            </m:f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  <m:d>
                              <m:d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1, </m:t>
                                </m:r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,    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  <m:d>
                              <m:d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 , </m:t>
                                </m:r>
                                <m:d>
                                  <m:d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1− </m:t>
                                    </m:r>
                                    <m:f>
                                      <m:fPr>
                                        <m:ctrlP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den>
                                    </m:f>
                                    <m:nary>
                                      <m:naryPr>
                                        <m:chr m:val="∑"/>
                                        <m:ctrlP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3"/>
                                          </m:rP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r>
                                          <m:rPr>
                                            <m:brk m:alnAt="23"/>
                                          </m:rP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p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𝜌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</m:e>
                                        </m:acc>
                                      </m:e>
                                    </m:nary>
                                  </m:e>
                                </m:d>
                              </m:e>
                            </m:d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,  1&lt;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 ≤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</m:e>
                        </m:eqArr>
                      </m:e>
                    </m:d>
                  </m:oMath>
                </a14:m>
                <a:endParaRPr lang="en-US" sz="1400" dirty="0"/>
              </a:p>
              <a:p>
                <a:endParaRPr lang="en-US" sz="1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1400" b="0" i="0" dirty="0">
                    <a:solidFill>
                      <a:srgbClr val="008013"/>
                    </a:solidFill>
                    <a:effectLst/>
                  </a:rPr>
                  <a:t>Calculating the Residual Time</a:t>
                </a:r>
              </a:p>
              <a:p>
                <a:pPr marL="2628900" lvl="5" indent="-342900">
                  <a:buFont typeface="Arial" panose="020B0604020202020204" pitchFamily="34" charset="0"/>
                  <a:buChar char="•"/>
                </a:pPr>
                <a:r>
                  <a:rPr lang="en-US" sz="1400" b="0" i="0" dirty="0">
                    <a:solidFill>
                      <a:srgbClr val="008013"/>
                    </a:solidFill>
                    <a:effectLst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400" b="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acc>
                              <m:accPr>
                                <m:chr m:val="̂"/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sz="1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 dirty="0">
                                        <a:latin typeface="Cambria Math" panose="02040503050406030204" pitchFamily="18" charset="0"/>
                                      </a:rPr>
                                      <m:t>𝐶𝑎</m:t>
                                    </m:r>
                                  </m:e>
                                  <m:sub>
                                    <m:r>
                                      <a:rPr lang="en-US" sz="1400" i="1" dirty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acc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+ </m:t>
                            </m:r>
                            <m:acc>
                              <m:accPr>
                                <m:chr m:val="̂"/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sz="1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 dirty="0">
                                        <a:latin typeface="Cambria Math" panose="02040503050406030204" pitchFamily="18" charset="0"/>
                                      </a:rPr>
                                      <m:t>𝐶𝑠</m:t>
                                    </m:r>
                                  </m:e>
                                  <m:sub>
                                    <m:r>
                                      <a:rPr lang="en-US" sz="1400" i="1" dirty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</m:e>
                            </m:acc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num>
                      <m:den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2</m:t>
                        </m:r>
                        <m:acc>
                          <m:accPr>
                            <m:chr m:val="̂"/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acc>
                      </m:den>
                    </m:f>
                  </m:oMath>
                </a14:m>
                <a:endParaRPr lang="en-US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Waiting time  : 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1" dirty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𝑁</m:t>
                          </m:r>
                          <m:d>
                            <m:d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  <m:t>𝐶𝑎</m:t>
                                      </m:r>
                                    </m:e>
                                    <m:sub>
                                      <m: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+ 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  <m:t>𝐶𝑠</m:t>
                                      </m:r>
                                    </m:e>
                                    <m:sub>
                                      <m: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</m:e>
                              </m:acc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+2</m:t>
                          </m:r>
                        </m:num>
                        <m:den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  <m:acc>
                            <m:accPr>
                              <m:chr m:val="̂"/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acc>
                        </m:den>
                      </m:f>
                    </m:oMath>
                  </m:oMathPara>
                </a14:m>
                <a:endParaRPr lang="en-US" sz="1400" b="0" i="0" dirty="0">
                  <a:effectLst/>
                  <a:latin typeface="Menlo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342900" indent="-342900">
                  <a:buFont typeface="+mj-lt"/>
                  <a:buAutoNum type="arabicPeriod"/>
                </a:pPr>
                <a:endParaRPr lang="en-US" dirty="0"/>
              </a:p>
              <a:p>
                <a:pPr marL="342900" indent="-342900">
                  <a:buFont typeface="+mj-lt"/>
                  <a:buAutoNum type="arabicPeriod"/>
                </a:pPr>
                <a:endParaRPr lang="en-US" dirty="0"/>
              </a:p>
              <a:p>
                <a:pPr marL="342900" indent="-342900">
                  <a:buFont typeface="+mj-lt"/>
                  <a:buAutoNum type="arabicPeriod"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25A30AA-B2AB-DC8A-3EA0-D8A8A013B1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997" y="895011"/>
                <a:ext cx="5955792" cy="4318170"/>
              </a:xfrm>
              <a:prstGeom prst="rect">
                <a:avLst/>
              </a:prstGeom>
              <a:blipFill>
                <a:blip r:embed="rId3"/>
                <a:stretch>
                  <a:fillRect l="-102" t="-1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ABECC49D-40F7-2AA2-BCF6-B1EDF31ED757}"/>
              </a:ext>
            </a:extLst>
          </p:cNvPr>
          <p:cNvSpPr txBox="1"/>
          <p:nvPr/>
        </p:nvSpPr>
        <p:spPr>
          <a:xfrm>
            <a:off x="6245352" y="5285232"/>
            <a:ext cx="5239512" cy="64633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nb-NO" dirty="0"/>
              <a:t>MAPE_1 = 0      		MAE_1  =  0</a:t>
            </a:r>
          </a:p>
          <a:p>
            <a:r>
              <a:rPr lang="nb-NO" dirty="0"/>
              <a:t>MAPE_2 =  </a:t>
            </a:r>
            <a:r>
              <a:rPr lang="nb-NO" dirty="0">
                <a:solidFill>
                  <a:srgbClr val="00B050"/>
                </a:solidFill>
              </a:rPr>
              <a:t>18.4195</a:t>
            </a:r>
            <a:r>
              <a:rPr lang="nb-NO" dirty="0">
                <a:solidFill>
                  <a:srgbClr val="FF0000"/>
                </a:solidFill>
              </a:rPr>
              <a:t> </a:t>
            </a:r>
            <a:r>
              <a:rPr lang="nb-NO" dirty="0"/>
              <a:t> 	MAE_2 =  </a:t>
            </a:r>
            <a:r>
              <a:rPr lang="nb-NO" dirty="0">
                <a:solidFill>
                  <a:srgbClr val="00B050"/>
                </a:solidFill>
              </a:rPr>
              <a:t>1.2225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692787-8003-F45A-E282-8C47C36780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97" y="3835681"/>
            <a:ext cx="5239512" cy="2827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361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5C9A7-FAFD-B9A0-7BDA-75AE69E30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CD6AC-C213-1C6C-7CC0-4D9B132C9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65125"/>
            <a:ext cx="11311128" cy="457835"/>
          </a:xfrm>
          <a:solidFill>
            <a:schemeClr val="tx1"/>
          </a:solidFill>
        </p:spPr>
        <p:txBody>
          <a:bodyPr>
            <a:noAutofit/>
          </a:bodyPr>
          <a:lstStyle/>
          <a:p>
            <a:r>
              <a:rPr lang="en-US" sz="2800" dirty="0">
                <a:solidFill>
                  <a:srgbClr val="FFC000"/>
                </a:solidFill>
              </a:rPr>
              <a:t>Simulation Vs Analytical model  Result using modified concept(RR model)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120A29F-8BD4-F79C-CFE3-BDC7469BCA75}"/>
                  </a:ext>
                </a:extLst>
              </p:cNvPr>
              <p:cNvSpPr txBox="1"/>
              <p:nvPr/>
            </p:nvSpPr>
            <p:spPr>
              <a:xfrm>
                <a:off x="429768" y="1053846"/>
                <a:ext cx="5955792" cy="33757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Computing Effective Injection Rate 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acc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/>
                  <a:t> at high Traffic Injection Rate.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sz="1400" dirty="0"/>
              </a:p>
              <a:p>
                <a:r>
                  <a:rPr lang="en-US" sz="1400" dirty="0"/>
                  <a:t>	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acc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1400" b="0" i="1" smtClean="0">
                        <a:latin typeface="Cambria Math" panose="02040503050406030204" pitchFamily="18" charset="0"/>
                      </a:rPr>
                      <m:t>𝑚𝑖𝑛</m:t>
                    </m:r>
                    <m:d>
                      <m:dPr>
                        <m:ctrlPr>
                          <a:rPr lang="en-IN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400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IN" sz="1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IN" sz="1400" b="0" i="1" smtClean="0">
                                <a:latin typeface="Cambria Math" panose="02040503050406030204" pitchFamily="18" charset="0"/>
                              </a:rPr>
                              <m:t> ,  </m:t>
                            </m:r>
                          </m:sub>
                        </m:sSub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  <m:d>
                          <m:dPr>
                            <m:ctrlPr>
                              <a:rPr lang="en-IN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400" b="0" i="1" smtClean="0">
                                <a:latin typeface="Cambria Math" panose="02040503050406030204" pitchFamily="18" charset="0"/>
                              </a:rPr>
                              <m:t>0.5, </m:t>
                            </m:r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IN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eqArr>
                                  <m:eqArrPr>
                                    <m:ctrlPr>
                                      <a:rPr lang="en-IN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m:rPr>
                                        <m:brk m:alnAt="25"/>
                                      </m:rPr>
                                      <a:rPr lang="en-IN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IN" sz="1400" b="0" i="1" smtClean="0">
                                        <a:latin typeface="Cambria Math" panose="02040503050406030204" pitchFamily="18" charset="0"/>
                                      </a:rPr>
                                      <m:t>=0</m:t>
                                    </m:r>
                                  </m:e>
                                  <m:e>
                                    <m:r>
                                      <a:rPr lang="en-IN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IN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≠</m:t>
                                    </m:r>
                                    <m:r>
                                      <a:rPr lang="en-IN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</m:eqArr>
                              </m:sub>
                              <m:sup>
                                <m:r>
                                  <a:rPr lang="en-IN" sz="1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IN" sz="14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  <m:e>
                                <m:r>
                                  <a:rPr lang="en-IN" sz="1400" b="0" i="1" smtClean="0">
                                    <a:latin typeface="Cambria Math" panose="02040503050406030204" pitchFamily="18" charset="0"/>
                                  </a:rPr>
                                  <m:t>1 − </m:t>
                                </m:r>
                                <m:sSub>
                                  <m:sSubPr>
                                    <m:ctrlPr>
                                      <a:rPr lang="en-IN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400" b="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IN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</m:e>
                    </m:d>
                  </m:oMath>
                </a14:m>
                <a:endParaRPr lang="en-US" sz="1400" dirty="0"/>
              </a:p>
              <a:p>
                <a:endParaRPr lang="en-US" sz="1400" dirty="0"/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IN" sz="1400" b="0" i="0" u="none" strike="noStrike" baseline="0" dirty="0">
                    <a:latin typeface="NimbusRomNo9L-Regu"/>
                  </a:rPr>
                  <a:t>modified service time</a:t>
                </a:r>
                <a:r>
                  <a:rPr lang="en-IN" sz="1400" b="0" i="0" u="none" strike="noStrike" dirty="0">
                    <a:latin typeface="NimbusRomNo9L-Regu"/>
                  </a:rPr>
                  <a:t> </a:t>
                </a:r>
                <a:r>
                  <a:rPr lang="en-IN" sz="1400" b="0" i="0" u="none" strike="noStrike" baseline="0" dirty="0">
                    <a:latin typeface="NimbusRomNo9L-Regu"/>
                  </a:rPr>
                  <a:t>of class-</a:t>
                </a:r>
                <a:r>
                  <a:rPr lang="en-IN" sz="1400" b="0" i="0" u="none" strike="noStrike" baseline="0" dirty="0">
                    <a:latin typeface="CMMI10"/>
                  </a:rPr>
                  <a:t>j </a:t>
                </a:r>
                <a:r>
                  <a:rPr lang="en-IN" sz="1400" b="0" i="0" u="none" strike="noStrike" baseline="0" dirty="0">
                    <a:latin typeface="NimbusRomNo9L-Regu"/>
                  </a:rPr>
                  <a:t>packets</a:t>
                </a:r>
                <a:r>
                  <a:rPr lang="en-IN" sz="1400" b="0" i="0" u="none" strike="noStrike" dirty="0">
                    <a:latin typeface="NimbusRomNo9L-Regu"/>
                  </a:rPr>
                  <a:t> 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1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  <m:r>
                      <a:rPr lang="en-IN" sz="14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IN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acc>
                          <m:accPr>
                            <m:chr m:val="̂"/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sz="1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acc>
                      </m:den>
                    </m:f>
                  </m:oMath>
                </a14:m>
                <a:endParaRPr lang="en-US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Waiting time  : 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(2 </m:t>
                      </m:r>
                      <m:r>
                        <a:rPr lang="en-IN" sz="1400" b="0" i="1" dirty="0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IN" sz="1400" b="0" i="1" dirty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 − 3) ∗ (</m:t>
                      </m:r>
                      <m:r>
                        <a:rPr lang="en-IN" sz="1400" b="0" i="1" dirty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 + (2 −</m:t>
                      </m:r>
                      <m:r>
                        <a:rPr lang="en-IN" sz="1400" b="0" i="1" dirty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) ∗ </m:t>
                      </m:r>
                      <m:acc>
                        <m:accPr>
                          <m:chr m:val="̂"/>
                          <m:ctrlPr>
                            <a:rPr lang="en-US" sz="1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en-US" sz="1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sz="1400" b="0" i="1" dirty="0" smtClean="0">
                                  <a:latin typeface="Cambria Math" panose="02040503050406030204" pitchFamily="18" charset="0"/>
                                </a:rPr>
                                <m:t>𝐶𝑎</m:t>
                              </m:r>
                            </m:e>
                            <m:sub>
                              <m:r>
                                <a:rPr lang="en-IN" sz="1400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IN" sz="1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acc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) / (2 ∗</m:t>
                      </m:r>
                      <m:acc>
                        <m:accPr>
                          <m:chr m:val="̂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acc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∗ </m:t>
                      </m:r>
                      <m:r>
                        <a:rPr lang="en-IN" sz="1400" b="0" i="1" dirty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) +</m:t>
                      </m:r>
                      <m:acc>
                        <m:accPr>
                          <m:chr m:val="̂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IN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IN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</m:oMath>
                  </m:oMathPara>
                </a14:m>
                <a:endParaRPr lang="en-US" sz="1400" dirty="0"/>
              </a:p>
              <a:p>
                <a:pPr marL="342900" indent="-342900">
                  <a:buFont typeface="+mj-lt"/>
                  <a:buAutoNum type="arabicPeriod"/>
                </a:pPr>
                <a:endParaRPr lang="en-US" sz="1400" dirty="0"/>
              </a:p>
              <a:p>
                <a:pPr marL="342900" indent="-342900">
                  <a:buFont typeface="+mj-lt"/>
                  <a:buAutoNum type="arabicPeriod"/>
                </a:pPr>
                <a:endParaRPr lang="en-US" dirty="0"/>
              </a:p>
              <a:p>
                <a:pPr marL="342900" indent="-342900">
                  <a:buFont typeface="+mj-lt"/>
                  <a:buAutoNum type="arabicPeriod"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120A29F-8BD4-F79C-CFE3-BDC7469BCA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768" y="1053846"/>
                <a:ext cx="5955792" cy="3375732"/>
              </a:xfrm>
              <a:prstGeom prst="rect">
                <a:avLst/>
              </a:prstGeom>
              <a:blipFill>
                <a:blip r:embed="rId3"/>
                <a:stretch>
                  <a:fillRect l="-205" t="-1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F6DD856E-306E-28C7-2484-D90CC22D4B0D}"/>
              </a:ext>
            </a:extLst>
          </p:cNvPr>
          <p:cNvSpPr txBox="1"/>
          <p:nvPr/>
        </p:nvSpPr>
        <p:spPr>
          <a:xfrm>
            <a:off x="7120423" y="4538803"/>
            <a:ext cx="4944938" cy="64633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nb-NO" dirty="0"/>
              <a:t>MAPE_1 = 9.8018                      MAE_1  =  0.7139</a:t>
            </a:r>
          </a:p>
          <a:p>
            <a:r>
              <a:rPr lang="nb-NO" dirty="0"/>
              <a:t>MAPE_2 =  9.8458                      MAE_2 =  </a:t>
            </a:r>
            <a:r>
              <a:rPr lang="nb-NO" dirty="0">
                <a:solidFill>
                  <a:schemeClr val="tx1"/>
                </a:solidFill>
              </a:rPr>
              <a:t>0.7208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272FE85-6789-0D0D-0F5B-812B3F79A1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640" y="3537155"/>
            <a:ext cx="6501775" cy="3134750"/>
          </a:xfrm>
          <a:prstGeom prst="rect">
            <a:avLst/>
          </a:prstGeom>
        </p:spPr>
      </p:pic>
      <p:pic>
        <p:nvPicPr>
          <p:cNvPr id="9" name="Content Placeholder 8" descr="A graph of a model and a model&#10;&#10;AI-generated content may be incorrect.">
            <a:extLst>
              <a:ext uri="{FF2B5EF4-FFF2-40B4-BE49-F238E27FC236}">
                <a16:creationId xmlns:a16="http://schemas.microsoft.com/office/drawing/2014/main" id="{EE5D9FB4-DEBC-92F5-CBB0-2567D1EC4D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9958" y="1053846"/>
            <a:ext cx="5015403" cy="3375732"/>
          </a:xfrm>
        </p:spPr>
      </p:pic>
    </p:spTree>
    <p:extLst>
      <p:ext uri="{BB962C8B-B14F-4D97-AF65-F5344CB8AC3E}">
        <p14:creationId xmlns:p14="http://schemas.microsoft.com/office/powerpoint/2010/main" val="3721851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BACA7-DBDD-27C8-D1A2-71BB1CEFD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Next Steps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DC21E-F405-207B-EECE-A6000D991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latin typeface="Aptos Display"/>
              <a:ea typeface="+mn-lt"/>
              <a:cs typeface="+mn-lt"/>
            </a:endParaRPr>
          </a:p>
          <a:p>
            <a:r>
              <a:rPr lang="en-US" dirty="0">
                <a:latin typeface="Aptos"/>
                <a:ea typeface="+mn-lt"/>
                <a:cs typeface="+mn-lt"/>
              </a:rPr>
              <a:t>Equation verification and refinement</a:t>
            </a:r>
            <a:r>
              <a:rPr lang="en-US" dirty="0">
                <a:ea typeface="+mn-lt"/>
                <a:cs typeface="+mn-lt"/>
              </a:rPr>
              <a:t>: 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endParaRPr lang="en-US" dirty="0">
              <a:latin typeface="Aptos Display"/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Aptos Display"/>
                <a:ea typeface="+mn-lt"/>
                <a:cs typeface="+mn-lt"/>
              </a:rPr>
              <a:t>Checking and adjusting equations to ensure accuracy</a:t>
            </a:r>
            <a:endParaRPr lang="en-US" dirty="0"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6073422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f6b262d-64b1-48de-8710-0fc3c93bfca9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552C38875BF54E8BECD10629132D8D" ma:contentTypeVersion="6" ma:contentTypeDescription="Create a new document." ma:contentTypeScope="" ma:versionID="2117dcca7870b83d47d794a40c6ad2fb">
  <xsd:schema xmlns:xsd="http://www.w3.org/2001/XMLSchema" xmlns:xs="http://www.w3.org/2001/XMLSchema" xmlns:p="http://schemas.microsoft.com/office/2006/metadata/properties" xmlns:ns3="cf6b262d-64b1-48de-8710-0fc3c93bfca9" targetNamespace="http://schemas.microsoft.com/office/2006/metadata/properties" ma:root="true" ma:fieldsID="add902ff20dc9683d596800b2ea73817" ns3:_="">
    <xsd:import namespace="cf6b262d-64b1-48de-8710-0fc3c93bfca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6b262d-64b1-48de-8710-0fc3c93bfca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EA342DF-A120-435C-8039-19E694CC6D0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0103AEB-6C46-4E6F-8D0C-870A9514FB0A}">
  <ds:schemaRefs>
    <ds:schemaRef ds:uri="http://www.w3.org/XML/1998/namespace"/>
    <ds:schemaRef ds:uri="http://schemas.microsoft.com/office/2006/documentManagement/types"/>
    <ds:schemaRef ds:uri="http://purl.org/dc/terms/"/>
    <ds:schemaRef ds:uri="http://schemas.microsoft.com/office/2006/metadata/properties"/>
    <ds:schemaRef ds:uri="http://purl.org/dc/dcmitype/"/>
    <ds:schemaRef ds:uri="cf6b262d-64b1-48de-8710-0fc3c93bfca9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E27371DF-AA18-4103-AC3A-E646BADFC6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f6b262d-64b1-48de-8710-0fc3c93bfc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6f15cd97-f6a7-41e3-b2c5-ad4193976476}" enabled="0" method="" siteId="{6f15cd97-f6a7-41e3-b2c5-ad419397647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183</TotalTime>
  <Words>407</Words>
  <Application>Microsoft Office PowerPoint</Application>
  <PresentationFormat>Widescreen</PresentationFormat>
  <Paragraphs>69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Aptos</vt:lpstr>
      <vt:lpstr>Aptos Display</vt:lpstr>
      <vt:lpstr>Arial</vt:lpstr>
      <vt:lpstr>Cambria Math</vt:lpstr>
      <vt:lpstr>CMMI10</vt:lpstr>
      <vt:lpstr>Courier New</vt:lpstr>
      <vt:lpstr>Menlo</vt:lpstr>
      <vt:lpstr>NimbusRomNo9L-Regu</vt:lpstr>
      <vt:lpstr>Wingdings</vt:lpstr>
      <vt:lpstr>Office Theme</vt:lpstr>
      <vt:lpstr>PowerPoint Presentation</vt:lpstr>
      <vt:lpstr>Agenda</vt:lpstr>
      <vt:lpstr>Changes in .Dot File</vt:lpstr>
      <vt:lpstr>Validate Connection</vt:lpstr>
      <vt:lpstr>Waiting Time Calculation with High Injection Rate and Finite Buffer</vt:lpstr>
      <vt:lpstr>Simulation Vs Analytical model  Result using modified concept(PR model)</vt:lpstr>
      <vt:lpstr>Simulation Vs Analytical model  Result using modified concept(RR model)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Anuparna Ganguly</dc:creator>
  <cp:lastModifiedBy>Anuparna Ganguly</cp:lastModifiedBy>
  <cp:revision>2</cp:revision>
  <dcterms:created xsi:type="dcterms:W3CDTF">2025-03-31T07:16:38Z</dcterms:created>
  <dcterms:modified xsi:type="dcterms:W3CDTF">2025-06-11T10:48:09Z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0x0101009A552C38875BF54E8BECD10629132D8D</vt:lpwstr>
  </property>
</Properties>
</file>