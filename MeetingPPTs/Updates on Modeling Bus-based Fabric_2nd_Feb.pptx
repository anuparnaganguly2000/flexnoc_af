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61" r:id="rId5"/>
    <p:sldId id="260" r:id="rId6"/>
    <p:sldId id="264" r:id="rId7"/>
    <p:sldId id="266" r:id="rId8"/>
    <p:sldId id="259" r:id="rId9"/>
    <p:sldId id="267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Latency MAPE (IP3) vs Buffer Size</a:t>
            </a:r>
          </a:p>
        </c:rich>
      </c:tx>
      <c:layout>
        <c:manualLayout>
          <c:xMode val="edge"/>
          <c:yMode val="edge"/>
          <c:x val="0.34702983138780802"/>
          <c:y val="5.07354120484690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184176394293125"/>
          <c:y val="4.3620003519626825E-3"/>
          <c:w val="0.87815823605706878"/>
          <c:h val="0.568034847846955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MAPE_IP3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</c:numCache>
              <c:extLst/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13.8446</c:v>
                </c:pt>
                <c:pt idx="1">
                  <c:v>6.5982000000000003</c:v>
                </c:pt>
                <c:pt idx="2">
                  <c:v>4.68</c:v>
                </c:pt>
                <c:pt idx="3">
                  <c:v>4.4523999999999999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B54-4434-8292-31C9A90A0BF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24156735"/>
        <c:axId val="2024157215"/>
      </c:barChart>
      <c:catAx>
        <c:axId val="20241567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Buffer Size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157215"/>
        <c:crosses val="autoZero"/>
        <c:auto val="1"/>
        <c:lblAlgn val="ctr"/>
        <c:lblOffset val="100"/>
        <c:noMultiLvlLbl val="0"/>
      </c:catAx>
      <c:valAx>
        <c:axId val="2024157215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MAPE  of  IP3  Latency  (%)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20241567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Effective</a:t>
            </a:r>
            <a:r>
              <a:rPr lang="en-US" baseline="0"/>
              <a:t> Injection Rate MAPE(IP_0) vs Buffer Size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MAPE_eff_IP0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</c:numCache>
              <c:extLst/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7.4200000000000002E-2</c:v>
                </c:pt>
                <c:pt idx="1">
                  <c:v>0.16439999999999999</c:v>
                </c:pt>
                <c:pt idx="2">
                  <c:v>0.14149999999999999</c:v>
                </c:pt>
                <c:pt idx="3">
                  <c:v>0.22989999999999999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30C2-49A2-9AB7-7BC5FCB38E8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77296815"/>
        <c:axId val="1977297295"/>
      </c:barChart>
      <c:catAx>
        <c:axId val="19772968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Buffer</a:t>
                </a:r>
                <a:r>
                  <a:rPr lang="en-US" baseline="0"/>
                  <a:t> Size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297295"/>
        <c:crosses val="autoZero"/>
        <c:auto val="1"/>
        <c:lblAlgn val="ctr"/>
        <c:lblOffset val="100"/>
        <c:noMultiLvlLbl val="0"/>
      </c:catAx>
      <c:valAx>
        <c:axId val="1977297295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MAPE</a:t>
                </a:r>
                <a:r>
                  <a:rPr lang="en-US" baseline="0"/>
                  <a:t> Effective Injection(IP0)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9772968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1F824-B5C2-C06A-7636-EADA1ABC6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98245-6B30-3C0D-DA1C-4FB173B89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D73A8-AE93-BDE8-6891-504A071D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0DB06-5065-20D7-0863-6682BF39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9BEB3-7658-8F7D-16A2-99592A4C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A5BE4-158A-16DD-6863-D3A8D3DC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170A-F927-7AA8-99EE-C4BC0AD0A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F016-EC7C-17A5-C86A-9610B8D0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2394-9B34-D197-BD7D-7CF71CFE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A081D-CFB8-90FD-4F79-E6FFB467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4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6588-AC13-DEE0-623F-71817821F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B675E-1DDD-1591-9BAE-896011947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097F8-C1FD-5B50-DC3F-C68725DD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0EA68-A823-7535-9322-9EF4FDA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8EE4-CE25-F21B-7797-16C029F7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5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3EAB-7220-D1BC-E82F-9FD970AF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BCFFC-4C93-3023-5940-C3A3BEBE5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780B-B185-2B9C-4171-5F7ECCC49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83825-B905-7064-59C5-08E316B3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B953E-F80D-4D0C-9762-5E0854E5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6A94A-73BB-9CF5-4A7F-54EE3612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2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B037-ED00-B426-89C9-CB21A9F6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EB93D-2B2B-85D1-13DA-2B3F1D26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5F555-A987-AB1D-E9E9-FF6C2F852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78CEA-8F07-E5D7-C443-9F414ABD7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9FD92-AD00-5E39-B324-ABE489BA0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F32A28-8ACC-6A92-AB37-2A0707B0A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201D13-5291-5041-4A1E-B67644B3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83C195-5B32-E601-6349-F7D8025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8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5AB4-1478-286B-703B-318DF131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60BC5-99A5-39E1-55ED-CC014141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E01F3-B655-F998-D16F-87E0C6C9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3931E-8A28-AD3C-1B57-454E031B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2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D4D572-CF60-C89C-414B-2BEB5A26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D4B87-A237-C4FA-AAA0-8971B051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CDD9A-4244-869F-C14C-53FCE708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4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EFBA-0B57-C259-D082-608BD5F2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DEF2E-C574-39D7-0C34-1C7814195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27470-D05B-32F0-72E6-730CC65D6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99A22-095A-6FBF-2481-264ABEE2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34B5A-F7F0-55C2-1303-4226497F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5DC0C-71A1-5A38-9566-2D6070FC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0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2A8-9656-EB2C-FE33-243A3816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837E6-891A-BF3B-4853-53F131FE0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27CDF-4862-7936-DAB4-A046D8763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E1C9E-5AC8-00BF-757E-D7F8D74F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26675-E3AE-4785-E904-89C5C0BA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DF95C-5E05-9456-EB2E-FA3B61A8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3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E70A-2FB3-5F75-737A-5C42C367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5D22E-9740-D0F1-22E0-CF468A83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E56B1-BE0E-2042-435D-2B74364A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4F8DA-CFBA-2EC5-B4FA-3FC8E660A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F27A5-389F-9919-DE11-E76849CA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2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4B40D-5962-65B1-5B07-6042F21B5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44D00-BF9E-3468-13D1-748A1B7CC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D3FC-14FA-49D7-0684-4A66DB60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415A0-EE9A-3C1E-E0A6-5026AE896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87C36-7288-F846-32A2-28E7EAA3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1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B65A5C-5570-B231-2D63-60370FD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6DD91-BEBC-C9C6-BEDB-2187758D2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709B5-045D-9768-D057-DEBF7C2D2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A5EB8-37C9-49FC-9698-D9AAAF8AFA63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EB0F-30F9-8C24-C866-09F2000E3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EE59-4127-EDF2-2240-BAE9EB2DE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CC180-6B81-42B3-8E8C-68FFEF5B5E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8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NUPARNAGANGULY2000/FlexNoC/tree/bus_fabric/bus_fabric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53FE-DC70-750B-4A02-A13991354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Updates on Modeling </a:t>
            </a:r>
            <a:r>
              <a:rPr lang="en-US" dirty="0">
                <a:latin typeface="Aptos Display"/>
                <a:cs typeface="Arial"/>
              </a:rPr>
              <a:t>Bus-based Fabric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29AC0-BCF2-05E3-D3C3-2711AFE8A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2944" y="4014216"/>
            <a:ext cx="3730752" cy="1197864"/>
          </a:xfrm>
        </p:spPr>
        <p:txBody>
          <a:bodyPr>
            <a:normAutofit/>
          </a:bodyPr>
          <a:lstStyle/>
          <a:p>
            <a:r>
              <a:rPr lang="en-US" dirty="0"/>
              <a:t>Anuparna</a:t>
            </a:r>
          </a:p>
          <a:p>
            <a:r>
              <a:rPr lang="en-US" b="1" dirty="0">
                <a:solidFill>
                  <a:srgbClr val="00B050"/>
                </a:solidFill>
              </a:rPr>
              <a:t>2</a:t>
            </a:r>
            <a:r>
              <a:rPr lang="en-US" b="1" baseline="30000" dirty="0">
                <a:solidFill>
                  <a:srgbClr val="00B050"/>
                </a:solidFill>
              </a:rPr>
              <a:t>nd</a:t>
            </a:r>
            <a:r>
              <a:rPr lang="en-US" b="1" dirty="0">
                <a:solidFill>
                  <a:srgbClr val="00B050"/>
                </a:solidFill>
              </a:rPr>
              <a:t>  Feb 2026</a:t>
            </a:r>
          </a:p>
        </p:txBody>
      </p:sp>
    </p:spTree>
    <p:extLst>
      <p:ext uri="{BB962C8B-B14F-4D97-AF65-F5344CB8AC3E}">
        <p14:creationId xmlns:p14="http://schemas.microsoft.com/office/powerpoint/2010/main" val="153014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AA161-EBE8-333D-83FF-E483290F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" y="365126"/>
            <a:ext cx="10688782" cy="567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2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94FCC-E243-E6BC-C82B-ACCAE1057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8" y="1385455"/>
            <a:ext cx="10688782" cy="4837690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Finite Buffer Set-up</a:t>
            </a:r>
          </a:p>
          <a:p>
            <a:r>
              <a:rPr lang="en-US" dirty="0"/>
              <a:t>Experiments with Finite Buffer &amp; Equal Injection rates</a:t>
            </a:r>
          </a:p>
          <a:p>
            <a:r>
              <a:rPr lang="en-US" dirty="0"/>
              <a:t>Key Observation</a:t>
            </a:r>
          </a:p>
          <a:p>
            <a:r>
              <a:rPr lang="en-US" dirty="0"/>
              <a:t>Experiments with Finite Buffer &amp; Different Injection rates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3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88430DF-B28F-01C5-B8E0-40FE1D801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685" y="5379515"/>
            <a:ext cx="2584660" cy="9512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DE19D3-6298-7876-E4FB-DDFB8253E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072" y="4173669"/>
            <a:ext cx="3568728" cy="2569233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548A64E4-813D-5685-7CB0-0186D92F200E}"/>
              </a:ext>
            </a:extLst>
          </p:cNvPr>
          <p:cNvSpPr/>
          <p:nvPr/>
        </p:nvSpPr>
        <p:spPr>
          <a:xfrm rot="16200000">
            <a:off x="8864939" y="5742555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F7E96-0604-D518-EF81-B715F99692FD}"/>
              </a:ext>
            </a:extLst>
          </p:cNvPr>
          <p:cNvSpPr/>
          <p:nvPr/>
        </p:nvSpPr>
        <p:spPr>
          <a:xfrm>
            <a:off x="5181600" y="838300"/>
            <a:ext cx="2404872" cy="239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Converted to .dot 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BBE405-4A17-DB4F-BC66-15554140E367}"/>
              </a:ext>
            </a:extLst>
          </p:cNvPr>
          <p:cNvSpPr/>
          <p:nvPr/>
        </p:nvSpPr>
        <p:spPr>
          <a:xfrm>
            <a:off x="8787765" y="6406499"/>
            <a:ext cx="3233545" cy="3364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Output verified on pen and paper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1859C0D-71C5-E73F-099E-0517F969689F}"/>
              </a:ext>
            </a:extLst>
          </p:cNvPr>
          <p:cNvSpPr/>
          <p:nvPr/>
        </p:nvSpPr>
        <p:spPr>
          <a:xfrm>
            <a:off x="8067473" y="2954166"/>
            <a:ext cx="292608" cy="3260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AB6A3-C539-F6AD-7F93-892161E32D17}"/>
              </a:ext>
            </a:extLst>
          </p:cNvPr>
          <p:cNvSpPr txBox="1"/>
          <p:nvPr/>
        </p:nvSpPr>
        <p:spPr>
          <a:xfrm>
            <a:off x="84024" y="4325549"/>
            <a:ext cx="47980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BF is the fabric instance and 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BF has arbitration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IPs are the injectors and both IP0 and IP3 are sending packets to Die0. (assumption, IP0 packets have higher priority than IP3)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IP0 pkts and IP3 pkts arbitrate at PSF0.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Each BFs(BF0, BF1, BF2, BF3) causes </a:t>
            </a:r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1 cycle delay </a:t>
            </a:r>
            <a:r>
              <a:rPr lang="en-US" altLang="en-US" sz="1400" dirty="0">
                <a:latin typeface="Arial" panose="020B0604020202020204" pitchFamily="34" charset="0"/>
              </a:rPr>
              <a:t>(from input port to output) in addition to the arbitration. If no arbitration at a said BF, then assume delay = 1 cycle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5B5BA9-AC37-9FB5-98C0-E6CD1C92479A}"/>
              </a:ext>
            </a:extLst>
          </p:cNvPr>
          <p:cNvSpPr/>
          <p:nvPr/>
        </p:nvSpPr>
        <p:spPr>
          <a:xfrm>
            <a:off x="3340608" y="268224"/>
            <a:ext cx="847344" cy="320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Die0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18A7AD-9A20-A279-5F59-E9ED8654B1E3}"/>
              </a:ext>
            </a:extLst>
          </p:cNvPr>
          <p:cNvGrpSpPr/>
          <p:nvPr/>
        </p:nvGrpSpPr>
        <p:grpSpPr>
          <a:xfrm>
            <a:off x="170690" y="589016"/>
            <a:ext cx="4326001" cy="3076752"/>
            <a:chOff x="320040" y="284216"/>
            <a:chExt cx="4326001" cy="307675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D64C96-BB68-8474-47C6-9D17C2059AAF}"/>
                </a:ext>
              </a:extLst>
            </p:cNvPr>
            <p:cNvSpPr/>
            <p:nvPr/>
          </p:nvSpPr>
          <p:spPr>
            <a:xfrm>
              <a:off x="320040" y="560832"/>
              <a:ext cx="4326001" cy="28001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6160E8-5516-A7D6-5D90-29A23AC5399D}"/>
                </a:ext>
              </a:extLst>
            </p:cNvPr>
            <p:cNvSpPr/>
            <p:nvPr/>
          </p:nvSpPr>
          <p:spPr>
            <a:xfrm>
              <a:off x="523621" y="2440230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BF3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C582F7F-BC1A-9F82-0D3F-9040F750D7CC}"/>
                </a:ext>
              </a:extLst>
            </p:cNvPr>
            <p:cNvSpPr/>
            <p:nvPr/>
          </p:nvSpPr>
          <p:spPr>
            <a:xfrm>
              <a:off x="615061" y="2985043"/>
              <a:ext cx="616331" cy="32738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IP3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8FCF43E-B9D3-34C1-6999-66DC34E2B12A}"/>
                </a:ext>
              </a:extLst>
            </p:cNvPr>
            <p:cNvSpPr/>
            <p:nvPr/>
          </p:nvSpPr>
          <p:spPr>
            <a:xfrm>
              <a:off x="3778885" y="1316736"/>
              <a:ext cx="616331" cy="3779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IP0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446323-6C4A-8023-4E68-FFE5A81AD386}"/>
                </a:ext>
              </a:extLst>
            </p:cNvPr>
            <p:cNvSpPr/>
            <p:nvPr/>
          </p:nvSpPr>
          <p:spPr>
            <a:xfrm>
              <a:off x="2700528" y="754408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BF0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4CF2C16-B2B7-4E89-46BB-CF1BE17B63AC}"/>
                </a:ext>
              </a:extLst>
            </p:cNvPr>
            <p:cNvSpPr/>
            <p:nvPr/>
          </p:nvSpPr>
          <p:spPr>
            <a:xfrm>
              <a:off x="2700528" y="1862110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BF1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5BA850-4E73-8AE1-86AD-AC23DDF1E93C}"/>
                </a:ext>
              </a:extLst>
            </p:cNvPr>
            <p:cNvSpPr/>
            <p:nvPr/>
          </p:nvSpPr>
          <p:spPr>
            <a:xfrm>
              <a:off x="2700528" y="2452422"/>
              <a:ext cx="1694688" cy="3273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</a:rPr>
                <a:t>BF2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1E67F4F-CFD4-4EE9-2BD6-E137C9761E99}"/>
                </a:ext>
              </a:extLst>
            </p:cNvPr>
            <p:cNvCxnSpPr/>
            <p:nvPr/>
          </p:nvCxnSpPr>
          <p:spPr>
            <a:xfrm>
              <a:off x="3401568" y="1081792"/>
              <a:ext cx="0" cy="77107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9FCFEA9-1558-283E-FAFA-3D00F7A2F05D}"/>
                </a:ext>
              </a:extLst>
            </p:cNvPr>
            <p:cNvCxnSpPr>
              <a:cxnSpLocks/>
            </p:cNvCxnSpPr>
            <p:nvPr/>
          </p:nvCxnSpPr>
          <p:spPr>
            <a:xfrm>
              <a:off x="4117530" y="1081792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E32EF8F-0976-D9B1-D462-D65D507A7F3A}"/>
                </a:ext>
              </a:extLst>
            </p:cNvPr>
            <p:cNvCxnSpPr>
              <a:cxnSpLocks/>
            </p:cNvCxnSpPr>
            <p:nvPr/>
          </p:nvCxnSpPr>
          <p:spPr>
            <a:xfrm>
              <a:off x="913764" y="2750099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CBDE79F-08B7-D5A1-6CB8-46CE79DF09D9}"/>
                </a:ext>
              </a:extLst>
            </p:cNvPr>
            <p:cNvCxnSpPr>
              <a:cxnSpLocks/>
            </p:cNvCxnSpPr>
            <p:nvPr/>
          </p:nvCxnSpPr>
          <p:spPr>
            <a:xfrm>
              <a:off x="3547872" y="2205286"/>
              <a:ext cx="0" cy="23494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0688E29-8272-70F9-73BC-9661899F5DD7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218309" y="2546764"/>
              <a:ext cx="482219" cy="6935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B500AA-3C46-530C-C51F-0CE06A4026DA}"/>
                </a:ext>
              </a:extLst>
            </p:cNvPr>
            <p:cNvSpPr/>
            <p:nvPr/>
          </p:nvSpPr>
          <p:spPr>
            <a:xfrm>
              <a:off x="389826" y="597308"/>
              <a:ext cx="847344" cy="3207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Die1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51493B5-957F-DFB0-BC41-1F8862631922}"/>
                </a:ext>
              </a:extLst>
            </p:cNvPr>
            <p:cNvCxnSpPr>
              <a:cxnSpLocks/>
            </p:cNvCxnSpPr>
            <p:nvPr/>
          </p:nvCxnSpPr>
          <p:spPr>
            <a:xfrm>
              <a:off x="3694176" y="284216"/>
              <a:ext cx="0" cy="47019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4A7FC3E-05E4-BB31-F6EF-5BA9C0365478}"/>
                </a:ext>
              </a:extLst>
            </p:cNvPr>
            <p:cNvSpPr txBox="1"/>
            <p:nvPr/>
          </p:nvSpPr>
          <p:spPr>
            <a:xfrm>
              <a:off x="523621" y="1378289"/>
              <a:ext cx="28683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</a:rPr>
                <a:t>BF(Bus Fabric) Setup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60E48BF-54F0-8186-AB60-E31A835E502E}"/>
              </a:ext>
            </a:extLst>
          </p:cNvPr>
          <p:cNvSpPr txBox="1"/>
          <p:nvPr/>
        </p:nvSpPr>
        <p:spPr>
          <a:xfrm>
            <a:off x="320040" y="3876898"/>
            <a:ext cx="3286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Input from Intel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F482252-BEF0-88B6-3887-D3C7C4F74FBF}"/>
              </a:ext>
            </a:extLst>
          </p:cNvPr>
          <p:cNvCxnSpPr>
            <a:cxnSpLocks/>
          </p:cNvCxnSpPr>
          <p:nvPr/>
        </p:nvCxnSpPr>
        <p:spPr>
          <a:xfrm>
            <a:off x="4882056" y="268224"/>
            <a:ext cx="0" cy="61382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1A7D1B2-8DF2-85A4-9AAF-47689C6F2C4B}"/>
              </a:ext>
            </a:extLst>
          </p:cNvPr>
          <p:cNvSpPr txBox="1"/>
          <p:nvPr/>
        </p:nvSpPr>
        <p:spPr>
          <a:xfrm>
            <a:off x="5181600" y="283300"/>
            <a:ext cx="649056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chemeClr val="bg1">
                    <a:lumMod val="95000"/>
                  </a:schemeClr>
                </a:solidFill>
              </a:rPr>
              <a:t>Modeling</a:t>
            </a:r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 bus-based fabric in DSL</a:t>
            </a:r>
          </a:p>
        </p:txBody>
      </p:sp>
      <p:pic>
        <p:nvPicPr>
          <p:cNvPr id="54" name="Content Placeholder 53">
            <a:extLst>
              <a:ext uri="{FF2B5EF4-FFF2-40B4-BE49-F238E27FC236}">
                <a16:creationId xmlns:a16="http://schemas.microsoft.com/office/drawing/2014/main" id="{844D4551-3C30-7BD1-2A9F-A790456A7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072" y="3319815"/>
            <a:ext cx="6903238" cy="755905"/>
          </a:xfr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9A9B62B-97A3-1EF2-D632-E6555373B70B}"/>
              </a:ext>
            </a:extLst>
          </p:cNvPr>
          <p:cNvSpPr txBox="1"/>
          <p:nvPr/>
        </p:nvSpPr>
        <p:spPr>
          <a:xfrm>
            <a:off x="8686800" y="4173669"/>
            <a:ext cx="3233545" cy="1248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lnSpc>
                <a:spcPts val="1500"/>
              </a:lnSpc>
              <a:buNone/>
            </a:pPr>
            <a:r>
              <a:rPr lang="en-US" sz="1400" b="1" i="0" dirty="0">
                <a:solidFill>
                  <a:srgbClr val="000000"/>
                </a:solidFill>
                <a:effectLst/>
              </a:rPr>
              <a:t>Meaning of shapes in the diagram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 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Arrow 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     Injector. [IP0, IP3] 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Cylinder 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:  buffer [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temp_buffer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, 		  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BF_buffer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]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Trapezium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:  arbiter [</a:t>
            </a:r>
            <a:r>
              <a:rPr lang="en-US" sz="1400" b="0" i="0" dirty="0" err="1">
                <a:solidFill>
                  <a:srgbClr val="000000"/>
                </a:solidFill>
                <a:effectLst/>
              </a:rPr>
              <a:t>BF_arbiter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]</a:t>
            </a:r>
          </a:p>
          <a:p>
            <a:pPr algn="just" rtl="0" fontAlgn="base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</a:rPr>
              <a:t>   </a:t>
            </a:r>
            <a:r>
              <a:rPr lang="en-US" sz="1400" b="1" i="0" dirty="0">
                <a:solidFill>
                  <a:srgbClr val="FF0000"/>
                </a:solidFill>
                <a:effectLst/>
              </a:rPr>
              <a:t>Circle</a:t>
            </a:r>
            <a:r>
              <a:rPr lang="en-US" sz="1400" b="0" i="0" dirty="0">
                <a:solidFill>
                  <a:srgbClr val="000000"/>
                </a:solidFill>
                <a:effectLst/>
              </a:rPr>
              <a:t> : server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67D012-730A-FDAA-15AD-48452D16B74A}"/>
              </a:ext>
            </a:extLst>
          </p:cNvPr>
          <p:cNvSpPr txBox="1"/>
          <p:nvPr/>
        </p:nvSpPr>
        <p:spPr>
          <a:xfrm>
            <a:off x="5178731" y="1118282"/>
            <a:ext cx="64896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IP0 , IP3 are injectors[type: source]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injected into </a:t>
            </a:r>
            <a:r>
              <a:rPr lang="en-US" dirty="0" err="1"/>
              <a:t>temp_buffer</a:t>
            </a:r>
            <a:r>
              <a:rPr lang="en-US" dirty="0"/>
              <a:t> first.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BF’s </a:t>
            </a:r>
            <a:r>
              <a:rPr lang="en-US" b="1" dirty="0" err="1">
                <a:highlight>
                  <a:srgbClr val="FFFF00"/>
                </a:highlight>
              </a:rPr>
              <a:t>zero_load</a:t>
            </a:r>
            <a:r>
              <a:rPr lang="en-US" b="1" dirty="0">
                <a:highlight>
                  <a:srgbClr val="FFFF00"/>
                </a:highlight>
              </a:rPr>
              <a:t> = 1 </a:t>
            </a:r>
            <a:r>
              <a:rPr lang="en-US" dirty="0"/>
              <a:t>represents </a:t>
            </a:r>
            <a:r>
              <a:rPr lang="en-US" b="1" dirty="0">
                <a:highlight>
                  <a:srgbClr val="FFFF00"/>
                </a:highlight>
              </a:rPr>
              <a:t>fixed one cycle </a:t>
            </a:r>
            <a:r>
              <a:rPr lang="en-US" dirty="0"/>
              <a:t>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traverses </a:t>
            </a:r>
            <a:r>
              <a:rPr lang="en-US" altLang="en-US" sz="1600" b="1" dirty="0">
                <a:latin typeface="Aptos" panose="020B0004020202020204" pitchFamily="34" charset="0"/>
              </a:rPr>
              <a:t>BF3 → BF2 → BF1 → BF0 → Die0  </a:t>
            </a:r>
            <a:r>
              <a:rPr lang="en-US" altLang="en-US" sz="1600" dirty="0">
                <a:latin typeface="Aptos" panose="020B0004020202020204" pitchFamily="34" charset="0"/>
              </a:rPr>
              <a:t>so </a:t>
            </a:r>
            <a:r>
              <a:rPr lang="en-US" altLang="en-US" sz="1600" b="1" dirty="0">
                <a:latin typeface="Aptos" panose="020B0004020202020204" pitchFamily="34" charset="0"/>
              </a:rPr>
              <a:t>IP3’s</a:t>
            </a:r>
            <a:r>
              <a:rPr lang="en-US" altLang="en-US" sz="1600" dirty="0">
                <a:latin typeface="Aptos" panose="020B0004020202020204" pitchFamily="34" charset="0"/>
              </a:rPr>
              <a:t> </a:t>
            </a:r>
            <a:r>
              <a:rPr lang="en-US" altLang="en-US" sz="1600" b="1" dirty="0">
                <a:latin typeface="Aptos" panose="020B0004020202020204" pitchFamily="34" charset="0"/>
              </a:rPr>
              <a:t>end-to-end</a:t>
            </a:r>
            <a:r>
              <a:rPr lang="en-US" altLang="en-US" sz="1600" dirty="0">
                <a:latin typeface="Aptos" panose="020B0004020202020204" pitchFamily="34" charset="0"/>
              </a:rPr>
              <a:t> </a:t>
            </a:r>
            <a:r>
              <a:rPr lang="en-US" altLang="en-US" sz="1600" b="1" dirty="0">
                <a:latin typeface="Aptos" panose="020B0004020202020204" pitchFamily="34" charset="0"/>
              </a:rPr>
              <a:t>latency</a:t>
            </a:r>
            <a:r>
              <a:rPr lang="en-US" altLang="en-US" sz="1600" dirty="0">
                <a:latin typeface="Aptos" panose="020B0004020202020204" pitchFamily="34" charset="0"/>
              </a:rPr>
              <a:t> = W(temp_buffer0) + W(BF3) + W(BF2) + W(BF1) + W(BF0)</a:t>
            </a:r>
            <a:endParaRPr lang="en-US" altLang="en-US" sz="14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IP0 traverses </a:t>
            </a:r>
            <a:r>
              <a:rPr lang="en-US" altLang="en-US" sz="1600" b="1" dirty="0">
                <a:latin typeface="Aptos" panose="020B0004020202020204" pitchFamily="34" charset="0"/>
              </a:rPr>
              <a:t>BF0 → Die0 </a:t>
            </a:r>
            <a:r>
              <a:rPr lang="en-US" altLang="en-US" sz="1600" dirty="0">
                <a:latin typeface="Aptos" panose="020B0004020202020204" pitchFamily="34" charset="0"/>
              </a:rPr>
              <a:t>so </a:t>
            </a:r>
            <a:r>
              <a:rPr lang="en-US" altLang="en-US" sz="1600" b="1" dirty="0">
                <a:latin typeface="Aptos" panose="020B0004020202020204" pitchFamily="34" charset="0"/>
              </a:rPr>
              <a:t>IP0’s end-to-end  latency </a:t>
            </a:r>
            <a:r>
              <a:rPr lang="en-US" altLang="en-US" sz="1600" dirty="0">
                <a:latin typeface="Aptos" panose="020B0004020202020204" pitchFamily="34" charset="0"/>
              </a:rPr>
              <a:t>= W(temp_buffer1) + W(BF0)</a:t>
            </a:r>
            <a:endParaRPr lang="en-US" altLang="en-US" sz="1400" b="1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4BE7135B-AC8E-FEE2-FF15-5F947F39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9A2A4-3686-AB31-A124-C95493A1EBBF}"/>
              </a:ext>
            </a:extLst>
          </p:cNvPr>
          <p:cNvSpPr txBox="1"/>
          <p:nvPr/>
        </p:nvSpPr>
        <p:spPr>
          <a:xfrm>
            <a:off x="170690" y="192024"/>
            <a:ext cx="18982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Recap:</a:t>
            </a:r>
          </a:p>
        </p:txBody>
      </p:sp>
    </p:spTree>
    <p:extLst>
      <p:ext uri="{BB962C8B-B14F-4D97-AF65-F5344CB8AC3E}">
        <p14:creationId xmlns:p14="http://schemas.microsoft.com/office/powerpoint/2010/main" val="102176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D041-0DF2-3FDB-ADF7-4F5A5E65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468" y="228601"/>
            <a:ext cx="6282592" cy="813815"/>
          </a:xfr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US" sz="2800" b="1" dirty="0"/>
              <a:t>Recap:  Cycle-accurate </a:t>
            </a:r>
            <a:r>
              <a:rPr lang="en-US" sz="2800" b="1" dirty="0">
                <a:solidFill>
                  <a:srgbClr val="00B050"/>
                </a:solidFill>
              </a:rPr>
              <a:t>Simulation Vs </a:t>
            </a:r>
            <a:r>
              <a:rPr lang="en-US" sz="2800" b="1" dirty="0" err="1">
                <a:solidFill>
                  <a:srgbClr val="00B050"/>
                </a:solidFill>
              </a:rPr>
              <a:t>FlexNoC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b="1" dirty="0"/>
              <a:t>for the given Configuration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05B52-1DF3-63E0-514B-8A29CE4266EA}"/>
              </a:ext>
            </a:extLst>
          </p:cNvPr>
          <p:cNvSpPr txBox="1"/>
          <p:nvPr/>
        </p:nvSpPr>
        <p:spPr>
          <a:xfrm>
            <a:off x="7064828" y="5164825"/>
            <a:ext cx="4758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Latency comparison between cycle-accurate simulation and </a:t>
            </a:r>
            <a:r>
              <a:rPr lang="en-US" sz="1600" b="1" dirty="0" err="1"/>
              <a:t>FlexNoC</a:t>
            </a:r>
            <a:r>
              <a:rPr lang="en-US" sz="1600" b="1" dirty="0"/>
              <a:t> for IP0 and IP3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9B1ADE-BE0C-8204-8379-83BA245EB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77" y="1108400"/>
            <a:ext cx="6282592" cy="3176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752AC9-1D68-834D-061E-DEE7A3182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9" t="4514" r="4696"/>
          <a:stretch>
            <a:fillRect/>
          </a:stretch>
        </p:blipFill>
        <p:spPr>
          <a:xfrm>
            <a:off x="6546646" y="228601"/>
            <a:ext cx="5123116" cy="4774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829D2-829D-FA4D-B5AD-D637FFB5A700}"/>
              </a:ext>
            </a:extLst>
          </p:cNvPr>
          <p:cNvSpPr txBox="1"/>
          <p:nvPr/>
        </p:nvSpPr>
        <p:spPr>
          <a:xfrm>
            <a:off x="7064828" y="5910929"/>
            <a:ext cx="1800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MAPE ≈ 0.20%</a:t>
            </a:r>
            <a:endParaRPr lang="en-US" altLang="en-US" b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r>
              <a:rPr lang="en-US" altLang="en-US" sz="1400" b="1" dirty="0">
                <a:latin typeface="Arial" panose="020B0604020202020204" pitchFamily="34" charset="0"/>
              </a:rPr>
              <a:t>MAE ≈ 0.03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D69AF-75D7-46C9-6A3D-22C3567BAE99}"/>
              </a:ext>
            </a:extLst>
          </p:cNvPr>
          <p:cNvSpPr txBox="1"/>
          <p:nvPr/>
        </p:nvSpPr>
        <p:spPr>
          <a:xfrm>
            <a:off x="127468" y="4321075"/>
            <a:ext cx="62825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US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Cycle accurate simulator construction</a:t>
            </a:r>
            <a:r>
              <a:rPr lang="en-US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Discrete-time model (Each loop = 1 clock cycle</a:t>
            </a: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Packets injected at IP0/IP3 (injection rate-based), queued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has fixed pipeline delay (BF3→BF2→BF1).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BF0–Die0 modeled as single server with fixed service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is measured from injection to exit at Die0, and average latency is computed over all packets.</a:t>
            </a:r>
            <a:endParaRPr lang="en-US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E50CD-F39A-ADAE-0033-54E3DC37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299B-D36B-4833-A2E9-768D7C0265FF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Action Button: Document 9">
            <a:hlinkClick r:id="rId4" highlightClick="1"/>
            <a:extLst>
              <a:ext uri="{FF2B5EF4-FFF2-40B4-BE49-F238E27FC236}">
                <a16:creationId xmlns:a16="http://schemas.microsoft.com/office/drawing/2014/main" id="{5801FD60-D32D-1E7E-1218-C8CCD7AD9471}"/>
              </a:ext>
            </a:extLst>
          </p:cNvPr>
          <p:cNvSpPr/>
          <p:nvPr/>
        </p:nvSpPr>
        <p:spPr>
          <a:xfrm>
            <a:off x="8980714" y="5998029"/>
            <a:ext cx="539409" cy="584775"/>
          </a:xfrm>
          <a:prstGeom prst="actionButton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E3AA2-4612-5653-671B-3E4EA33DCE46}"/>
              </a:ext>
            </a:extLst>
          </p:cNvPr>
          <p:cNvSpPr txBox="1"/>
          <p:nvPr/>
        </p:nvSpPr>
        <p:spPr>
          <a:xfrm>
            <a:off x="9655629" y="5998029"/>
            <a:ext cx="169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75216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2B4B-AD1F-41EC-C3C5-0A16E0B5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365126"/>
            <a:ext cx="5660571" cy="568940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en-US" sz="3600" b="1" dirty="0"/>
              <a:t>Finite Buffer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54FC2-C17E-D5A6-97F5-F2A9F3F80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1277" y="1284984"/>
                <a:ext cx="4581833" cy="509541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BUFFER_SIZE for each source</a:t>
                </a:r>
              </a:p>
              <a:p>
                <a:r>
                  <a:rPr lang="en-US" sz="2000" dirty="0"/>
                  <a:t>At every cycle, generate packets using probability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1800" dirty="0"/>
                  <a:t>If queue is not full, enqueue.</a:t>
                </a:r>
              </a:p>
              <a:p>
                <a:pPr lvl="1"/>
                <a:r>
                  <a:rPr lang="en-US" sz="1800" dirty="0"/>
                  <a:t>If full, drop the packet.</a:t>
                </a:r>
              </a:p>
              <a:p>
                <a:r>
                  <a:rPr lang="en-US" sz="2000" dirty="0"/>
                  <a:t>Apply pipeline delay before packets become eligible for service(IP0: 1 cycle, IP3: 3 cycle).</a:t>
                </a:r>
              </a:p>
              <a:p>
                <a:r>
                  <a:rPr lang="en-US" sz="2000" dirty="0"/>
                  <a:t>Use a single server with fixed service time.</a:t>
                </a:r>
              </a:p>
              <a:p>
                <a:r>
                  <a:rPr lang="en-US" sz="2000" dirty="0"/>
                  <a:t>Priority(IP0 served before IP3).</a:t>
                </a:r>
              </a:p>
              <a:p>
                <a:r>
                  <a:rPr lang="en-US" sz="2000" dirty="0"/>
                  <a:t>Latency = current time – arrival time.</a:t>
                </a:r>
              </a:p>
              <a:p>
                <a:r>
                  <a:rPr lang="en-US" sz="2000" dirty="0"/>
                  <a:t>Calculate average latency</a:t>
                </a:r>
              </a:p>
              <a:p>
                <a:pPr lvl="1"/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54FC2-C17E-D5A6-97F5-F2A9F3F80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1277" y="1284984"/>
                <a:ext cx="4581833" cy="5095415"/>
              </a:xfrm>
              <a:blipFill>
                <a:blip r:embed="rId2"/>
                <a:stretch>
                  <a:fillRect l="-1198" t="-1196" r="-17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D1897D1-FE5E-0E9A-EF7E-60C1E2C5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721" y="3629255"/>
            <a:ext cx="4656223" cy="27511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821C1-FCFE-A5EB-E36A-0A4D1988B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721" y="109728"/>
            <a:ext cx="4191585" cy="35195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5354572-B851-0E29-9737-70C4934D101E}"/>
              </a:ext>
            </a:extLst>
          </p:cNvPr>
          <p:cNvCxnSpPr/>
          <p:nvPr/>
        </p:nvCxnSpPr>
        <p:spPr>
          <a:xfrm>
            <a:off x="8915400" y="667512"/>
            <a:ext cx="160934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66730F-F695-89C3-C9B1-A7144CD1FAE8}"/>
              </a:ext>
            </a:extLst>
          </p:cNvPr>
          <p:cNvCxnSpPr/>
          <p:nvPr/>
        </p:nvCxnSpPr>
        <p:spPr>
          <a:xfrm>
            <a:off x="8830056" y="1130808"/>
            <a:ext cx="160934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043796-E9CD-F0EB-9A96-95D5BD477B2A}"/>
              </a:ext>
            </a:extLst>
          </p:cNvPr>
          <p:cNvCxnSpPr/>
          <p:nvPr/>
        </p:nvCxnSpPr>
        <p:spPr>
          <a:xfrm>
            <a:off x="7598664" y="4224528"/>
            <a:ext cx="10881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8988D4-37A8-700E-F273-E33152268DD7}"/>
              </a:ext>
            </a:extLst>
          </p:cNvPr>
          <p:cNvCxnSpPr/>
          <p:nvPr/>
        </p:nvCxnSpPr>
        <p:spPr>
          <a:xfrm>
            <a:off x="7598664" y="4779264"/>
            <a:ext cx="10881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846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F77E-050F-B08F-8751-EEA0864F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72172-4DB7-59BB-C3ED-1AD24E36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365125"/>
            <a:ext cx="11384280" cy="402971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US" sz="2400" b="1" dirty="0"/>
              <a:t>Performance Evaluation (Sim. Vs </a:t>
            </a:r>
            <a:r>
              <a:rPr lang="en-US" sz="2400" b="1" dirty="0" err="1"/>
              <a:t>FlexNoC</a:t>
            </a:r>
            <a:r>
              <a:rPr lang="en-US" sz="2400" b="1" dirty="0"/>
              <a:t> tool)  for Buffer Size =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5EE39-4F34-FA90-45B4-994CC93DCCBE}"/>
                  </a:ext>
                </a:extLst>
              </p:cNvPr>
              <p:cNvSpPr txBox="1"/>
              <p:nvPr/>
            </p:nvSpPr>
            <p:spPr>
              <a:xfrm>
                <a:off x="393192" y="1355105"/>
                <a:ext cx="596280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equal Injection rates(IP0 = IP3)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05EE39-4F34-FA90-45B4-994CC93DC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55105"/>
                <a:ext cx="5962802" cy="2246769"/>
              </a:xfrm>
              <a:prstGeom prst="rect">
                <a:avLst/>
              </a:prstGeom>
              <a:blipFill>
                <a:blip r:embed="rId2"/>
                <a:stretch>
                  <a:fillRect l="-2147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C8CE2B5-33C3-7767-1192-9D7F1C3E0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0" b="2405"/>
          <a:stretch>
            <a:fillRect/>
          </a:stretch>
        </p:blipFill>
        <p:spPr>
          <a:xfrm>
            <a:off x="8377047" y="960355"/>
            <a:ext cx="3400425" cy="5532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BA5D88-DB04-D118-36D1-338589E2077C}"/>
              </a:ext>
            </a:extLst>
          </p:cNvPr>
          <p:cNvSpPr txBox="1"/>
          <p:nvPr/>
        </p:nvSpPr>
        <p:spPr>
          <a:xfrm>
            <a:off x="414528" y="3650274"/>
            <a:ext cx="46708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4.45%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0.62 %  </a:t>
            </a:r>
          </a:p>
        </p:txBody>
      </p:sp>
    </p:spTree>
    <p:extLst>
      <p:ext uri="{BB962C8B-B14F-4D97-AF65-F5344CB8AC3E}">
        <p14:creationId xmlns:p14="http://schemas.microsoft.com/office/powerpoint/2010/main" val="214862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29A7-4800-22D8-4AE8-46B3A1FC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7F5B-8A3E-CD6B-6626-EB52E45E6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365125"/>
            <a:ext cx="11384280" cy="402971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US" sz="2400" b="1" dirty="0"/>
              <a:t>Performance Evaluation (Sim. Vs </a:t>
            </a:r>
            <a:r>
              <a:rPr lang="en-US" sz="2400" b="1" dirty="0" err="1"/>
              <a:t>FlexNoC</a:t>
            </a:r>
            <a:r>
              <a:rPr lang="en-US" sz="2400" b="1" dirty="0"/>
              <a:t> tool)  for Buffer Size = 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EA2DB-410F-8240-1B85-CBA3D431B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2" b="1846"/>
          <a:stretch>
            <a:fillRect/>
          </a:stretch>
        </p:blipFill>
        <p:spPr>
          <a:xfrm>
            <a:off x="8555759" y="891597"/>
            <a:ext cx="3467100" cy="59664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C6266-9CF3-2A6A-C5C6-F4048D102532}"/>
                  </a:ext>
                </a:extLst>
              </p:cNvPr>
              <p:cNvSpPr txBox="1"/>
              <p:nvPr/>
            </p:nvSpPr>
            <p:spPr>
              <a:xfrm>
                <a:off x="473121" y="1628029"/>
                <a:ext cx="596280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equal Injection rates(IP0 = IP3)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C6266-9CF3-2A6A-C5C6-F4048D102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21" y="1628029"/>
                <a:ext cx="5962802" cy="2246769"/>
              </a:xfrm>
              <a:prstGeom prst="rect">
                <a:avLst/>
              </a:prstGeom>
              <a:blipFill>
                <a:blip r:embed="rId3"/>
                <a:stretch>
                  <a:fillRect l="-2147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6234DDC-44FB-6FD4-4A5B-8471F3903569}"/>
              </a:ext>
            </a:extLst>
          </p:cNvPr>
          <p:cNvSpPr txBox="1"/>
          <p:nvPr/>
        </p:nvSpPr>
        <p:spPr>
          <a:xfrm>
            <a:off x="414527" y="4188884"/>
            <a:ext cx="46708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6.63 </a:t>
            </a:r>
            <a:r>
              <a:rPr lang="en-US" dirty="0"/>
              <a:t>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1.08</a:t>
            </a:r>
            <a:r>
              <a:rPr lang="en-US" dirty="0"/>
              <a:t> %  </a:t>
            </a:r>
          </a:p>
        </p:txBody>
      </p:sp>
    </p:spTree>
    <p:extLst>
      <p:ext uri="{BB962C8B-B14F-4D97-AF65-F5344CB8AC3E}">
        <p14:creationId xmlns:p14="http://schemas.microsoft.com/office/powerpoint/2010/main" val="72224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55A94-0D5A-9B1A-3427-82AD98F5A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C515-1AD2-D15A-D51B-38D9C0BC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365125"/>
            <a:ext cx="11384280" cy="402971"/>
          </a:xfrm>
          <a:solidFill>
            <a:srgbClr val="FFC000"/>
          </a:solidFill>
        </p:spPr>
        <p:txBody>
          <a:bodyPr>
            <a:noAutofit/>
          </a:bodyPr>
          <a:lstStyle/>
          <a:p>
            <a:r>
              <a:rPr lang="en-US" sz="2400" b="1" dirty="0"/>
              <a:t>Performance Evaluation (Sim. Vs </a:t>
            </a:r>
            <a:r>
              <a:rPr lang="en-US" sz="2400" b="1" dirty="0" err="1"/>
              <a:t>FlexNoC</a:t>
            </a:r>
            <a:r>
              <a:rPr lang="en-US" sz="2400" b="1" dirty="0"/>
              <a:t> tool) for Buffer Size =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56301A-34E2-CB6A-E051-E67D190BD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9" b="2810"/>
          <a:stretch>
            <a:fillRect/>
          </a:stretch>
        </p:blipFill>
        <p:spPr>
          <a:xfrm>
            <a:off x="8721580" y="942110"/>
            <a:ext cx="3190875" cy="57634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21E4ED-668C-DA41-CC9A-104040B72461}"/>
                  </a:ext>
                </a:extLst>
              </p:cNvPr>
              <p:cNvSpPr txBox="1"/>
              <p:nvPr/>
            </p:nvSpPr>
            <p:spPr>
              <a:xfrm>
                <a:off x="489020" y="1182231"/>
                <a:ext cx="596280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equal Injection rates(IP0 = IP3)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21E4ED-668C-DA41-CC9A-104040B72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0" y="1182231"/>
                <a:ext cx="5962802" cy="2246769"/>
              </a:xfrm>
              <a:prstGeom prst="rect">
                <a:avLst/>
              </a:prstGeom>
              <a:blipFill>
                <a:blip r:embed="rId3"/>
                <a:stretch>
                  <a:fillRect l="-2045" t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2F4CFC8-367A-D23E-4A67-86089A9AF732}"/>
              </a:ext>
            </a:extLst>
          </p:cNvPr>
          <p:cNvSpPr txBox="1"/>
          <p:nvPr/>
        </p:nvSpPr>
        <p:spPr>
          <a:xfrm>
            <a:off x="414527" y="4188884"/>
            <a:ext cx="46708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13.84</a:t>
            </a:r>
            <a:r>
              <a:rPr lang="en-US" dirty="0"/>
              <a:t>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2.99</a:t>
            </a:r>
            <a:r>
              <a:rPr lang="en-US" dirty="0"/>
              <a:t> %  </a:t>
            </a:r>
          </a:p>
        </p:txBody>
      </p:sp>
    </p:spTree>
    <p:extLst>
      <p:ext uri="{BB962C8B-B14F-4D97-AF65-F5344CB8AC3E}">
        <p14:creationId xmlns:p14="http://schemas.microsoft.com/office/powerpoint/2010/main" val="1374282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9C18-DA00-A6AB-AA0A-1E1D5254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65125"/>
            <a:ext cx="11603736" cy="521843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2800" b="1" dirty="0"/>
              <a:t>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5BEC7-5DBA-0EF4-AA3C-EE83B1A02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812" y="2194652"/>
            <a:ext cx="5748528" cy="3072384"/>
          </a:xfrm>
        </p:spPr>
        <p:txBody>
          <a:bodyPr>
            <a:normAutofit/>
          </a:bodyPr>
          <a:lstStyle/>
          <a:p>
            <a:r>
              <a:rPr lang="en-US" sz="2000" dirty="0"/>
              <a:t>Latency MAPE(IP3) decreases initially as buffer increases, reaches minimum around 7-8</a:t>
            </a:r>
          </a:p>
          <a:p>
            <a:r>
              <a:rPr lang="en-US" sz="2000" dirty="0"/>
              <a:t>Very small buffers cause drops; very large buffers increase waiting time(higher latency).</a:t>
            </a:r>
          </a:p>
          <a:p>
            <a:r>
              <a:rPr lang="en-US" sz="2000" dirty="0"/>
              <a:t>Effective injection MAPE is always very small(&lt;3%), showing analytical model predicts throughput well.</a:t>
            </a:r>
          </a:p>
          <a:p>
            <a:r>
              <a:rPr lang="en-US" sz="2000" dirty="0"/>
              <a:t>Larger buffers mainly affect latency, not effective throughput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DB5E1F9-4679-BBF6-FED9-D1FE0D0A01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9812793"/>
              </p:ext>
            </p:extLst>
          </p:nvPr>
        </p:nvGraphicFramePr>
        <p:xfrm>
          <a:off x="6882778" y="1066945"/>
          <a:ext cx="4895850" cy="25812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5647DD5-4A78-0ABA-1241-6E9BC2378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9038134"/>
              </p:ext>
            </p:extLst>
          </p:nvPr>
        </p:nvGraphicFramePr>
        <p:xfrm>
          <a:off x="6882778" y="3895436"/>
          <a:ext cx="48958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891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13C8-635C-6C30-A922-9D7DD6AB0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A8BFC-787D-874F-86AE-33EE0625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365125"/>
            <a:ext cx="11397673" cy="43843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2000" b="1" dirty="0"/>
              <a:t>Performance Evaluation (Sim. Vs </a:t>
            </a:r>
            <a:r>
              <a:rPr lang="en-US" sz="2000" b="1" dirty="0" err="1"/>
              <a:t>FlexNoC</a:t>
            </a:r>
            <a:r>
              <a:rPr lang="en-US" sz="2000" b="1" dirty="0"/>
              <a:t> tool) for Buffer Size = 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C2A21-BD24-FE9B-46FD-5BB133BD7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8" b="2866"/>
          <a:stretch>
            <a:fillRect/>
          </a:stretch>
        </p:blipFill>
        <p:spPr>
          <a:xfrm>
            <a:off x="8516215" y="942109"/>
            <a:ext cx="3343275" cy="57450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96DD08-E20E-D8A3-48B0-B522BCB69E59}"/>
                  </a:ext>
                </a:extLst>
              </p:cNvPr>
              <p:cNvSpPr txBox="1"/>
              <p:nvPr/>
            </p:nvSpPr>
            <p:spPr>
              <a:xfrm>
                <a:off x="461816" y="952727"/>
                <a:ext cx="622244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different Injection rates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IP0 Injection Rate = 0.9 (Fixed)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IP3 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96DD08-E20E-D8A3-48B0-B522BCB69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816" y="952727"/>
                <a:ext cx="6222447" cy="2462213"/>
              </a:xfrm>
              <a:prstGeom prst="rect">
                <a:avLst/>
              </a:prstGeom>
              <a:blipFill>
                <a:blip r:embed="rId3"/>
                <a:stretch>
                  <a:fillRect l="-1569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6814A7-6FDA-0D0F-69BD-410AEF1997E5}"/>
              </a:ext>
            </a:extLst>
          </p:cNvPr>
          <p:cNvSpPr txBox="1"/>
          <p:nvPr/>
        </p:nvSpPr>
        <p:spPr>
          <a:xfrm>
            <a:off x="461816" y="4822228"/>
            <a:ext cx="6588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</a:t>
            </a:r>
          </a:p>
          <a:p>
            <a:pPr>
              <a:buNone/>
            </a:pPr>
            <a:r>
              <a:rPr lang="en-US" dirty="0"/>
              <a:t>• Latency saturates as IP3 increases due to buffer limitation</a:t>
            </a:r>
            <a:br>
              <a:rPr lang="en-US" dirty="0"/>
            </a:br>
            <a:r>
              <a:rPr lang="en-US" dirty="0"/>
              <a:t>• Analytical model closely follows simulation for effective λIP3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95254F-7A19-D6EC-0899-F43EA67010E4}"/>
              </a:ext>
            </a:extLst>
          </p:cNvPr>
          <p:cNvSpPr txBox="1"/>
          <p:nvPr/>
        </p:nvSpPr>
        <p:spPr>
          <a:xfrm>
            <a:off x="461816" y="3414940"/>
            <a:ext cx="4670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12.42</a:t>
            </a:r>
            <a:r>
              <a:rPr lang="en-US" dirty="0"/>
              <a:t>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0.68</a:t>
            </a:r>
            <a:r>
              <a:rPr lang="en-US" dirty="0"/>
              <a:t> %  </a:t>
            </a:r>
          </a:p>
        </p:txBody>
      </p:sp>
    </p:spTree>
    <p:extLst>
      <p:ext uri="{BB962C8B-B14F-4D97-AF65-F5344CB8AC3E}">
        <p14:creationId xmlns:p14="http://schemas.microsoft.com/office/powerpoint/2010/main" val="149074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373F-5F2A-6A4B-049E-1ECDCC00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365125"/>
            <a:ext cx="11397673" cy="43843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2000" b="1" dirty="0"/>
              <a:t>Performance Evaluation (Sim. Vs </a:t>
            </a:r>
            <a:r>
              <a:rPr lang="en-US" sz="2000" b="1" dirty="0" err="1"/>
              <a:t>FlexNoC</a:t>
            </a:r>
            <a:r>
              <a:rPr lang="en-US" sz="2000" b="1" dirty="0"/>
              <a:t> tool)  for Buffer Size = 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2C93D6-55F8-C563-1860-CFCB32368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426" y="942108"/>
            <a:ext cx="3445639" cy="56893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D28D00-5053-3799-B227-56A0F2E8A08D}"/>
                  </a:ext>
                </a:extLst>
              </p:cNvPr>
              <p:cNvSpPr txBox="1"/>
              <p:nvPr/>
            </p:nvSpPr>
            <p:spPr>
              <a:xfrm>
                <a:off x="580688" y="1114565"/>
                <a:ext cx="622244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different Injection rates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IP0 Injection Rate = 0.9 (Fixed)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IP3 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D28D00-5053-3799-B227-56A0F2E8A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8" y="1114565"/>
                <a:ext cx="6222447" cy="2462213"/>
              </a:xfrm>
              <a:prstGeom prst="rect">
                <a:avLst/>
              </a:prstGeom>
              <a:blipFill>
                <a:blip r:embed="rId3"/>
                <a:stretch>
                  <a:fillRect l="-1959" t="-2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4A61F3-EC95-9813-DC85-9D21A6254782}"/>
              </a:ext>
            </a:extLst>
          </p:cNvPr>
          <p:cNvSpPr txBox="1"/>
          <p:nvPr/>
        </p:nvSpPr>
        <p:spPr>
          <a:xfrm>
            <a:off x="567052" y="3576778"/>
            <a:ext cx="4670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18.20</a:t>
            </a:r>
            <a:r>
              <a:rPr lang="en-US" dirty="0"/>
              <a:t>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0.90</a:t>
            </a:r>
            <a:r>
              <a:rPr lang="en-US" dirty="0"/>
              <a:t> %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3C151F-0703-7202-45D0-087EF22B1ABF}"/>
              </a:ext>
            </a:extLst>
          </p:cNvPr>
          <p:cNvSpPr txBox="1"/>
          <p:nvPr/>
        </p:nvSpPr>
        <p:spPr>
          <a:xfrm>
            <a:off x="461816" y="4822228"/>
            <a:ext cx="740202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</a:t>
            </a:r>
          </a:p>
          <a:p>
            <a:pPr>
              <a:buNone/>
            </a:pPr>
            <a:r>
              <a:rPr lang="en-US" dirty="0"/>
              <a:t>• Latency saturates at higher IP3 due to IP0 dominance, while effective λIP3 quickly reaches a steady limit.</a:t>
            </a:r>
            <a:br>
              <a:rPr lang="en-US" dirty="0"/>
            </a:br>
            <a:r>
              <a:rPr lang="en-US" dirty="0"/>
              <a:t>• Analytical model closely follows simulation for effective λIP3</a:t>
            </a:r>
          </a:p>
        </p:txBody>
      </p:sp>
    </p:spTree>
    <p:extLst>
      <p:ext uri="{BB962C8B-B14F-4D97-AF65-F5344CB8AC3E}">
        <p14:creationId xmlns:p14="http://schemas.microsoft.com/office/powerpoint/2010/main" val="2208576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4EE69-9BCD-EEF0-66EC-E86CF9C4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6FB3-DA3F-9CC2-6C9D-867F5EAFB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365125"/>
            <a:ext cx="11397673" cy="43843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2000" b="1" dirty="0"/>
              <a:t>Performance Evaluation (Sim. Vs </a:t>
            </a:r>
            <a:r>
              <a:rPr lang="en-US" sz="2000" b="1" dirty="0" err="1"/>
              <a:t>FlexNoC</a:t>
            </a:r>
            <a:r>
              <a:rPr lang="en-US" sz="2000" b="1" dirty="0"/>
              <a:t> tool)  for  Buffer Size =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E5ADD1-EC9F-42F7-01A2-F3AC98EF0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045" y="875000"/>
            <a:ext cx="3670444" cy="57936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1A53A-D701-425D-DBFA-57BB989474BD}"/>
                  </a:ext>
                </a:extLst>
              </p:cNvPr>
              <p:cNvSpPr txBox="1"/>
              <p:nvPr/>
            </p:nvSpPr>
            <p:spPr>
              <a:xfrm>
                <a:off x="635552" y="1077989"/>
                <a:ext cx="622244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Experimental Setup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Two Ips with different Injection rates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IP0 Injection Rate = 0.9 (Fixed)</a:t>
                </a:r>
              </a:p>
              <a:p>
                <a:pPr marL="742950" lvl="1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IP3 Injection Rate swept from 0.01 to 1.0 (step = 0.05)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Service Time = 1 cycle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Simulation Length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cycles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Priority IP0 (high), IP3(low)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D1A53A-D701-425D-DBFA-57BB98947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52" y="1077989"/>
                <a:ext cx="6222447" cy="2462213"/>
              </a:xfrm>
              <a:prstGeom prst="rect">
                <a:avLst/>
              </a:prstGeom>
              <a:blipFill>
                <a:blip r:embed="rId3"/>
                <a:stretch>
                  <a:fillRect l="-1959" t="-2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E6CE49B-81BF-0E23-61B2-05269257EE01}"/>
              </a:ext>
            </a:extLst>
          </p:cNvPr>
          <p:cNvSpPr txBox="1"/>
          <p:nvPr/>
        </p:nvSpPr>
        <p:spPr>
          <a:xfrm>
            <a:off x="635552" y="3540202"/>
            <a:ext cx="4670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IP3 Latency MAPE = </a:t>
            </a:r>
            <a:r>
              <a:rPr lang="en-US" b="1" dirty="0"/>
              <a:t>28.72</a:t>
            </a:r>
            <a:r>
              <a:rPr lang="en-US" dirty="0"/>
              <a:t>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Injection MAPE (IP3) = </a:t>
            </a:r>
            <a:r>
              <a:rPr lang="en-US" b="1" dirty="0"/>
              <a:t>1.96</a:t>
            </a:r>
            <a:r>
              <a:rPr lang="en-US" dirty="0"/>
              <a:t> %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35991-2530-97A7-058C-9F369D3B016B}"/>
              </a:ext>
            </a:extLst>
          </p:cNvPr>
          <p:cNvSpPr txBox="1"/>
          <p:nvPr/>
        </p:nvSpPr>
        <p:spPr>
          <a:xfrm>
            <a:off x="544112" y="5032540"/>
            <a:ext cx="740202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Observation</a:t>
            </a:r>
          </a:p>
          <a:p>
            <a:pPr>
              <a:buNone/>
            </a:pPr>
            <a:r>
              <a:rPr lang="en-US" dirty="0"/>
              <a:t>• Latency saturates earlier because of limited buffering, leading to stronger congestion effects.</a:t>
            </a:r>
          </a:p>
          <a:p>
            <a:pPr>
              <a:buNone/>
            </a:pPr>
            <a:r>
              <a:rPr lang="en-US" dirty="0"/>
              <a:t>• Analytical model closely follows simulation for effective λIP3</a:t>
            </a:r>
          </a:p>
        </p:txBody>
      </p:sp>
    </p:spTree>
    <p:extLst>
      <p:ext uri="{BB962C8B-B14F-4D97-AF65-F5344CB8AC3E}">
        <p14:creationId xmlns:p14="http://schemas.microsoft.com/office/powerpoint/2010/main" val="51072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1114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Office Theme</vt:lpstr>
      <vt:lpstr>Updates on Modeling Bus-based Fabric</vt:lpstr>
      <vt:lpstr>Agenda</vt:lpstr>
      <vt:lpstr>PowerPoint Presentation</vt:lpstr>
      <vt:lpstr>Recap:  Cycle-accurate Simulation Vs FlexNoC for the given Configuration</vt:lpstr>
      <vt:lpstr>Finite Buffer Simulation</vt:lpstr>
      <vt:lpstr>Performance Evaluation (Sim. Vs FlexNoC tool)  for Buffer Size = 8</vt:lpstr>
      <vt:lpstr>Performance Evaluation (Sim. Vs FlexNoC tool)  for Buffer Size = 6</vt:lpstr>
      <vt:lpstr>Performance Evaluation (Sim. Vs FlexNoC tool) for Buffer Size = 4</vt:lpstr>
      <vt:lpstr>Key Observations</vt:lpstr>
      <vt:lpstr>Performance Evaluation (Sim. Vs FlexNoC tool) for Buffer Size = 8</vt:lpstr>
      <vt:lpstr>Performance Evaluation (Sim. Vs FlexNoC tool)  for Buffer Size = 6</vt:lpstr>
      <vt:lpstr>Performance Evaluation (Sim. Vs FlexNoC tool)  for  Buffer Size =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1</cp:revision>
  <dcterms:created xsi:type="dcterms:W3CDTF">2026-02-02T09:15:19Z</dcterms:created>
  <dcterms:modified xsi:type="dcterms:W3CDTF">2026-02-03T16:21:04Z</dcterms:modified>
</cp:coreProperties>
</file>