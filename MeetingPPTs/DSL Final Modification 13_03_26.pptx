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63" r:id="rId5"/>
    <p:sldId id="257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4EF22A-4E81-4DF7-939E-319334CC2B66}" v="27" dt="2026-03-12T11:28:19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56733-9341-496D-AAD0-AE9D6D8FF556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D636B-17D8-430F-99F3-EC2AEC20A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7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469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62943-6EC6-CB38-AAB1-CD25C97DA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C5F70-45C4-F708-89B8-FDF8E920D0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1509B-3E13-966D-294C-06C280EF2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34178-1AAC-B0A8-8232-AD95B5FD2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234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75C8D-63A1-C9D9-F9F4-C2AD5491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1CC069-7823-53ED-9BFF-C49CEBCFE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F6EE3-CA77-75EE-5FBA-23785FDAC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A75AC-B681-BA8D-3F06-980BFEF22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95F14-C185-4528-BF58-B4E0F3A8DD5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8448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1134-9E87-8DE2-ED9E-5DF039267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03320-1B84-8E19-FBA3-C9F31FCE1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D5383-3459-A5FD-A190-36BB5EA7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27141-8115-EFCE-A680-07518AF6F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157B8-3A48-B68B-F756-B1468ACCE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461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7AA0-1FE6-B803-45E6-0AABC33C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DCA35-A032-56C6-00DE-25B88CC95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7CCFE-029C-B483-A58F-5B46B187F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AF1D6-6D4B-2E5B-D5B3-B4F9F17C6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3248F-78FC-8CFE-26C0-9D2451300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38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16FD-62F2-CF6C-6442-23B408EC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0C1DC-5E49-5C5D-55A7-C2C9DA24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1DA9A-092C-23BE-144C-74065298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F2B6B-A979-949B-432C-58FB79D3E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A1577-DB79-CF8C-5AD0-8031109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992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35731-CAAB-75DF-1029-667521BD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E51AB-1DB9-E442-D885-0BA9467765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5723C-2766-505F-6D6B-679CAD305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28CFE-2367-7ACB-28A7-6E0243348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8B330-40C2-5A94-7898-7D8DE1C2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BC22B-B987-598D-D73D-B88E34C1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552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557F4-A0AE-5764-60BD-16B34EFEC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ADB67-4887-FC47-32B3-A786DC54F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D3A3A-55F1-7B6D-E2FF-A3BF16E8F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42973-145F-B7FD-0E6C-BC7A9DFC4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6FF9C7-5F39-E8C9-B6D9-C324C7B49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C16E1-C8DE-CA46-6428-56BC25A1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F75556-38CE-BE64-125A-A4853A1C6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DB669-3AA6-799C-FB74-49A8A5C2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850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41A8D-80AE-7181-C454-42FBD0AE0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14A41-557F-0344-144A-7C7F8E39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C3435-375D-C0F7-E648-93017AED2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E845E-4614-04DE-AFD3-5B753E54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48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579E6-0310-4CCE-12E3-553FC1665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0FE5D2-C82A-FFDD-CFE8-ABDF4023B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93863A-6F7E-C33A-0368-B5C0682C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186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7E0BD-A1F1-A72E-72F0-9F667FEA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1C0B8-88A0-C43F-BEFF-69D3D7CD5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EBE3-ECCF-0210-4330-7EF637629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CBD96-AE8E-6F1E-2124-78DB7E60A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FBD55-BDC8-A284-B59C-C17852A9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FC272-7F83-583B-F59E-A3059A23F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44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CCB9-1834-3B04-02B3-D6830076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CE795A-EA9A-E5F0-1D1A-B8D0ECC4F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22FE4-18C0-A0EF-EC60-10FA13BD1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4577B-D915-47A1-3FCB-AA52E314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E9BF0-4634-37BE-14A8-613F485A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FB623-94C1-E401-C3A8-BE8DA3B9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98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8F564-D80E-1A73-C77C-F24353543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6E012-5ED1-E1FB-DB73-0F514BA8E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E1F99-67BC-D85D-A059-6287E8BD1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BA065-48E2-96CB-4C5B-A950F3542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5D920-E263-D10F-0A9E-94C985A1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340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A07C92-CCC3-4EC5-914D-FCC06DAFED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ED754-F93D-3408-5ED2-511B522D1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169EF-06AA-A8F2-24CE-64326214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3B0CB-3D44-B6DA-8A82-F204BB52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A365E-9663-7BC8-048A-8D34B741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41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BA478-422D-C16C-85A1-37853E726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72926-832B-5C21-28BA-28BDE0A52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15945-B8FB-5528-A661-C58B2A6F1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7AD9D-EE59-49BA-80B8-06D427C0ECDF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BB1B7-E97A-96AE-6D3B-27293BE51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04A74-8476-597A-4FAC-D77B11E64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4DDC6-21CD-43BB-B261-70D09FCECE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68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8628-917E-EFD5-7BF9-45447183E5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DSL Final Modification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958189-E171-0CE0-A42A-6C8D11B45A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Anuparna Ganguly</a:t>
            </a:r>
          </a:p>
          <a:p>
            <a:r>
              <a:rPr lang="en-IN" b="1" dirty="0">
                <a:solidFill>
                  <a:srgbClr val="00B050"/>
                </a:solidFill>
              </a:rPr>
              <a:t>12-03-2026</a:t>
            </a:r>
          </a:p>
        </p:txBody>
      </p:sp>
    </p:spTree>
    <p:extLst>
      <p:ext uri="{BB962C8B-B14F-4D97-AF65-F5344CB8AC3E}">
        <p14:creationId xmlns:p14="http://schemas.microsoft.com/office/powerpoint/2010/main" val="396784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DB43-994E-BB28-71B0-B0BC43E3D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8" y="237307"/>
            <a:ext cx="10515600" cy="568940"/>
          </a:xfrm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200" b="1" dirty="0"/>
              <a:t>Enhancements Made to the </a:t>
            </a:r>
            <a:r>
              <a:rPr lang="en-US" sz="3200" b="1" dirty="0" err="1"/>
              <a:t>FlexNoC</a:t>
            </a:r>
            <a:r>
              <a:rPr lang="en-US" sz="3200" b="1" dirty="0"/>
              <a:t> DSL Compiler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1E5C3-DC89-E797-20DF-4851ADF8613E}"/>
              </a:ext>
            </a:extLst>
          </p:cNvPr>
          <p:cNvSpPr txBox="1"/>
          <p:nvPr/>
        </p:nvSpPr>
        <p:spPr>
          <a:xfrm>
            <a:off x="167147" y="718981"/>
            <a:ext cx="1184787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 can have any number of </a:t>
            </a:r>
            <a:r>
              <a:rPr lang="en-IN" b="1" dirty="0"/>
              <a:t>global variable </a:t>
            </a:r>
            <a:r>
              <a:rPr lang="en-IN" dirty="0"/>
              <a:t>declared and we will use this inside node attribute, </a:t>
            </a:r>
            <a:r>
              <a:rPr lang="en-IN" dirty="0" err="1"/>
              <a:t>e.x</a:t>
            </a:r>
            <a:r>
              <a:rPr lang="en-I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digraph G {</a:t>
            </a:r>
          </a:p>
          <a:p>
            <a:endParaRPr lang="en-IN" dirty="0"/>
          </a:p>
          <a:p>
            <a:r>
              <a:rPr lang="en-IN" dirty="0"/>
              <a:t>    	ingress1 = 3</a:t>
            </a:r>
          </a:p>
          <a:p>
            <a:r>
              <a:rPr lang="en-IN" dirty="0"/>
              <a:t>    	egress1 = 4</a:t>
            </a:r>
          </a:p>
          <a:p>
            <a:r>
              <a:rPr lang="en-IN" dirty="0"/>
              <a:t>	ingress2 = 1</a:t>
            </a:r>
          </a:p>
          <a:p>
            <a:r>
              <a:rPr lang="en-IN" dirty="0"/>
              <a:t>    	egress2 = 2</a:t>
            </a:r>
          </a:p>
          <a:p>
            <a:endParaRPr lang="en-IN" dirty="0"/>
          </a:p>
          <a:p>
            <a:r>
              <a:rPr lang="en-IN" dirty="0"/>
              <a:t>    Q1 [type=QUEUE </a:t>
            </a:r>
            <a:r>
              <a:rPr lang="en-IN" dirty="0">
                <a:highlight>
                  <a:srgbClr val="FFFF00"/>
                </a:highlight>
              </a:rPr>
              <a:t>latency = ingress1 + egress2</a:t>
            </a:r>
            <a:r>
              <a:rPr lang="en-IN" dirty="0"/>
              <a:t>]</a:t>
            </a:r>
          </a:p>
          <a:p>
            <a:r>
              <a:rPr lang="en-IN" dirty="0"/>
              <a:t>    Q2 [type=QUEUE latency = ingress2 + egress2]</a:t>
            </a:r>
          </a:p>
          <a:p>
            <a:r>
              <a:rPr lang="en-IN" dirty="0"/>
              <a:t>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the edges section we can declare delay using </a:t>
            </a:r>
            <a:r>
              <a:rPr lang="en-IN" b="1" dirty="0" err="1"/>
              <a:t>pipeline_delay</a:t>
            </a:r>
            <a:r>
              <a:rPr lang="en-IN" b="1" dirty="0"/>
              <a:t> </a:t>
            </a:r>
            <a:r>
              <a:rPr lang="en-IN" dirty="0"/>
              <a:t>attribute</a:t>
            </a:r>
          </a:p>
          <a:p>
            <a:pPr lvl="7"/>
            <a:r>
              <a:rPr lang="en-IN" sz="1600" dirty="0"/>
              <a:t>IP6 -&gt;Q1</a:t>
            </a:r>
          </a:p>
          <a:p>
            <a:pPr lvl="7"/>
            <a:r>
              <a:rPr lang="en-IN" sz="1600" dirty="0"/>
              <a:t>Q1 -&gt; ARB1</a:t>
            </a:r>
          </a:p>
          <a:p>
            <a:pPr lvl="7"/>
            <a:r>
              <a:rPr lang="en-IN" sz="1600" dirty="0"/>
              <a:t>ARB1 -&gt; SERVER1</a:t>
            </a:r>
          </a:p>
          <a:p>
            <a:pPr lvl="7"/>
            <a:r>
              <a:rPr lang="en-IN" sz="1600" dirty="0"/>
              <a:t>SERVER -&gt; Q2</a:t>
            </a:r>
          </a:p>
          <a:p>
            <a:pPr lvl="7"/>
            <a:r>
              <a:rPr lang="en-IN" sz="1600" dirty="0"/>
              <a:t>Q2</a:t>
            </a:r>
            <a:r>
              <a:rPr lang="en-IN" sz="1600" b="1" dirty="0"/>
              <a:t> -</a:t>
            </a:r>
            <a:r>
              <a:rPr lang="en-IN" sz="1600" dirty="0"/>
              <a:t>-&gt; ARB2  </a:t>
            </a:r>
            <a:r>
              <a:rPr lang="en-IN" sz="1600" dirty="0">
                <a:highlight>
                  <a:srgbClr val="FFFF00"/>
                </a:highlight>
              </a:rPr>
              <a:t>[ </a:t>
            </a:r>
            <a:r>
              <a:rPr lang="en-IN" sz="1600" dirty="0" err="1">
                <a:highlight>
                  <a:srgbClr val="FFFF00"/>
                </a:highlight>
              </a:rPr>
              <a:t>pipeline_delay</a:t>
            </a:r>
            <a:r>
              <a:rPr lang="en-IN" sz="1600" dirty="0">
                <a:highlight>
                  <a:srgbClr val="FFFF00"/>
                </a:highlight>
              </a:rPr>
              <a:t> = 10]</a:t>
            </a:r>
          </a:p>
          <a:p>
            <a:pPr lvl="7"/>
            <a:r>
              <a:rPr lang="en-IN" sz="1600" dirty="0"/>
              <a:t>ARB 2-&gt; SERVER2</a:t>
            </a:r>
          </a:p>
          <a:p>
            <a:pPr lvl="7"/>
            <a:r>
              <a:rPr lang="en-IN" sz="1600" dirty="0"/>
              <a:t>SERVER2 -&gt; Q4</a:t>
            </a:r>
          </a:p>
          <a:p>
            <a:pPr lvl="7"/>
            <a:r>
              <a:rPr lang="en-IN" sz="1600" dirty="0"/>
              <a:t>Q4 -&gt; DIE0 SERVER </a:t>
            </a:r>
            <a:r>
              <a:rPr lang="en-IN" sz="1600" dirty="0">
                <a:highlight>
                  <a:srgbClr val="FFFF00"/>
                </a:highlight>
              </a:rPr>
              <a:t>[</a:t>
            </a:r>
            <a:r>
              <a:rPr lang="en-IN" sz="1600" dirty="0" err="1">
                <a:highlight>
                  <a:srgbClr val="FFFF00"/>
                </a:highlight>
              </a:rPr>
              <a:t>pipeline_delay</a:t>
            </a:r>
            <a:r>
              <a:rPr lang="en-IN" sz="1600" dirty="0">
                <a:highlight>
                  <a:srgbClr val="FFFF00"/>
                </a:highlight>
              </a:rPr>
              <a:t> = 19]</a:t>
            </a:r>
          </a:p>
          <a:p>
            <a:pPr lvl="7"/>
            <a:r>
              <a:rPr lang="en-IN" sz="1600" dirty="0"/>
              <a:t>DIE SERVER -&gt;Sink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8437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B81CD1-3FE8-F988-9731-F2B061B6DBE8}"/>
              </a:ext>
            </a:extLst>
          </p:cNvPr>
          <p:cNvSpPr txBox="1"/>
          <p:nvPr/>
        </p:nvSpPr>
        <p:spPr>
          <a:xfrm>
            <a:off x="-30961" y="3157813"/>
            <a:ext cx="54663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Buffer size = 12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IP6 is inactive and doesn’t send any packets into the fabric.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ingressQpush1 = 1</a:t>
            </a:r>
          </a:p>
          <a:p>
            <a:pPr lvl="1"/>
            <a:r>
              <a:rPr lang="en-US" b="1" dirty="0"/>
              <a:t>      ingressQpop1 = 4</a:t>
            </a:r>
          </a:p>
          <a:p>
            <a:pPr lvl="1"/>
            <a:r>
              <a:rPr lang="en-US" b="1" dirty="0"/>
              <a:t>      egressQpush2 = 3</a:t>
            </a:r>
          </a:p>
          <a:p>
            <a:pPr lvl="1"/>
            <a:r>
              <a:rPr lang="en-US" b="1" dirty="0"/>
              <a:t>      egressQpop2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Arbiter’s </a:t>
            </a:r>
            <a:r>
              <a:rPr lang="en-US" b="1" dirty="0" err="1"/>
              <a:t>zero_load</a:t>
            </a:r>
            <a:r>
              <a:rPr lang="en-US" b="1" dirty="0"/>
              <a:t>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BF0 buffer -&gt; DIE0  </a:t>
            </a:r>
            <a:r>
              <a:rPr lang="en-US" b="1" dirty="0" err="1"/>
              <a:t>pipeline_delay</a:t>
            </a:r>
            <a:r>
              <a:rPr lang="en-US" b="1" dirty="0"/>
              <a:t> =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5F924-A5FF-D779-AA64-3FA5421D55BE}"/>
              </a:ext>
            </a:extLst>
          </p:cNvPr>
          <p:cNvSpPr txBox="1"/>
          <p:nvPr/>
        </p:nvSpPr>
        <p:spPr>
          <a:xfrm>
            <a:off x="79963" y="59631"/>
            <a:ext cx="839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Experiment 1 : </a:t>
            </a:r>
            <a:r>
              <a:rPr lang="en-US" sz="3200" b="1">
                <a:solidFill>
                  <a:srgbClr val="00B050"/>
                </a:solidFill>
              </a:rPr>
              <a:t>IP0-&gt;BF0-&gt;DIE0</a:t>
            </a:r>
            <a:r>
              <a:rPr lang="en-US" sz="3200"/>
              <a:t>; </a:t>
            </a:r>
            <a:r>
              <a:rPr lang="en-US" sz="3200">
                <a:solidFill>
                  <a:srgbClr val="FF0000"/>
                </a:solidFill>
              </a:rPr>
              <a:t>NO IP6</a:t>
            </a:r>
          </a:p>
          <a:p>
            <a:endParaRPr lang="en-IN" sz="3200" b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89F5F1-5A66-0A0C-91E2-E2C3737D9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00"/>
          <a:stretch>
            <a:fillRect/>
          </a:stretch>
        </p:blipFill>
        <p:spPr>
          <a:xfrm>
            <a:off x="194710" y="654000"/>
            <a:ext cx="5466305" cy="2462418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7E4011CD-46F3-2A68-384B-997A5A9E64C8}"/>
              </a:ext>
            </a:extLst>
          </p:cNvPr>
          <p:cNvSpPr/>
          <p:nvPr/>
        </p:nvSpPr>
        <p:spPr>
          <a:xfrm rot="16200000">
            <a:off x="5244426" y="2295123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2E103983-D4B7-FC68-C117-699B76051C4B}"/>
              </a:ext>
            </a:extLst>
          </p:cNvPr>
          <p:cNvSpPr/>
          <p:nvPr/>
        </p:nvSpPr>
        <p:spPr>
          <a:xfrm rot="10800000">
            <a:off x="4965678" y="4722447"/>
            <a:ext cx="580103" cy="677908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A712A5-8EDD-6551-0B7C-7FE02951C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3485" y="5496298"/>
            <a:ext cx="4841303" cy="94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855BA21-BE25-A8F8-6211-C1F4351542D4}"/>
              </a:ext>
            </a:extLst>
          </p:cNvPr>
          <p:cNvSpPr txBox="1"/>
          <p:nvPr/>
        </p:nvSpPr>
        <p:spPr>
          <a:xfrm>
            <a:off x="7609437" y="6423936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BD8B28-9063-B4B3-4648-19578EF98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8684" y="929946"/>
            <a:ext cx="6118037" cy="44557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9EE44-425C-6DFE-7889-AFA670E703B9}"/>
              </a:ext>
            </a:extLst>
          </p:cNvPr>
          <p:cNvSpPr txBox="1"/>
          <p:nvPr/>
        </p:nvSpPr>
        <p:spPr>
          <a:xfrm>
            <a:off x="8082079" y="3899547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../test/busFabricExp1.dot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5C61E-D53A-7A93-DCB1-7CEDE921C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48" y="5775175"/>
            <a:ext cx="5779810" cy="8916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6933EF-A2C9-0537-BA79-CFD7EA315A5F}"/>
              </a:ext>
            </a:extLst>
          </p:cNvPr>
          <p:cNvSpPr txBox="1"/>
          <p:nvPr/>
        </p:nvSpPr>
        <p:spPr>
          <a:xfrm>
            <a:off x="2927863" y="6135321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ED72CA-B861-404D-1953-B9AF08172A9E}"/>
              </a:ext>
            </a:extLst>
          </p:cNvPr>
          <p:cNvSpPr/>
          <p:nvPr/>
        </p:nvSpPr>
        <p:spPr>
          <a:xfrm>
            <a:off x="8858865" y="2566219"/>
            <a:ext cx="1956619" cy="2165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019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68882-7E8C-DBF3-03B1-FA001C4F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9E5241-0B44-C236-BF92-334D47A3CDD5}"/>
              </a:ext>
            </a:extLst>
          </p:cNvPr>
          <p:cNvSpPr txBox="1"/>
          <p:nvPr/>
        </p:nvSpPr>
        <p:spPr>
          <a:xfrm>
            <a:off x="-210576" y="3166073"/>
            <a:ext cx="54663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ingressQpush1 = 1</a:t>
            </a:r>
          </a:p>
          <a:p>
            <a:pPr lvl="1"/>
            <a:r>
              <a:rPr lang="en-US" b="1" dirty="0"/>
              <a:t>      ingressQpop1 = 4</a:t>
            </a:r>
          </a:p>
          <a:p>
            <a:pPr lvl="1"/>
            <a:r>
              <a:rPr lang="en-US" b="1" dirty="0"/>
              <a:t>      egressQpush2 = 3</a:t>
            </a:r>
          </a:p>
          <a:p>
            <a:pPr lvl="1"/>
            <a:r>
              <a:rPr lang="en-US" b="1" dirty="0"/>
              <a:t>      egressQpop2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Arbiter’s </a:t>
            </a:r>
            <a:r>
              <a:rPr lang="en-US" b="1" dirty="0" err="1"/>
              <a:t>zero_load</a:t>
            </a:r>
            <a:r>
              <a:rPr lang="en-US" b="1" dirty="0"/>
              <a:t>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BF6 buffer -&gt; BF0 arbiter </a:t>
            </a:r>
            <a:r>
              <a:rPr lang="en-US" b="1" dirty="0" err="1"/>
              <a:t>pipeline_delay</a:t>
            </a:r>
            <a:r>
              <a:rPr lang="en-US" b="1" dirty="0"/>
              <a:t> =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BF0 buffer -&gt; DIE0  </a:t>
            </a:r>
            <a:r>
              <a:rPr lang="en-US" b="1" dirty="0" err="1"/>
              <a:t>pipeline_delay</a:t>
            </a:r>
            <a:r>
              <a:rPr lang="en-US" b="1" dirty="0"/>
              <a:t> =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6752-C778-0F6A-C8EC-7A84AD8291F7}"/>
              </a:ext>
            </a:extLst>
          </p:cNvPr>
          <p:cNvSpPr txBox="1"/>
          <p:nvPr/>
        </p:nvSpPr>
        <p:spPr>
          <a:xfrm>
            <a:off x="79963" y="59631"/>
            <a:ext cx="83967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Experiment 2 : </a:t>
            </a:r>
            <a:r>
              <a:rPr lang="en-US" sz="3200" b="1" dirty="0">
                <a:solidFill>
                  <a:srgbClr val="00B050"/>
                </a:solidFill>
              </a:rPr>
              <a:t>IP6-&gt;BF6-&gt;BF0-&gt;DIE0</a:t>
            </a:r>
            <a:r>
              <a:rPr lang="en-US" sz="3200" dirty="0"/>
              <a:t>; </a:t>
            </a:r>
            <a:r>
              <a:rPr lang="en-US" sz="3200" b="1" dirty="0">
                <a:solidFill>
                  <a:srgbClr val="FF0000"/>
                </a:solidFill>
              </a:rPr>
              <a:t>NO IP0</a:t>
            </a:r>
          </a:p>
          <a:p>
            <a:endParaRPr lang="en-IN" sz="3200" b="1" dirty="0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C04074DC-C89E-89BD-D8A8-56351F5A15C0}"/>
              </a:ext>
            </a:extLst>
          </p:cNvPr>
          <p:cNvSpPr/>
          <p:nvPr/>
        </p:nvSpPr>
        <p:spPr>
          <a:xfrm rot="16200000">
            <a:off x="5244426" y="2295123"/>
            <a:ext cx="381837" cy="359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A173AFE7-13EA-BED8-244C-0D25441251D0}"/>
              </a:ext>
            </a:extLst>
          </p:cNvPr>
          <p:cNvSpPr/>
          <p:nvPr/>
        </p:nvSpPr>
        <p:spPr>
          <a:xfrm rot="10800000">
            <a:off x="5240977" y="4722447"/>
            <a:ext cx="580103" cy="677908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4491E4-1F2B-70F8-A678-A9798D85434B}"/>
              </a:ext>
            </a:extLst>
          </p:cNvPr>
          <p:cNvSpPr txBox="1"/>
          <p:nvPr/>
        </p:nvSpPr>
        <p:spPr>
          <a:xfrm>
            <a:off x="7609437" y="6423936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1D8B0A-BB8B-7BDD-5A89-FE34287B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258" y="654000"/>
            <a:ext cx="5937032" cy="47463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30B75E-AD5A-873C-C638-FC155CF2167E}"/>
              </a:ext>
            </a:extLst>
          </p:cNvPr>
          <p:cNvSpPr txBox="1"/>
          <p:nvPr/>
        </p:nvSpPr>
        <p:spPr>
          <a:xfrm>
            <a:off x="8974022" y="3774910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../test/busFabricExp2.dot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51B178-A71E-7C0A-07F4-5869129F5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987" y="5548140"/>
            <a:ext cx="5938325" cy="7745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56DBB9-B4E1-44BA-29B9-F9F8FB12F4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49" y="5707566"/>
            <a:ext cx="5872609" cy="10364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06E7E11-FA84-D745-E03C-2B45A15890D4}"/>
              </a:ext>
            </a:extLst>
          </p:cNvPr>
          <p:cNvSpPr txBox="1"/>
          <p:nvPr/>
        </p:nvSpPr>
        <p:spPr>
          <a:xfrm>
            <a:off x="2947802" y="6182000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287BAA9-DA37-F600-F87A-F065573F6A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21" y="797188"/>
            <a:ext cx="4752195" cy="272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246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8345B-C494-F11D-CB34-F64EF055C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8EBE26-6C9A-1236-6FD6-1830D13457AD}"/>
              </a:ext>
            </a:extLst>
          </p:cNvPr>
          <p:cNvSpPr txBox="1"/>
          <p:nvPr/>
        </p:nvSpPr>
        <p:spPr>
          <a:xfrm>
            <a:off x="-210576" y="3166073"/>
            <a:ext cx="54663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ingressQpush1 = 1</a:t>
            </a:r>
          </a:p>
          <a:p>
            <a:pPr lvl="1"/>
            <a:r>
              <a:rPr lang="en-US" b="1" dirty="0"/>
              <a:t>      ingressQpop1 = 4</a:t>
            </a:r>
          </a:p>
          <a:p>
            <a:pPr lvl="1"/>
            <a:r>
              <a:rPr lang="en-US" b="1" dirty="0"/>
              <a:t>      egressQpush2 = 3</a:t>
            </a:r>
          </a:p>
          <a:p>
            <a:pPr lvl="1"/>
            <a:r>
              <a:rPr lang="en-US" b="1" dirty="0"/>
              <a:t>      egressQpop2 = 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Arbiter’s </a:t>
            </a:r>
            <a:r>
              <a:rPr lang="en-US" b="1" dirty="0" err="1"/>
              <a:t>zero_load</a:t>
            </a:r>
            <a:r>
              <a:rPr lang="en-US" b="1" dirty="0"/>
              <a:t> = 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BF6 buffer -&gt; BF0 arbiter </a:t>
            </a:r>
            <a:r>
              <a:rPr lang="en-US" b="1" dirty="0" err="1"/>
              <a:t>pipeline_delay</a:t>
            </a:r>
            <a:r>
              <a:rPr lang="en-US" b="1" dirty="0"/>
              <a:t> = 15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BF0 buffer -&gt; DIE0  </a:t>
            </a:r>
            <a:r>
              <a:rPr lang="en-US" b="1" dirty="0" err="1"/>
              <a:t>pipeline_delay</a:t>
            </a:r>
            <a:r>
              <a:rPr lang="en-US" b="1" dirty="0"/>
              <a:t> = 19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DB0A55B2-9A89-B7A9-4663-F6D77BA63337}"/>
              </a:ext>
            </a:extLst>
          </p:cNvPr>
          <p:cNvSpPr/>
          <p:nvPr/>
        </p:nvSpPr>
        <p:spPr>
          <a:xfrm rot="10800000">
            <a:off x="5240977" y="4722447"/>
            <a:ext cx="580103" cy="677908"/>
          </a:xfrm>
          <a:prstGeom prst="bentUpArrow">
            <a:avLst>
              <a:gd name="adj1" fmla="val 25000"/>
              <a:gd name="adj2" fmla="val 25000"/>
              <a:gd name="adj3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702CF4-3CE9-F59C-2506-F9F355CAE2DF}"/>
              </a:ext>
            </a:extLst>
          </p:cNvPr>
          <p:cNvSpPr txBox="1"/>
          <p:nvPr/>
        </p:nvSpPr>
        <p:spPr>
          <a:xfrm>
            <a:off x="7609437" y="6423936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Autogenerated </a:t>
            </a:r>
            <a:r>
              <a:rPr lang="en-IN" sz="2000" b="1" dirty="0" err="1">
                <a:solidFill>
                  <a:srgbClr val="FF0000"/>
                </a:solidFill>
              </a:rPr>
              <a:t>png</a:t>
            </a:r>
            <a:r>
              <a:rPr lang="en-IN" sz="2000" b="1" dirty="0">
                <a:solidFill>
                  <a:srgbClr val="FF0000"/>
                </a:solidFill>
              </a:rPr>
              <a:t> file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3B8DEE-F515-03C8-37D5-AC13C1316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839" y="427895"/>
            <a:ext cx="5944905" cy="45133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7D1862-596F-E2DB-0881-3D23F222284D}"/>
              </a:ext>
            </a:extLst>
          </p:cNvPr>
          <p:cNvSpPr txBox="1"/>
          <p:nvPr/>
        </p:nvSpPr>
        <p:spPr>
          <a:xfrm>
            <a:off x="8185166" y="3950903"/>
            <a:ext cx="3403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../test/busFabricExp3.dot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B79FD-A105-4C34-F0D3-74C31F0C1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64" y="5474397"/>
            <a:ext cx="6134156" cy="12726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CE2F92-07EA-F804-B50C-ED109723F017}"/>
              </a:ext>
            </a:extLst>
          </p:cNvPr>
          <p:cNvSpPr txBox="1"/>
          <p:nvPr/>
        </p:nvSpPr>
        <p:spPr>
          <a:xfrm>
            <a:off x="3196942" y="6193769"/>
            <a:ext cx="32921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o/p from </a:t>
            </a:r>
            <a:r>
              <a:rPr lang="en-IN" sz="2000" b="1" dirty="0" err="1">
                <a:solidFill>
                  <a:srgbClr val="FF0000"/>
                </a:solidFill>
              </a:rPr>
              <a:t>FlexNoC</a:t>
            </a:r>
            <a:r>
              <a:rPr lang="en-IN" sz="2000" b="1" dirty="0">
                <a:solidFill>
                  <a:srgbClr val="FF0000"/>
                </a:solidFill>
              </a:rPr>
              <a:t> 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7440AC-E5F1-7F66-2295-1FAF588689DD}"/>
              </a:ext>
            </a:extLst>
          </p:cNvPr>
          <p:cNvSpPr txBox="1"/>
          <p:nvPr/>
        </p:nvSpPr>
        <p:spPr>
          <a:xfrm>
            <a:off x="129864" y="67220"/>
            <a:ext cx="7580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Experiment 3: </a:t>
            </a:r>
            <a:r>
              <a:rPr lang="en-US" sz="2400" dirty="0"/>
              <a:t>Both</a:t>
            </a:r>
            <a:r>
              <a:rPr lang="en-US" sz="2400" b="1" dirty="0"/>
              <a:t> </a:t>
            </a:r>
            <a:r>
              <a:rPr lang="en-US" sz="2000" b="1" dirty="0">
                <a:solidFill>
                  <a:srgbClr val="FF0000"/>
                </a:solidFill>
              </a:rPr>
              <a:t>IP6</a:t>
            </a:r>
            <a:r>
              <a:rPr lang="en-US" sz="2000" dirty="0"/>
              <a:t> &amp; </a:t>
            </a:r>
            <a:r>
              <a:rPr lang="en-US" sz="2000" b="1" dirty="0">
                <a:solidFill>
                  <a:srgbClr val="00B050"/>
                </a:solidFill>
              </a:rPr>
              <a:t>IP0</a:t>
            </a:r>
            <a:r>
              <a:rPr lang="en-US" sz="2000" dirty="0"/>
              <a:t>  has lower injection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B5CD1F-392C-DDE8-2257-9BF3DAF7051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58"/>
          <a:stretch>
            <a:fillRect/>
          </a:stretch>
        </p:blipFill>
        <p:spPr>
          <a:xfrm>
            <a:off x="129864" y="653921"/>
            <a:ext cx="5389184" cy="2463398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B1C1538C-F898-6C85-7B0E-E796186D557B}"/>
              </a:ext>
            </a:extLst>
          </p:cNvPr>
          <p:cNvSpPr/>
          <p:nvPr/>
        </p:nvSpPr>
        <p:spPr>
          <a:xfrm rot="16200000">
            <a:off x="5465163" y="2271031"/>
            <a:ext cx="381837" cy="4074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83DA59-8A98-E0AE-FC69-4D733E7065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922" y="4998909"/>
            <a:ext cx="5479370" cy="95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42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f6b262d-64b1-48de-8710-0fc3c93bfc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52C38875BF54E8BECD10629132D8D" ma:contentTypeVersion="10" ma:contentTypeDescription="Create a new document." ma:contentTypeScope="" ma:versionID="53c1021022da70296591b795eeeb98a1">
  <xsd:schema xmlns:xsd="http://www.w3.org/2001/XMLSchema" xmlns:xs="http://www.w3.org/2001/XMLSchema" xmlns:p="http://schemas.microsoft.com/office/2006/metadata/properties" xmlns:ns3="cf6b262d-64b1-48de-8710-0fc3c93bfca9" targetNamespace="http://schemas.microsoft.com/office/2006/metadata/properties" ma:root="true" ma:fieldsID="7166bdbd3ca8aa2f052e6d507fe63706" ns3:_="">
    <xsd:import namespace="cf6b262d-64b1-48de-8710-0fc3c93bfca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262d-64b1-48de-8710-0fc3c93bfca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700192-6DEE-4489-9CEA-5BF1B9694ADA}">
  <ds:schemaRefs>
    <ds:schemaRef ds:uri="http://schemas.microsoft.com/office/2006/documentManagement/types"/>
    <ds:schemaRef ds:uri="http://purl.org/dc/dcmitype/"/>
    <ds:schemaRef ds:uri="http://purl.org/dc/elements/1.1/"/>
    <ds:schemaRef ds:uri="http://www.w3.org/XML/1998/namespace"/>
    <ds:schemaRef ds:uri="cf6b262d-64b1-48de-8710-0fc3c93bfca9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6F2ECC0-7349-48A1-9442-AB7C0C0E77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BA5D77-6A71-4D89-9656-E3111FE0B8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f6b262d-64b1-48de-8710-0fc3c93bf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344</Words>
  <Application>Microsoft Office PowerPoint</Application>
  <PresentationFormat>Widescreen</PresentationFormat>
  <Paragraphs>63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DSL Final Modification</vt:lpstr>
      <vt:lpstr>Enhancements Made to the FlexNoC DSL Compiler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Anuparna Ganguly</dc:creator>
  <cp:lastModifiedBy>Anuparna Ganguly</cp:lastModifiedBy>
  <cp:revision>2</cp:revision>
  <dcterms:created xsi:type="dcterms:W3CDTF">2026-03-12T08:38:40Z</dcterms:created>
  <dcterms:modified xsi:type="dcterms:W3CDTF">2026-03-12T11:30:57Z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0x0101009A552C38875BF54E8BECD10629132D8D</vt:lpwstr>
  </property>
</Properties>
</file>